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601" r:id="rId3"/>
    <p:sldId id="602" r:id="rId4"/>
    <p:sldId id="1739" r:id="rId5"/>
    <p:sldId id="603" r:id="rId6"/>
    <p:sldId id="1748" r:id="rId7"/>
    <p:sldId id="1763" r:id="rId8"/>
    <p:sldId id="1764" r:id="rId9"/>
    <p:sldId id="1765" r:id="rId10"/>
    <p:sldId id="1766" r:id="rId11"/>
    <p:sldId id="1767" r:id="rId12"/>
    <p:sldId id="1768" r:id="rId13"/>
    <p:sldId id="1769" r:id="rId14"/>
    <p:sldId id="1770" r:id="rId15"/>
    <p:sldId id="1771" r:id="rId16"/>
    <p:sldId id="1772" r:id="rId17"/>
    <p:sldId id="1773" r:id="rId18"/>
    <p:sldId id="1774" r:id="rId19"/>
    <p:sldId id="1775" r:id="rId20"/>
    <p:sldId id="1776" r:id="rId21"/>
    <p:sldId id="1747" r:id="rId22"/>
    <p:sldId id="1777" r:id="rId23"/>
    <p:sldId id="1778" r:id="rId24"/>
    <p:sldId id="1779" r:id="rId25"/>
    <p:sldId id="1780" r:id="rId26"/>
    <p:sldId id="1781" r:id="rId27"/>
    <p:sldId id="1782" r:id="rId28"/>
    <p:sldId id="1783" r:id="rId29"/>
    <p:sldId id="1784" r:id="rId30"/>
    <p:sldId id="1785" r:id="rId31"/>
    <p:sldId id="1786" r:id="rId32"/>
    <p:sldId id="1787" r:id="rId33"/>
    <p:sldId id="1788" r:id="rId34"/>
    <p:sldId id="1789" r:id="rId35"/>
    <p:sldId id="1790" r:id="rId36"/>
    <p:sldId id="1791" r:id="rId37"/>
    <p:sldId id="1792" r:id="rId38"/>
    <p:sldId id="1793" r:id="rId39"/>
    <p:sldId id="1794" r:id="rId40"/>
    <p:sldId id="1795" r:id="rId41"/>
    <p:sldId id="1796" r:id="rId42"/>
    <p:sldId id="612" r:id="rId43"/>
    <p:sldId id="1798" r:id="rId44"/>
    <p:sldId id="1799" r:id="rId45"/>
    <p:sldId id="1797" r:id="rId46"/>
  </p:sldIdLst>
  <p:sldSz cx="12192000" cy="10058400"/>
  <p:notesSz cx="12192000" cy="10058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8" autoAdjust="0"/>
    <p:restoredTop sz="94660"/>
  </p:normalViewPr>
  <p:slideViewPr>
    <p:cSldViewPr>
      <p:cViewPr varScale="1">
        <p:scale>
          <a:sx n="43" d="100"/>
          <a:sy n="43" d="100"/>
        </p:scale>
        <p:origin x="1977" y="25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ctrTitle"/>
          </p:nvPr>
        </p:nvSpPr>
        <p:spPr>
          <a:xfrm>
            <a:off x="3055111" y="1967229"/>
            <a:ext cx="4791075" cy="452119"/>
          </a:xfrm>
          <a:prstGeom prst="rect">
            <a:avLst/>
          </a:prstGeom>
        </p:spPr>
        <p:txBody>
          <a:bodyPr wrap="square" lIns="0" tIns="0" rIns="0" bIns="0">
            <a:spAutoFit/>
          </a:bodyPr>
          <a:lstStyle>
            <a:lvl1pPr>
              <a:defRPr sz="2400" b="1" i="0">
                <a:solidFill>
                  <a:srgbClr val="0D0D0D"/>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49224"/>
          </a:xfrm>
          <a:prstGeom prst="rect">
            <a:avLst/>
          </a:prstGeom>
        </p:spPr>
      </p:pic>
      <p:pic>
        <p:nvPicPr>
          <p:cNvPr id="17" name="bg object 17"/>
          <p:cNvPicPr/>
          <p:nvPr/>
        </p:nvPicPr>
        <p:blipFill>
          <a:blip r:embed="rId3" cstate="print"/>
          <a:stretch>
            <a:fillRect/>
          </a:stretch>
        </p:blipFill>
        <p:spPr>
          <a:xfrm>
            <a:off x="192023" y="42671"/>
            <a:ext cx="1531620" cy="562355"/>
          </a:xfrm>
          <a:prstGeom prst="rect">
            <a:avLst/>
          </a:prstGeom>
        </p:spPr>
      </p:pic>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6/5/2025</a:t>
            </a:fld>
            <a:endParaRPr lang="en-US"/>
          </a:p>
        </p:txBody>
      </p:sp>
      <p:sp>
        <p:nvSpPr>
          <p:cNvPr id="6" name="Holder 6"/>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6/5/2025</a:t>
            </a:fld>
            <a:endParaRPr lang="en-US"/>
          </a:p>
        </p:txBody>
      </p:sp>
      <p:sp>
        <p:nvSpPr>
          <p:cNvPr id="7" name="Holder 7"/>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7999"/>
          </a:xfrm>
          <a:prstGeom prst="rect">
            <a:avLst/>
          </a:prstGeom>
        </p:spPr>
      </p:pic>
      <p:pic>
        <p:nvPicPr>
          <p:cNvPr id="17" name="bg object 17"/>
          <p:cNvPicPr/>
          <p:nvPr/>
        </p:nvPicPr>
        <p:blipFill>
          <a:blip r:embed="rId3" cstate="print"/>
          <a:stretch>
            <a:fillRect/>
          </a:stretch>
        </p:blipFill>
        <p:spPr>
          <a:xfrm>
            <a:off x="3299459" y="77723"/>
            <a:ext cx="4029455" cy="1479803"/>
          </a:xfrm>
          <a:prstGeom prst="rect">
            <a:avLst/>
          </a:prstGeom>
        </p:spPr>
      </p:pic>
      <p:sp>
        <p:nvSpPr>
          <p:cNvPr id="2" name="Holder 2"/>
          <p:cNvSpPr>
            <a:spLocks noGrp="1"/>
          </p:cNvSpPr>
          <p:nvPr>
            <p:ph type="title"/>
          </p:nvPr>
        </p:nvSpPr>
        <p:spPr/>
        <p:txBody>
          <a:bodyPr lIns="0" tIns="0" rIns="0" bIns="0"/>
          <a:lstStyle>
            <a:lvl1pPr>
              <a:defRPr sz="2400" b="1" i="0">
                <a:solidFill>
                  <a:srgbClr val="0D0D0D"/>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6/5/2025</a:t>
            </a:fld>
            <a:endParaRPr lang="en-US"/>
          </a:p>
        </p:txBody>
      </p:sp>
      <p:sp>
        <p:nvSpPr>
          <p:cNvPr id="5" name="Holder 5"/>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6/5/2025</a:t>
            </a:fld>
            <a:endParaRPr lang="en-US"/>
          </a:p>
        </p:txBody>
      </p:sp>
      <p:sp>
        <p:nvSpPr>
          <p:cNvPr id="4" name="Holder 4"/>
          <p:cNvSpPr>
            <a:spLocks noGrp="1"/>
          </p:cNvSpPr>
          <p:nvPr>
            <p:ph type="sldNum" sz="quarter" idx="7"/>
          </p:nvPr>
        </p:nvSpPr>
        <p:spPr/>
        <p:txBody>
          <a:bodyPr lIns="0" tIns="0" rIns="0" bIns="0"/>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3E6D3-906C-1320-4687-C1367C63EFD5}"/>
              </a:ext>
            </a:extLst>
          </p:cNvPr>
          <p:cNvSpPr>
            <a:spLocks noGrp="1"/>
          </p:cNvSpPr>
          <p:nvPr>
            <p:ph type="ctrTitle"/>
          </p:nvPr>
        </p:nvSpPr>
        <p:spPr>
          <a:xfrm>
            <a:off x="1524000" y="3301287"/>
            <a:ext cx="9144000" cy="1846659"/>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4F1C4FD-A4A9-4ABA-B38A-5C011FCA6C0C}"/>
              </a:ext>
            </a:extLst>
          </p:cNvPr>
          <p:cNvSpPr>
            <a:spLocks noGrp="1"/>
          </p:cNvSpPr>
          <p:nvPr>
            <p:ph type="subTitle" idx="1"/>
          </p:nvPr>
        </p:nvSpPr>
        <p:spPr>
          <a:xfrm>
            <a:off x="1524000" y="5282989"/>
            <a:ext cx="9144000" cy="36933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6929ADD-9CFD-F94C-3BD4-E15649AA4B9F}"/>
              </a:ext>
            </a:extLst>
          </p:cNvPr>
          <p:cNvSpPr>
            <a:spLocks noGrp="1"/>
          </p:cNvSpPr>
          <p:nvPr>
            <p:ph type="dt" sz="half" idx="10"/>
          </p:nvPr>
        </p:nvSpPr>
        <p:spPr>
          <a:xfrm>
            <a:off x="609600" y="6377940"/>
            <a:ext cx="2804160" cy="276999"/>
          </a:xfrm>
        </p:spPr>
        <p:txBody>
          <a:bodyPr/>
          <a:lstStyle/>
          <a:p>
            <a:fld id="{A22E6EEE-11DC-44F3-8567-F3508996C4D6}" type="datetimeFigureOut">
              <a:rPr lang="en-AU" smtClean="0"/>
              <a:t>5/06/2025</a:t>
            </a:fld>
            <a:endParaRPr lang="en-AU"/>
          </a:p>
        </p:txBody>
      </p:sp>
      <p:sp>
        <p:nvSpPr>
          <p:cNvPr id="5" name="Footer Placeholder 4">
            <a:extLst>
              <a:ext uri="{FF2B5EF4-FFF2-40B4-BE49-F238E27FC236}">
                <a16:creationId xmlns:a16="http://schemas.microsoft.com/office/drawing/2014/main" id="{DEBCD539-4B99-E1AD-D8EE-398581E1940C}"/>
              </a:ext>
            </a:extLst>
          </p:cNvPr>
          <p:cNvSpPr>
            <a:spLocks noGrp="1"/>
          </p:cNvSpPr>
          <p:nvPr>
            <p:ph type="ftr" sz="quarter" idx="11"/>
          </p:nvPr>
        </p:nvSpPr>
        <p:spPr>
          <a:xfrm>
            <a:off x="4145280" y="6377940"/>
            <a:ext cx="3901440" cy="276999"/>
          </a:xfrm>
        </p:spPr>
        <p:txBody>
          <a:bodyPr/>
          <a:lstStyle/>
          <a:p>
            <a:endParaRPr lang="en-AU"/>
          </a:p>
        </p:txBody>
      </p:sp>
      <p:sp>
        <p:nvSpPr>
          <p:cNvPr id="6" name="Slide Number Placeholder 5">
            <a:extLst>
              <a:ext uri="{FF2B5EF4-FFF2-40B4-BE49-F238E27FC236}">
                <a16:creationId xmlns:a16="http://schemas.microsoft.com/office/drawing/2014/main" id="{BC2118EA-AFF6-1D9C-A064-CCC312C78B65}"/>
              </a:ext>
            </a:extLst>
          </p:cNvPr>
          <p:cNvSpPr>
            <a:spLocks noGrp="1"/>
          </p:cNvSpPr>
          <p:nvPr>
            <p:ph type="sldNum" sz="quarter" idx="12"/>
          </p:nvPr>
        </p:nvSpPr>
        <p:spPr>
          <a:xfrm>
            <a:off x="5921502" y="9253759"/>
            <a:ext cx="533400" cy="169277"/>
          </a:xfrm>
        </p:spPr>
        <p:txBody>
          <a:bodyPr/>
          <a:lstStyle/>
          <a:p>
            <a:fld id="{65DD78D8-BAAB-4AA7-9E67-7B3D99A130FF}" type="slidenum">
              <a:rPr lang="en-AU" smtClean="0"/>
              <a:t>‹#›</a:t>
            </a:fld>
            <a:endParaRPr lang="en-AU"/>
          </a:p>
        </p:txBody>
      </p:sp>
    </p:spTree>
    <p:extLst>
      <p:ext uri="{BB962C8B-B14F-4D97-AF65-F5344CB8AC3E}">
        <p14:creationId xmlns:p14="http://schemas.microsoft.com/office/powerpoint/2010/main" val="770508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739" y="-1396"/>
            <a:ext cx="12034520" cy="391160"/>
          </a:xfrm>
          <a:prstGeom prst="rect">
            <a:avLst/>
          </a:prstGeom>
        </p:spPr>
        <p:txBody>
          <a:bodyPr wrap="square" lIns="0" tIns="0" rIns="0" bIns="0">
            <a:spAutoFit/>
          </a:bodyPr>
          <a:lstStyle>
            <a:lvl1pPr>
              <a:defRPr sz="2400" b="1" i="0">
                <a:solidFill>
                  <a:srgbClr val="0D0D0D"/>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6/5/2025</a:t>
            </a:fld>
            <a:endParaRPr lang="en-US"/>
          </a:p>
        </p:txBody>
      </p:sp>
      <p:sp>
        <p:nvSpPr>
          <p:cNvPr id="6" name="Holder 6"/>
          <p:cNvSpPr>
            <a:spLocks noGrp="1"/>
          </p:cNvSpPr>
          <p:nvPr>
            <p:ph type="sldNum" sz="quarter" idx="7"/>
          </p:nvPr>
        </p:nvSpPr>
        <p:spPr>
          <a:xfrm>
            <a:off x="5921502" y="9253759"/>
            <a:ext cx="533400" cy="187959"/>
          </a:xfrm>
          <a:prstGeom prst="rect">
            <a:avLst/>
          </a:prstGeom>
        </p:spPr>
        <p:txBody>
          <a:bodyPr wrap="square" lIns="0" tIns="0" rIns="0" bIns="0">
            <a:spAutoFit/>
          </a:bodyPr>
          <a:lstStyle>
            <a:lvl1pPr>
              <a:defRPr sz="1100" b="0" i="0">
                <a:solidFill>
                  <a:schemeClr val="tx1"/>
                </a:solidFill>
                <a:latin typeface="Calibri"/>
                <a:cs typeface="Calibri"/>
              </a:defRPr>
            </a:lvl1pPr>
          </a:lstStyle>
          <a:p>
            <a:pPr marL="12700">
              <a:lnSpc>
                <a:spcPct val="100000"/>
              </a:lnSpc>
            </a:pPr>
            <a:r>
              <a:rPr dirty="0"/>
              <a:t>Page</a:t>
            </a:r>
            <a:r>
              <a:rPr spc="10" dirty="0"/>
              <a:t> </a:t>
            </a:r>
            <a:fld id="{81D60167-4931-47E6-BA6A-407CBD079E47}" type="slidenum">
              <a:rPr sz="1000" spc="-25" dirty="0">
                <a:latin typeface="Verdana"/>
                <a:cs typeface="Verdana"/>
              </a:rPr>
              <a:t>‹#›</a:t>
            </a:fld>
            <a:endParaRPr sz="1000">
              <a:latin typeface="Verdana"/>
              <a:cs typeface="Verdan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hyperlink" Target="https://sites.google.com/" TargetMode="Externa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webflow.com/" TargetMode="External"/><Relationship Id="rId2" Type="http://schemas.openxmlformats.org/officeDocument/2006/relationships/hyperlink" Target="https://www.wix.com/" TargetMode="External"/><Relationship Id="rId1" Type="http://schemas.openxmlformats.org/officeDocument/2006/relationships/slideLayout" Target="../slideLayouts/slideLayout6.xml"/><Relationship Id="rId4" Type="http://schemas.openxmlformats.org/officeDocument/2006/relationships/hyperlink" Target="https://carrd.co/"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www.figma.com/" TargetMode="Externa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hyperlink" Target="https://thunkable.com/"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hyperlink" Target="https://airtable.com/"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0261092" y="0"/>
            <a:ext cx="1930907" cy="1901952"/>
          </a:xfrm>
          <a:prstGeom prst="rect">
            <a:avLst/>
          </a:prstGeom>
        </p:spPr>
      </p:pic>
      <p:sp>
        <p:nvSpPr>
          <p:cNvPr id="2" name="TextBox 1">
            <a:extLst>
              <a:ext uri="{FF2B5EF4-FFF2-40B4-BE49-F238E27FC236}">
                <a16:creationId xmlns:a16="http://schemas.microsoft.com/office/drawing/2014/main" id="{0339F99D-A514-B092-E859-B7FD8EFE592D}"/>
              </a:ext>
            </a:extLst>
          </p:cNvPr>
          <p:cNvSpPr txBox="1"/>
          <p:nvPr/>
        </p:nvSpPr>
        <p:spPr>
          <a:xfrm>
            <a:off x="0" y="1752601"/>
            <a:ext cx="12191999" cy="4161460"/>
          </a:xfrm>
          <a:prstGeom prst="rect">
            <a:avLst/>
          </a:prstGeom>
          <a:noFill/>
        </p:spPr>
        <p:txBody>
          <a:bodyPr wrap="square">
            <a:spAutoFit/>
          </a:bodyPr>
          <a:lstStyle/>
          <a:p>
            <a:pPr>
              <a:lnSpc>
                <a:spcPct val="150000"/>
              </a:lnSpc>
            </a:pPr>
            <a:r>
              <a:rPr lang="en-US" sz="3600" b="1" dirty="0">
                <a:latin typeface="+mj-lt"/>
              </a:rPr>
              <a:t>HS3052 Capstone Project Design:</a:t>
            </a:r>
            <a:br>
              <a:rPr lang="en-US" sz="3600" b="1" dirty="0">
                <a:latin typeface="+mj-lt"/>
              </a:rPr>
            </a:br>
            <a:r>
              <a:rPr lang="en-US" sz="3600" b="1" dirty="0">
                <a:latin typeface="+mj-lt"/>
              </a:rPr>
              <a:t>Supplementary Document</a:t>
            </a:r>
          </a:p>
          <a:p>
            <a:pPr>
              <a:lnSpc>
                <a:spcPct val="150000"/>
              </a:lnSpc>
            </a:pPr>
            <a:r>
              <a:rPr lang="en-US" sz="3600" b="1" dirty="0">
                <a:latin typeface="+mj-lt"/>
              </a:rPr>
              <a:t>Supervisor: Dr. Farshid Keivanian</a:t>
            </a:r>
          </a:p>
          <a:p>
            <a:pPr>
              <a:lnSpc>
                <a:spcPct val="150000"/>
              </a:lnSpc>
            </a:pPr>
            <a:r>
              <a:rPr lang="en-US" sz="3600" b="1" dirty="0">
                <a:latin typeface="+mj-lt"/>
              </a:rPr>
              <a:t>Session 4: </a:t>
            </a:r>
            <a:r>
              <a:rPr lang="en-US" sz="3600" dirty="0">
                <a:latin typeface="+mj-lt"/>
              </a:rPr>
              <a:t>Preparation for Group Assignment 4 (Solution Prototype)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D0F5-A2EC-4AB3-AA80-17E48F8E3B77}"/>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4845B51C-A56F-4CFF-7947-2252E84A2E9C}"/>
              </a:ext>
            </a:extLst>
          </p:cNvPr>
          <p:cNvPicPr/>
          <p:nvPr/>
        </p:nvPicPr>
        <p:blipFill>
          <a:blip r:embed="rId2" cstate="print"/>
          <a:stretch>
            <a:fillRect/>
          </a:stretch>
        </p:blipFill>
        <p:spPr>
          <a:xfrm>
            <a:off x="10261092" y="0"/>
            <a:ext cx="1930907" cy="1901952"/>
          </a:xfrm>
          <a:prstGeom prst="rect">
            <a:avLst/>
          </a:prstGeom>
        </p:spPr>
      </p:pic>
      <p:sp>
        <p:nvSpPr>
          <p:cNvPr id="2" name="TextBox 1">
            <a:extLst>
              <a:ext uri="{FF2B5EF4-FFF2-40B4-BE49-F238E27FC236}">
                <a16:creationId xmlns:a16="http://schemas.microsoft.com/office/drawing/2014/main" id="{53E0C38D-660E-3C98-FB3C-A381458652E4}"/>
              </a:ext>
            </a:extLst>
          </p:cNvPr>
          <p:cNvSpPr txBox="1"/>
          <p:nvPr/>
        </p:nvSpPr>
        <p:spPr>
          <a:xfrm>
            <a:off x="152400" y="232246"/>
            <a:ext cx="11887199" cy="4891852"/>
          </a:xfrm>
          <a:prstGeom prst="rect">
            <a:avLst/>
          </a:prstGeom>
          <a:noFill/>
        </p:spPr>
        <p:txBody>
          <a:bodyPr wrap="square">
            <a:spAutoFit/>
          </a:bodyPr>
          <a:lstStyle/>
          <a:p>
            <a:pPr>
              <a:lnSpc>
                <a:spcPct val="150000"/>
              </a:lnSpc>
            </a:pPr>
            <a:r>
              <a:rPr lang="en-US" sz="3300" b="1" dirty="0">
                <a:latin typeface="+mj-lt"/>
              </a:rPr>
              <a:t>Session 4’s Outline</a:t>
            </a:r>
          </a:p>
          <a:p>
            <a:pPr marL="514350" indent="-514350">
              <a:lnSpc>
                <a:spcPct val="150000"/>
              </a:lnSpc>
              <a:spcAft>
                <a:spcPts val="800"/>
              </a:spcAft>
              <a:buFont typeface="+mj-lt"/>
              <a:buAutoNum type="arabicPeriod"/>
            </a:pPr>
            <a:r>
              <a:rPr lang="en-US" sz="3300" dirty="0">
                <a:latin typeface="+mj-lt"/>
              </a:rPr>
              <a:t>Weekly Task Breakdown &amp; Milestones</a:t>
            </a:r>
          </a:p>
          <a:p>
            <a:pPr marL="514350" lvl="0" indent="-514350">
              <a:lnSpc>
                <a:spcPct val="150000"/>
              </a:lnSpc>
              <a:spcAft>
                <a:spcPts val="800"/>
              </a:spcAft>
              <a:buFont typeface="+mj-lt"/>
              <a:buAutoNum type="arabicPeriod"/>
            </a:pPr>
            <a:r>
              <a:rPr lang="en-AU" sz="3300" dirty="0">
                <a:effectLst/>
                <a:latin typeface="+mj-lt"/>
                <a:ea typeface="Aptos" panose="020B0004020202020204" pitchFamily="34" charset="0"/>
                <a:cs typeface="Arial" panose="020B0604020202020204" pitchFamily="34" charset="0"/>
              </a:rPr>
              <a:t>Preparation for Group Assignment 4 – Solution Prototype</a:t>
            </a:r>
          </a:p>
          <a:p>
            <a:pPr marL="514350" lvl="0" indent="-514350">
              <a:lnSpc>
                <a:spcPct val="150000"/>
              </a:lnSpc>
              <a:spcAft>
                <a:spcPts val="800"/>
              </a:spcAft>
              <a:buFont typeface="+mj-lt"/>
              <a:buAutoNum type="arabicPeriod"/>
            </a:pPr>
            <a:r>
              <a:rPr lang="en-US" sz="3300" dirty="0">
                <a:effectLst/>
                <a:latin typeface="+mj-lt"/>
                <a:ea typeface="Aptos" panose="020B0004020202020204" pitchFamily="34" charset="0"/>
                <a:cs typeface="Arial" panose="020B0604020202020204" pitchFamily="34" charset="0"/>
              </a:rPr>
              <a:t>Group Progress Presentation – Overview of Progress at least 2 min</a:t>
            </a:r>
          </a:p>
          <a:p>
            <a:pPr marL="514350" lvl="0" indent="-514350">
              <a:lnSpc>
                <a:spcPct val="150000"/>
              </a:lnSpc>
              <a:spcAft>
                <a:spcPts val="800"/>
              </a:spcAft>
              <a:buFont typeface="+mj-lt"/>
              <a:buAutoNum type="arabicPeriod"/>
            </a:pPr>
            <a:r>
              <a:rPr lang="en-US" sz="3300" dirty="0">
                <a:latin typeface="+mj-lt"/>
                <a:ea typeface="Aptos" panose="020B0004020202020204" pitchFamily="34" charset="0"/>
                <a:cs typeface="Arial" panose="020B0604020202020204" pitchFamily="34" charset="0"/>
              </a:rPr>
              <a:t>Final Note</a:t>
            </a:r>
            <a:endParaRPr lang="en-US" sz="3300" dirty="0">
              <a:effectLst/>
              <a:latin typeface="+mj-l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7135963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B1657-3E33-F0C9-BA26-989572E004F8}"/>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F903FC8A-9B8B-D089-AB63-FFE4E2EFA84A}"/>
              </a:ext>
            </a:extLst>
          </p:cNvPr>
          <p:cNvPicPr/>
          <p:nvPr/>
        </p:nvPicPr>
        <p:blipFill>
          <a:blip r:embed="rId2" cstate="print"/>
          <a:stretch>
            <a:fillRect/>
          </a:stretch>
        </p:blipFill>
        <p:spPr>
          <a:xfrm>
            <a:off x="10261092" y="0"/>
            <a:ext cx="1930907" cy="1901952"/>
          </a:xfrm>
          <a:prstGeom prst="rect">
            <a:avLst/>
          </a:prstGeom>
        </p:spPr>
      </p:pic>
      <p:graphicFrame>
        <p:nvGraphicFramePr>
          <p:cNvPr id="2" name="Table 1">
            <a:extLst>
              <a:ext uri="{FF2B5EF4-FFF2-40B4-BE49-F238E27FC236}">
                <a16:creationId xmlns:a16="http://schemas.microsoft.com/office/drawing/2014/main" id="{3F97E313-69B1-B1D8-7408-B062D394D4D9}"/>
              </a:ext>
            </a:extLst>
          </p:cNvPr>
          <p:cNvGraphicFramePr>
            <a:graphicFrameLocks noGrp="1"/>
          </p:cNvGraphicFramePr>
          <p:nvPr>
            <p:extLst>
              <p:ext uri="{D42A27DB-BD31-4B8C-83A1-F6EECF244321}">
                <p14:modId xmlns:p14="http://schemas.microsoft.com/office/powerpoint/2010/main" val="1909392895"/>
              </p:ext>
            </p:extLst>
          </p:nvPr>
        </p:nvGraphicFramePr>
        <p:xfrm>
          <a:off x="457200" y="1840422"/>
          <a:ext cx="11582400" cy="6027392"/>
        </p:xfrm>
        <a:graphic>
          <a:graphicData uri="http://schemas.openxmlformats.org/drawingml/2006/table">
            <a:tbl>
              <a:tblPr>
                <a:tableStyleId>{ED083AE6-46FA-4A59-8FB0-9F97EB10719F}</a:tableStyleId>
              </a:tblPr>
              <a:tblGrid>
                <a:gridCol w="990600">
                  <a:extLst>
                    <a:ext uri="{9D8B030D-6E8A-4147-A177-3AD203B41FA5}">
                      <a16:colId xmlns:a16="http://schemas.microsoft.com/office/drawing/2014/main" val="147759491"/>
                    </a:ext>
                  </a:extLst>
                </a:gridCol>
                <a:gridCol w="4495416">
                  <a:extLst>
                    <a:ext uri="{9D8B030D-6E8A-4147-A177-3AD203B41FA5}">
                      <a16:colId xmlns:a16="http://schemas.microsoft.com/office/drawing/2014/main" val="472117411"/>
                    </a:ext>
                  </a:extLst>
                </a:gridCol>
                <a:gridCol w="6096384">
                  <a:extLst>
                    <a:ext uri="{9D8B030D-6E8A-4147-A177-3AD203B41FA5}">
                      <a16:colId xmlns:a16="http://schemas.microsoft.com/office/drawing/2014/main" val="2386046661"/>
                    </a:ext>
                  </a:extLst>
                </a:gridCol>
              </a:tblGrid>
              <a:tr h="274301">
                <a:tc>
                  <a:txBody>
                    <a:bodyPr/>
                    <a:lstStyle/>
                    <a:p>
                      <a:r>
                        <a:rPr lang="en-US" sz="2800"/>
                        <a:t>Week</a:t>
                      </a:r>
                    </a:p>
                  </a:txBody>
                  <a:tcPr marL="68575" marR="68575" marT="34288" marB="34288" anchor="ctr">
                    <a:solidFill>
                      <a:schemeClr val="accent2">
                        <a:lumMod val="20000"/>
                        <a:lumOff val="80000"/>
                      </a:schemeClr>
                    </a:solidFill>
                  </a:tcPr>
                </a:tc>
                <a:tc>
                  <a:txBody>
                    <a:bodyPr/>
                    <a:lstStyle/>
                    <a:p>
                      <a:r>
                        <a:rPr lang="en-US" sz="2800"/>
                        <a:t>Tasks</a:t>
                      </a:r>
                    </a:p>
                  </a:txBody>
                  <a:tcPr marL="68575" marR="68575" marT="34288" marB="34288" anchor="ctr">
                    <a:solidFill>
                      <a:schemeClr val="accent2">
                        <a:lumMod val="20000"/>
                        <a:lumOff val="80000"/>
                      </a:schemeClr>
                    </a:solidFill>
                  </a:tcPr>
                </a:tc>
                <a:tc>
                  <a:txBody>
                    <a:bodyPr/>
                    <a:lstStyle/>
                    <a:p>
                      <a:r>
                        <a:rPr lang="en-US" sz="2800" dirty="0"/>
                        <a:t>Notes</a:t>
                      </a:r>
                    </a:p>
                  </a:txBody>
                  <a:tcPr marL="68575" marR="68575" marT="34288" marB="34288" anchor="ctr">
                    <a:solidFill>
                      <a:schemeClr val="accent2">
                        <a:lumMod val="20000"/>
                        <a:lumOff val="80000"/>
                      </a:schemeClr>
                    </a:solidFill>
                  </a:tcPr>
                </a:tc>
                <a:extLst>
                  <a:ext uri="{0D108BD9-81ED-4DB2-BD59-A6C34878D82A}">
                    <a16:rowId xmlns:a16="http://schemas.microsoft.com/office/drawing/2014/main" val="425577401"/>
                  </a:ext>
                </a:extLst>
              </a:tr>
              <a:tr h="685752">
                <a:tc>
                  <a:txBody>
                    <a:bodyPr/>
                    <a:lstStyle/>
                    <a:p>
                      <a:r>
                        <a:rPr lang="en-US" sz="2800"/>
                        <a:t>1</a:t>
                      </a:r>
                    </a:p>
                  </a:txBody>
                  <a:tcPr marL="68575" marR="68575" marT="34288" marB="34288" anchor="ctr"/>
                </a:tc>
                <a:tc>
                  <a:txBody>
                    <a:bodyPr/>
                    <a:lstStyle/>
                    <a:p>
                      <a:r>
                        <a:rPr lang="en-US" sz="2800"/>
                        <a:t>Finalise group &amp; select topic</a:t>
                      </a:r>
                    </a:p>
                  </a:txBody>
                  <a:tcPr marL="68575" marR="68575" marT="34288" marB="34288" anchor="ctr"/>
                </a:tc>
                <a:tc>
                  <a:txBody>
                    <a:bodyPr/>
                    <a:lstStyle/>
                    <a:p>
                      <a:r>
                        <a:rPr lang="en-US" sz="2800" dirty="0"/>
                        <a:t>Choose from topics like Library </a:t>
                      </a:r>
                      <a:r>
                        <a:rPr lang="en-US" sz="2800" dirty="0" err="1"/>
                        <a:t>Mgmt</a:t>
                      </a:r>
                      <a:r>
                        <a:rPr lang="en-US" sz="2800" dirty="0"/>
                        <a:t>, Lost &amp; Found, Feedback System, etc.</a:t>
                      </a:r>
                    </a:p>
                  </a:txBody>
                  <a:tcPr marL="68575" marR="68575" marT="34288" marB="34288" anchor="ctr"/>
                </a:tc>
                <a:extLst>
                  <a:ext uri="{0D108BD9-81ED-4DB2-BD59-A6C34878D82A}">
                    <a16:rowId xmlns:a16="http://schemas.microsoft.com/office/drawing/2014/main" val="2010123592"/>
                  </a:ext>
                </a:extLst>
              </a:tr>
              <a:tr h="480026">
                <a:tc>
                  <a:txBody>
                    <a:bodyPr/>
                    <a:lstStyle/>
                    <a:p>
                      <a:r>
                        <a:rPr lang="en-US" sz="2800"/>
                        <a:t>2</a:t>
                      </a:r>
                    </a:p>
                  </a:txBody>
                  <a:tcPr marL="68575" marR="68575" marT="34288" marB="34288" anchor="ctr"/>
                </a:tc>
                <a:tc>
                  <a:txBody>
                    <a:bodyPr/>
                    <a:lstStyle/>
                    <a:p>
                      <a:r>
                        <a:rPr lang="en-US" sz="2800"/>
                        <a:t>Project Management Package (Assessment 1 due)</a:t>
                      </a:r>
                    </a:p>
                  </a:txBody>
                  <a:tcPr marL="68575" marR="68575" marT="34288" marB="34288" anchor="ctr"/>
                </a:tc>
                <a:tc>
                  <a:txBody>
                    <a:bodyPr/>
                    <a:lstStyle/>
                    <a:p>
                      <a:r>
                        <a:rPr lang="en-US" sz="2800"/>
                        <a:t>Scope, charter, WBS, Gantt chart – submit as a group</a:t>
                      </a:r>
                    </a:p>
                  </a:txBody>
                  <a:tcPr marL="68575" marR="68575" marT="34288" marB="34288" anchor="ctr"/>
                </a:tc>
                <a:extLst>
                  <a:ext uri="{0D108BD9-81ED-4DB2-BD59-A6C34878D82A}">
                    <a16:rowId xmlns:a16="http://schemas.microsoft.com/office/drawing/2014/main" val="817413514"/>
                  </a:ext>
                </a:extLst>
              </a:tr>
              <a:tr h="480026">
                <a:tc>
                  <a:txBody>
                    <a:bodyPr/>
                    <a:lstStyle/>
                    <a:p>
                      <a:r>
                        <a:rPr lang="en-US" sz="2800"/>
                        <a:t>3–4</a:t>
                      </a:r>
                    </a:p>
                  </a:txBody>
                  <a:tcPr marL="68575" marR="68575" marT="34288" marB="34288" anchor="ctr"/>
                </a:tc>
                <a:tc>
                  <a:txBody>
                    <a:bodyPr/>
                    <a:lstStyle/>
                    <a:p>
                      <a:r>
                        <a:rPr lang="en-US" sz="2800"/>
                        <a:t>Requirements analysis + Literature review</a:t>
                      </a:r>
                    </a:p>
                  </a:txBody>
                  <a:tcPr marL="68575" marR="68575" marT="34288" marB="34288" anchor="ctr"/>
                </a:tc>
                <a:tc>
                  <a:txBody>
                    <a:bodyPr/>
                    <a:lstStyle/>
                    <a:p>
                      <a:r>
                        <a:rPr lang="en-US" sz="2800"/>
                        <a:t>Collect references, interview users, gather data, start drafting RS</a:t>
                      </a:r>
                    </a:p>
                  </a:txBody>
                  <a:tcPr marL="68575" marR="68575" marT="34288" marB="34288" anchor="ctr"/>
                </a:tc>
                <a:extLst>
                  <a:ext uri="{0D108BD9-81ED-4DB2-BD59-A6C34878D82A}">
                    <a16:rowId xmlns:a16="http://schemas.microsoft.com/office/drawing/2014/main" val="2394723118"/>
                  </a:ext>
                </a:extLst>
              </a:tr>
              <a:tr h="480026">
                <a:tc>
                  <a:txBody>
                    <a:bodyPr/>
                    <a:lstStyle/>
                    <a:p>
                      <a:r>
                        <a:rPr lang="en-US" sz="2800"/>
                        <a:t>5</a:t>
                      </a:r>
                    </a:p>
                  </a:txBody>
                  <a:tcPr marL="68575" marR="68575" marT="34288" marB="34288" anchor="ctr"/>
                </a:tc>
                <a:tc>
                  <a:txBody>
                    <a:bodyPr/>
                    <a:lstStyle/>
                    <a:p>
                      <a:r>
                        <a:rPr lang="en-US" sz="2800"/>
                        <a:t>Presentation of proposed solution (Assessment 2)</a:t>
                      </a:r>
                    </a:p>
                  </a:txBody>
                  <a:tcPr marL="68575" marR="68575" marT="34288" marB="34288" anchor="ctr"/>
                </a:tc>
                <a:tc>
                  <a:txBody>
                    <a:bodyPr/>
                    <a:lstStyle/>
                    <a:p>
                      <a:r>
                        <a:rPr lang="en-US" sz="2800"/>
                        <a:t>Slides + demo/mockup preview</a:t>
                      </a:r>
                    </a:p>
                  </a:txBody>
                  <a:tcPr marL="68575" marR="68575" marT="34288" marB="34288" anchor="ctr"/>
                </a:tc>
                <a:extLst>
                  <a:ext uri="{0D108BD9-81ED-4DB2-BD59-A6C34878D82A}">
                    <a16:rowId xmlns:a16="http://schemas.microsoft.com/office/drawing/2014/main" val="4012947794"/>
                  </a:ext>
                </a:extLst>
              </a:tr>
              <a:tr h="480026">
                <a:tc>
                  <a:txBody>
                    <a:bodyPr/>
                    <a:lstStyle/>
                    <a:p>
                      <a:r>
                        <a:rPr lang="en-US" sz="2800"/>
                        <a:t>6</a:t>
                      </a:r>
                    </a:p>
                  </a:txBody>
                  <a:tcPr marL="68575" marR="68575" marT="34288" marB="34288" anchor="ctr"/>
                </a:tc>
                <a:tc>
                  <a:txBody>
                    <a:bodyPr/>
                    <a:lstStyle/>
                    <a:p>
                      <a:r>
                        <a:rPr lang="en-US" sz="2800"/>
                        <a:t>Submit Requirements Specification (Assessment 3)</a:t>
                      </a:r>
                    </a:p>
                  </a:txBody>
                  <a:tcPr marL="68575" marR="68575" marT="34288" marB="34288" anchor="ctr"/>
                </a:tc>
                <a:tc>
                  <a:txBody>
                    <a:bodyPr/>
                    <a:lstStyle/>
                    <a:p>
                      <a:r>
                        <a:rPr lang="en-US" sz="2800"/>
                        <a:t>System overview, diagrams, user stories, use cases, ERD, schema</a:t>
                      </a:r>
                    </a:p>
                  </a:txBody>
                  <a:tcPr marL="68575" marR="68575" marT="34288" marB="34288" anchor="ctr"/>
                </a:tc>
                <a:extLst>
                  <a:ext uri="{0D108BD9-81ED-4DB2-BD59-A6C34878D82A}">
                    <a16:rowId xmlns:a16="http://schemas.microsoft.com/office/drawing/2014/main" val="184931924"/>
                  </a:ext>
                </a:extLst>
              </a:tr>
              <a:tr h="480026">
                <a:tc>
                  <a:txBody>
                    <a:bodyPr/>
                    <a:lstStyle/>
                    <a:p>
                      <a:r>
                        <a:rPr lang="en-US" sz="2800" dirty="0"/>
                        <a:t>7</a:t>
                      </a:r>
                    </a:p>
                  </a:txBody>
                  <a:tcPr marL="68575" marR="68575" marT="34288" marB="34288" anchor="ctr"/>
                </a:tc>
                <a:tc>
                  <a:txBody>
                    <a:bodyPr/>
                    <a:lstStyle/>
                    <a:p>
                      <a:r>
                        <a:rPr lang="en-US" sz="2800"/>
                        <a:t>Prototype building begins</a:t>
                      </a:r>
                    </a:p>
                  </a:txBody>
                  <a:tcPr marL="68575" marR="68575" marT="34288" marB="34288" anchor="ctr"/>
                </a:tc>
                <a:tc>
                  <a:txBody>
                    <a:bodyPr/>
                    <a:lstStyle/>
                    <a:p>
                      <a:r>
                        <a:rPr lang="en-US" sz="2800" dirty="0"/>
                        <a:t>Setup tools, split coding and UI/UX tasks among group</a:t>
                      </a:r>
                    </a:p>
                  </a:txBody>
                  <a:tcPr marL="68575" marR="68575" marT="34288" marB="34288" anchor="ctr"/>
                </a:tc>
                <a:extLst>
                  <a:ext uri="{0D108BD9-81ED-4DB2-BD59-A6C34878D82A}">
                    <a16:rowId xmlns:a16="http://schemas.microsoft.com/office/drawing/2014/main" val="2009806589"/>
                  </a:ext>
                </a:extLst>
              </a:tr>
            </a:tbl>
          </a:graphicData>
        </a:graphic>
      </p:graphicFrame>
      <p:sp>
        <p:nvSpPr>
          <p:cNvPr id="4" name="TextBox 3">
            <a:extLst>
              <a:ext uri="{FF2B5EF4-FFF2-40B4-BE49-F238E27FC236}">
                <a16:creationId xmlns:a16="http://schemas.microsoft.com/office/drawing/2014/main" id="{4573BF9B-6BCF-8895-BAE6-C283264BA698}"/>
              </a:ext>
            </a:extLst>
          </p:cNvPr>
          <p:cNvSpPr txBox="1"/>
          <p:nvPr/>
        </p:nvSpPr>
        <p:spPr>
          <a:xfrm>
            <a:off x="0" y="0"/>
            <a:ext cx="11887199" cy="646331"/>
          </a:xfrm>
          <a:prstGeom prst="rect">
            <a:avLst/>
          </a:prstGeom>
          <a:noFill/>
        </p:spPr>
        <p:txBody>
          <a:bodyPr wrap="square">
            <a:spAutoFit/>
          </a:bodyPr>
          <a:lstStyle/>
          <a:p>
            <a:r>
              <a:rPr lang="en-US" sz="3600" b="1" dirty="0"/>
              <a:t>Weekly Task Breakdown &amp; Milestones</a:t>
            </a:r>
          </a:p>
        </p:txBody>
      </p:sp>
    </p:spTree>
    <p:extLst>
      <p:ext uri="{BB962C8B-B14F-4D97-AF65-F5344CB8AC3E}">
        <p14:creationId xmlns:p14="http://schemas.microsoft.com/office/powerpoint/2010/main" val="2860264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4FABC-FDF3-6F98-B2E2-4F02857D9711}"/>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B16670C1-99A2-8DFD-D5B6-074DFEB3D245}"/>
              </a:ext>
            </a:extLst>
          </p:cNvPr>
          <p:cNvPicPr/>
          <p:nvPr/>
        </p:nvPicPr>
        <p:blipFill>
          <a:blip r:embed="rId2" cstate="print"/>
          <a:stretch>
            <a:fillRect/>
          </a:stretch>
        </p:blipFill>
        <p:spPr>
          <a:xfrm>
            <a:off x="10261092" y="0"/>
            <a:ext cx="1930907" cy="1901952"/>
          </a:xfrm>
          <a:prstGeom prst="rect">
            <a:avLst/>
          </a:prstGeom>
        </p:spPr>
      </p:pic>
      <p:graphicFrame>
        <p:nvGraphicFramePr>
          <p:cNvPr id="4" name="Table 3">
            <a:extLst>
              <a:ext uri="{FF2B5EF4-FFF2-40B4-BE49-F238E27FC236}">
                <a16:creationId xmlns:a16="http://schemas.microsoft.com/office/drawing/2014/main" id="{8417A170-C1DF-6525-086F-8E25182B8153}"/>
              </a:ext>
            </a:extLst>
          </p:cNvPr>
          <p:cNvGraphicFramePr>
            <a:graphicFrameLocks noGrp="1"/>
          </p:cNvGraphicFramePr>
          <p:nvPr>
            <p:extLst>
              <p:ext uri="{D42A27DB-BD31-4B8C-83A1-F6EECF244321}">
                <p14:modId xmlns:p14="http://schemas.microsoft.com/office/powerpoint/2010/main" val="1650756082"/>
              </p:ext>
            </p:extLst>
          </p:nvPr>
        </p:nvGraphicFramePr>
        <p:xfrm>
          <a:off x="457200" y="1840422"/>
          <a:ext cx="11582400" cy="2339328"/>
        </p:xfrm>
        <a:graphic>
          <a:graphicData uri="http://schemas.openxmlformats.org/drawingml/2006/table">
            <a:tbl>
              <a:tblPr>
                <a:tableStyleId>{ED083AE6-46FA-4A59-8FB0-9F97EB10719F}</a:tableStyleId>
              </a:tblPr>
              <a:tblGrid>
                <a:gridCol w="990600">
                  <a:extLst>
                    <a:ext uri="{9D8B030D-6E8A-4147-A177-3AD203B41FA5}">
                      <a16:colId xmlns:a16="http://schemas.microsoft.com/office/drawing/2014/main" val="147759491"/>
                    </a:ext>
                  </a:extLst>
                </a:gridCol>
                <a:gridCol w="4495416">
                  <a:extLst>
                    <a:ext uri="{9D8B030D-6E8A-4147-A177-3AD203B41FA5}">
                      <a16:colId xmlns:a16="http://schemas.microsoft.com/office/drawing/2014/main" val="472117411"/>
                    </a:ext>
                  </a:extLst>
                </a:gridCol>
                <a:gridCol w="6096384">
                  <a:extLst>
                    <a:ext uri="{9D8B030D-6E8A-4147-A177-3AD203B41FA5}">
                      <a16:colId xmlns:a16="http://schemas.microsoft.com/office/drawing/2014/main" val="2386046661"/>
                    </a:ext>
                  </a:extLst>
                </a:gridCol>
              </a:tblGrid>
              <a:tr h="274301">
                <a:tc>
                  <a:txBody>
                    <a:bodyPr/>
                    <a:lstStyle/>
                    <a:p>
                      <a:r>
                        <a:rPr lang="en-US" sz="2800"/>
                        <a:t>Week</a:t>
                      </a:r>
                    </a:p>
                  </a:txBody>
                  <a:tcPr marL="68575" marR="68575" marT="34288" marB="34288" anchor="ctr">
                    <a:solidFill>
                      <a:schemeClr val="accent2">
                        <a:lumMod val="20000"/>
                        <a:lumOff val="80000"/>
                      </a:schemeClr>
                    </a:solidFill>
                  </a:tcPr>
                </a:tc>
                <a:tc>
                  <a:txBody>
                    <a:bodyPr/>
                    <a:lstStyle/>
                    <a:p>
                      <a:r>
                        <a:rPr lang="en-US" sz="2800"/>
                        <a:t>Tasks</a:t>
                      </a:r>
                    </a:p>
                  </a:txBody>
                  <a:tcPr marL="68575" marR="68575" marT="34288" marB="34288" anchor="ctr">
                    <a:solidFill>
                      <a:schemeClr val="accent2">
                        <a:lumMod val="20000"/>
                        <a:lumOff val="80000"/>
                      </a:schemeClr>
                    </a:solidFill>
                  </a:tcPr>
                </a:tc>
                <a:tc>
                  <a:txBody>
                    <a:bodyPr/>
                    <a:lstStyle/>
                    <a:p>
                      <a:r>
                        <a:rPr lang="en-US" sz="2800" dirty="0"/>
                        <a:t>Notes</a:t>
                      </a:r>
                    </a:p>
                  </a:txBody>
                  <a:tcPr marL="68575" marR="68575" marT="34288" marB="34288" anchor="ctr">
                    <a:solidFill>
                      <a:schemeClr val="accent2">
                        <a:lumMod val="20000"/>
                        <a:lumOff val="80000"/>
                      </a:schemeClr>
                    </a:solidFill>
                  </a:tcPr>
                </a:tc>
                <a:extLst>
                  <a:ext uri="{0D108BD9-81ED-4DB2-BD59-A6C34878D82A}">
                    <a16:rowId xmlns:a16="http://schemas.microsoft.com/office/drawing/2014/main" val="425577401"/>
                  </a:ext>
                </a:extLst>
              </a:tr>
              <a:tr h="685752">
                <a:tc>
                  <a:txBody>
                    <a:bodyPr/>
                    <a:lstStyle/>
                    <a:p>
                      <a:r>
                        <a:rPr lang="en-US" sz="2800" dirty="0"/>
                        <a:t>8–11</a:t>
                      </a:r>
                    </a:p>
                  </a:txBody>
                  <a:tcPr marL="68575" marR="68575" marT="34288" marB="34288" anchor="ctr"/>
                </a:tc>
                <a:tc>
                  <a:txBody>
                    <a:bodyPr/>
                    <a:lstStyle/>
                    <a:p>
                      <a:r>
                        <a:rPr lang="en-US" sz="2800" dirty="0"/>
                        <a:t>Development + testing</a:t>
                      </a:r>
                    </a:p>
                  </a:txBody>
                  <a:tcPr marL="68575" marR="68575" marT="34288" marB="34288" anchor="ctr"/>
                </a:tc>
                <a:tc>
                  <a:txBody>
                    <a:bodyPr/>
                    <a:lstStyle/>
                    <a:p>
                      <a:r>
                        <a:rPr lang="en-US" sz="2800"/>
                        <a:t>Complete features, peer review, fix bugs, update documents</a:t>
                      </a:r>
                    </a:p>
                  </a:txBody>
                  <a:tcPr marL="68575" marR="68575" marT="34288" marB="34288" anchor="ctr"/>
                </a:tc>
                <a:extLst>
                  <a:ext uri="{0D108BD9-81ED-4DB2-BD59-A6C34878D82A}">
                    <a16:rowId xmlns:a16="http://schemas.microsoft.com/office/drawing/2014/main" val="2010123592"/>
                  </a:ext>
                </a:extLst>
              </a:tr>
              <a:tr h="480026">
                <a:tc>
                  <a:txBody>
                    <a:bodyPr/>
                    <a:lstStyle/>
                    <a:p>
                      <a:r>
                        <a:rPr lang="en-US" sz="2800"/>
                        <a:t>12</a:t>
                      </a:r>
                    </a:p>
                  </a:txBody>
                  <a:tcPr marL="68575" marR="68575" marT="34288" marB="34288" anchor="ctr"/>
                </a:tc>
                <a:tc>
                  <a:txBody>
                    <a:bodyPr/>
                    <a:lstStyle/>
                    <a:p>
                      <a:r>
                        <a:rPr lang="en-US" sz="2800" dirty="0"/>
                        <a:t>Submit Final Prototype + Docs (Assessment 4)</a:t>
                      </a:r>
                    </a:p>
                  </a:txBody>
                  <a:tcPr marL="68575" marR="68575" marT="34288" marB="34288" anchor="ctr"/>
                </a:tc>
                <a:tc>
                  <a:txBody>
                    <a:bodyPr/>
                    <a:lstStyle/>
                    <a:p>
                      <a:r>
                        <a:rPr lang="en-US" sz="2800" dirty="0"/>
                        <a:t>Include testing report, user manual, installation guide, project closure plan</a:t>
                      </a:r>
                    </a:p>
                  </a:txBody>
                  <a:tcPr marL="68575" marR="68575" marT="34288" marB="34288" anchor="ctr"/>
                </a:tc>
                <a:extLst>
                  <a:ext uri="{0D108BD9-81ED-4DB2-BD59-A6C34878D82A}">
                    <a16:rowId xmlns:a16="http://schemas.microsoft.com/office/drawing/2014/main" val="817413514"/>
                  </a:ext>
                </a:extLst>
              </a:tr>
            </a:tbl>
          </a:graphicData>
        </a:graphic>
      </p:graphicFrame>
      <p:sp>
        <p:nvSpPr>
          <p:cNvPr id="6" name="TextBox 5">
            <a:extLst>
              <a:ext uri="{FF2B5EF4-FFF2-40B4-BE49-F238E27FC236}">
                <a16:creationId xmlns:a16="http://schemas.microsoft.com/office/drawing/2014/main" id="{FF0986BC-4E2B-FA83-9372-979E76DB7307}"/>
              </a:ext>
            </a:extLst>
          </p:cNvPr>
          <p:cNvSpPr txBox="1"/>
          <p:nvPr/>
        </p:nvSpPr>
        <p:spPr>
          <a:xfrm>
            <a:off x="0" y="0"/>
            <a:ext cx="11887199" cy="646331"/>
          </a:xfrm>
          <a:prstGeom prst="rect">
            <a:avLst/>
          </a:prstGeom>
          <a:noFill/>
        </p:spPr>
        <p:txBody>
          <a:bodyPr wrap="square">
            <a:spAutoFit/>
          </a:bodyPr>
          <a:lstStyle/>
          <a:p>
            <a:r>
              <a:rPr lang="en-US" sz="3600" b="1" dirty="0"/>
              <a:t>Weekly Task Breakdown &amp; Milestones</a:t>
            </a:r>
          </a:p>
        </p:txBody>
      </p:sp>
    </p:spTree>
    <p:extLst>
      <p:ext uri="{BB962C8B-B14F-4D97-AF65-F5344CB8AC3E}">
        <p14:creationId xmlns:p14="http://schemas.microsoft.com/office/powerpoint/2010/main" val="31058338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8A410-9842-A491-EA84-DBB4A9D9A153}"/>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AE9DC6F5-9513-30C7-F7EB-2FFA4C1289A5}"/>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8428A9CB-316B-C158-9D1A-46B557127AB3}"/>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EA9A951B-8361-9389-601F-EBABA643FD2E}"/>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descr="User uploaded image">
            <a:extLst>
              <a:ext uri="{FF2B5EF4-FFF2-40B4-BE49-F238E27FC236}">
                <a16:creationId xmlns:a16="http://schemas.microsoft.com/office/drawing/2014/main" id="{8A1E06E5-0751-D7FB-9310-6D344FAE365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889"/>
          <a:stretch/>
        </p:blipFill>
        <p:spPr bwMode="auto">
          <a:xfrm>
            <a:off x="0" y="1600200"/>
            <a:ext cx="12192000" cy="62484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Rounded Corners 1">
            <a:extLst>
              <a:ext uri="{FF2B5EF4-FFF2-40B4-BE49-F238E27FC236}">
                <a16:creationId xmlns:a16="http://schemas.microsoft.com/office/drawing/2014/main" id="{3549B3C3-F8B7-F466-3E40-63F01033E036}"/>
              </a:ext>
            </a:extLst>
          </p:cNvPr>
          <p:cNvSpPr/>
          <p:nvPr/>
        </p:nvSpPr>
        <p:spPr>
          <a:xfrm>
            <a:off x="1981200" y="6629400"/>
            <a:ext cx="9753600" cy="121920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533261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394A-12A6-B581-D099-98070D7B2F4F}"/>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7110C79A-3938-2E86-8D48-EF977D6F34AB}"/>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1DB5C180-BB61-8295-F5A6-DFAD85A4083F}"/>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15DCBA87-5040-EA9C-1789-DD04606E32BC}"/>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3BB17930-6E66-14F4-0325-478B75D167E3}"/>
              </a:ext>
            </a:extLst>
          </p:cNvPr>
          <p:cNvPicPr>
            <a:picLocks noChangeAspect="1"/>
          </p:cNvPicPr>
          <p:nvPr/>
        </p:nvPicPr>
        <p:blipFill>
          <a:blip r:embed="rId3"/>
          <a:srcRect b="8889"/>
          <a:stretch/>
        </p:blipFill>
        <p:spPr>
          <a:xfrm>
            <a:off x="0" y="1600200"/>
            <a:ext cx="12192000" cy="6248400"/>
          </a:xfrm>
          <a:prstGeom prst="rect">
            <a:avLst/>
          </a:prstGeom>
        </p:spPr>
      </p:pic>
    </p:spTree>
    <p:extLst>
      <p:ext uri="{BB962C8B-B14F-4D97-AF65-F5344CB8AC3E}">
        <p14:creationId xmlns:p14="http://schemas.microsoft.com/office/powerpoint/2010/main" val="1814658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83CAD-0373-B4F7-117D-A7260C5741C9}"/>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C4EF6B69-8C6F-9AC0-8B57-7C23D961581B}"/>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3BFC3D2B-7BE4-01DE-14FC-D82BD9F9E899}"/>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840A3F41-F7A3-75D6-684C-D5CC64A77734}"/>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26" name="Picture 2" descr="User uploaded image">
            <a:extLst>
              <a:ext uri="{FF2B5EF4-FFF2-40B4-BE49-F238E27FC236}">
                <a16:creationId xmlns:a16="http://schemas.microsoft.com/office/drawing/2014/main" id="{108906B1-0459-1028-5FC4-6D934941E81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3333"/>
          <a:stretch/>
        </p:blipFill>
        <p:spPr bwMode="auto">
          <a:xfrm>
            <a:off x="0" y="1600200"/>
            <a:ext cx="12192000"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770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82FA1-4833-4C25-754D-6CF8E5821072}"/>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17BD7CBB-B036-1226-7690-98C02A8BFCEF}"/>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E5732ED8-47E3-5767-450C-A366486063EC}"/>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006FBED8-324E-4EE1-D6F9-F2055B54A19D}"/>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661634ED-A716-A0E8-3C6C-6345333AAFE4}"/>
              </a:ext>
            </a:extLst>
          </p:cNvPr>
          <p:cNvSpPr txBox="1"/>
          <p:nvPr/>
        </p:nvSpPr>
        <p:spPr>
          <a:xfrm>
            <a:off x="304800" y="1376084"/>
            <a:ext cx="7182464" cy="1318181"/>
          </a:xfrm>
          <a:prstGeom prst="rect">
            <a:avLst/>
          </a:prstGeom>
          <a:noFill/>
        </p:spPr>
        <p:txBody>
          <a:bodyPr wrap="square">
            <a:spAutoFit/>
          </a:bodyPr>
          <a:lstStyle/>
          <a:p>
            <a:pPr>
              <a:lnSpc>
                <a:spcPct val="150000"/>
              </a:lnSpc>
            </a:pPr>
            <a:r>
              <a:rPr lang="en-US" sz="2800" b="1" dirty="0">
                <a:latin typeface="+mj-lt"/>
              </a:rPr>
              <a:t>Word Limit:</a:t>
            </a:r>
            <a:r>
              <a:rPr lang="en-US" sz="2800" dirty="0">
                <a:latin typeface="+mj-lt"/>
              </a:rPr>
              <a:t> 2000–2500 words</a:t>
            </a:r>
            <a:br>
              <a:rPr lang="en-US" sz="2800" dirty="0">
                <a:latin typeface="+mj-lt"/>
              </a:rPr>
            </a:br>
            <a:r>
              <a:rPr lang="en-US" sz="2800" b="1" dirty="0">
                <a:latin typeface="+mj-lt"/>
              </a:rPr>
              <a:t>Weight:</a:t>
            </a:r>
            <a:r>
              <a:rPr lang="en-US" sz="2800" dirty="0">
                <a:latin typeface="+mj-lt"/>
              </a:rPr>
              <a:t> 30%</a:t>
            </a:r>
            <a:endParaRPr lang="en-AU" sz="2800" dirty="0">
              <a:latin typeface="+mj-lt"/>
            </a:endParaRPr>
          </a:p>
        </p:txBody>
      </p:sp>
    </p:spTree>
    <p:extLst>
      <p:ext uri="{BB962C8B-B14F-4D97-AF65-F5344CB8AC3E}">
        <p14:creationId xmlns:p14="http://schemas.microsoft.com/office/powerpoint/2010/main" val="3090431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668B9-619A-FDBB-EA5A-0CB25CF2F115}"/>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F84930EA-76D4-FC5C-14E1-25A294C942E9}"/>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4A3098FC-C162-5E6E-55CE-43736CDAF496}"/>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6F2FFADA-13BB-2C47-63F4-498F6FFC831B}"/>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F2758B13-8ACB-EB21-1A1D-6CFE611A582E}"/>
              </a:ext>
            </a:extLst>
          </p:cNvPr>
          <p:cNvSpPr txBox="1"/>
          <p:nvPr/>
        </p:nvSpPr>
        <p:spPr>
          <a:xfrm>
            <a:off x="304800" y="1376084"/>
            <a:ext cx="11887198" cy="6488828"/>
          </a:xfrm>
          <a:prstGeom prst="rect">
            <a:avLst/>
          </a:prstGeom>
          <a:noFill/>
        </p:spPr>
        <p:txBody>
          <a:bodyPr wrap="square">
            <a:spAutoFit/>
          </a:bodyPr>
          <a:lstStyle/>
          <a:p>
            <a:pPr>
              <a:lnSpc>
                <a:spcPct val="150000"/>
              </a:lnSpc>
              <a:buNone/>
            </a:pPr>
            <a:r>
              <a:rPr lang="en-US" sz="2800" b="1" dirty="0">
                <a:latin typeface="+mj-lt"/>
              </a:rPr>
              <a:t>Purpose of the Assignment:</a:t>
            </a:r>
          </a:p>
          <a:p>
            <a:pPr>
              <a:lnSpc>
                <a:spcPct val="150000"/>
              </a:lnSpc>
              <a:buNone/>
            </a:pPr>
            <a:r>
              <a:rPr lang="en-US" sz="2800" dirty="0">
                <a:latin typeface="+mj-lt"/>
              </a:rPr>
              <a:t>This assignment allows your team to present a </a:t>
            </a:r>
            <a:r>
              <a:rPr lang="en-US" sz="2800" b="1" dirty="0">
                <a:latin typeface="+mj-lt"/>
              </a:rPr>
              <a:t>working prototype</a:t>
            </a:r>
            <a:r>
              <a:rPr lang="en-US" sz="2800" dirty="0">
                <a:latin typeface="+mj-lt"/>
              </a:rPr>
              <a:t> of your proposed system. You will showcase the </a:t>
            </a:r>
            <a:r>
              <a:rPr lang="en-US" sz="2800" b="1" dirty="0">
                <a:latin typeface="+mj-lt"/>
              </a:rPr>
              <a:t>design</a:t>
            </a:r>
            <a:r>
              <a:rPr lang="en-US" sz="2800" dirty="0">
                <a:latin typeface="+mj-lt"/>
              </a:rPr>
              <a:t>, </a:t>
            </a:r>
            <a:r>
              <a:rPr lang="en-US" sz="2800" b="1" dirty="0">
                <a:latin typeface="+mj-lt"/>
              </a:rPr>
              <a:t>functionality</a:t>
            </a:r>
            <a:r>
              <a:rPr lang="en-US" sz="2800" dirty="0">
                <a:latin typeface="+mj-lt"/>
              </a:rPr>
              <a:t>, and </a:t>
            </a:r>
            <a:r>
              <a:rPr lang="en-US" sz="2800" b="1" dirty="0">
                <a:latin typeface="+mj-lt"/>
              </a:rPr>
              <a:t>implementation strategy</a:t>
            </a:r>
            <a:r>
              <a:rPr lang="en-US" sz="2800" dirty="0">
                <a:latin typeface="+mj-lt"/>
              </a:rPr>
              <a:t>, demonstrating practical application of your technical and analytical skills.</a:t>
            </a:r>
          </a:p>
          <a:p>
            <a:pPr>
              <a:lnSpc>
                <a:spcPct val="150000"/>
              </a:lnSpc>
              <a:buNone/>
            </a:pPr>
            <a:r>
              <a:rPr lang="en-US" sz="2800" dirty="0">
                <a:latin typeface="+mj-lt"/>
              </a:rPr>
              <a:t>Your submission should demonstrate:</a:t>
            </a:r>
          </a:p>
          <a:p>
            <a:pPr marL="738188" indent="-457200">
              <a:lnSpc>
                <a:spcPct val="150000"/>
              </a:lnSpc>
              <a:buFont typeface="Arial" panose="020B0604020202020204" pitchFamily="34" charset="0"/>
              <a:buChar char="•"/>
            </a:pPr>
            <a:r>
              <a:rPr lang="en-US" sz="2800" dirty="0">
                <a:latin typeface="+mj-lt"/>
              </a:rPr>
              <a:t>Technical competency in building and designing software interfaces.</a:t>
            </a:r>
          </a:p>
          <a:p>
            <a:pPr marL="738188" indent="-457200">
              <a:lnSpc>
                <a:spcPct val="150000"/>
              </a:lnSpc>
              <a:buFont typeface="Arial" panose="020B0604020202020204" pitchFamily="34" charset="0"/>
              <a:buChar char="•"/>
            </a:pPr>
            <a:r>
              <a:rPr lang="en-US" sz="2800" dirty="0">
                <a:latin typeface="+mj-lt"/>
              </a:rPr>
              <a:t>Clear understanding of the requirements outlined in Assignment 3.</a:t>
            </a:r>
          </a:p>
          <a:p>
            <a:pPr marL="738188" indent="-457200">
              <a:lnSpc>
                <a:spcPct val="150000"/>
              </a:lnSpc>
              <a:buFont typeface="Arial" panose="020B0604020202020204" pitchFamily="34" charset="0"/>
              <a:buChar char="•"/>
            </a:pPr>
            <a:r>
              <a:rPr lang="en-US" sz="2800" dirty="0">
                <a:latin typeface="+mj-lt"/>
              </a:rPr>
              <a:t>Thoughtful system architecture, functionality, usability, and real-world viability</a:t>
            </a:r>
          </a:p>
        </p:txBody>
      </p:sp>
    </p:spTree>
    <p:extLst>
      <p:ext uri="{BB962C8B-B14F-4D97-AF65-F5344CB8AC3E}">
        <p14:creationId xmlns:p14="http://schemas.microsoft.com/office/powerpoint/2010/main" val="2088788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0643D-BAFB-2DD7-00CF-3ED7FB062C26}"/>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643E3D1-AC01-6A6F-ECC2-1A5419B51703}"/>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A0FF74B8-4238-EA9D-904C-F65E765CD839}"/>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BFC29492-A479-66C8-C202-48A098FA2363}"/>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CEB4F99F-A085-FF17-F161-E4ACD5D989A7}"/>
              </a:ext>
            </a:extLst>
          </p:cNvPr>
          <p:cNvSpPr txBox="1"/>
          <p:nvPr/>
        </p:nvSpPr>
        <p:spPr>
          <a:xfrm>
            <a:off x="304800" y="1376084"/>
            <a:ext cx="11887198" cy="3903504"/>
          </a:xfrm>
          <a:prstGeom prst="rect">
            <a:avLst/>
          </a:prstGeom>
          <a:noFill/>
        </p:spPr>
        <p:txBody>
          <a:bodyPr wrap="square">
            <a:spAutoFit/>
          </a:bodyPr>
          <a:lstStyle/>
          <a:p>
            <a:pPr>
              <a:lnSpc>
                <a:spcPct val="150000"/>
              </a:lnSpc>
              <a:buNone/>
            </a:pPr>
            <a:r>
              <a:rPr lang="en-US" sz="2800" b="1" dirty="0">
                <a:latin typeface="+mj-lt"/>
              </a:rPr>
              <a:t>Required Components</a:t>
            </a:r>
          </a:p>
          <a:p>
            <a:pPr>
              <a:lnSpc>
                <a:spcPct val="150000"/>
              </a:lnSpc>
              <a:buNone/>
            </a:pPr>
            <a:r>
              <a:rPr lang="en-US" sz="2800" b="1" dirty="0">
                <a:latin typeface="+mj-lt"/>
              </a:rPr>
              <a:t>1. Module Hierarchy (3%)</a:t>
            </a:r>
          </a:p>
          <a:p>
            <a:pPr marL="708025" indent="-457200">
              <a:lnSpc>
                <a:spcPct val="150000"/>
              </a:lnSpc>
              <a:buFont typeface="Arial" panose="020B0604020202020204" pitchFamily="34" charset="0"/>
              <a:buChar char="•"/>
            </a:pPr>
            <a:r>
              <a:rPr lang="en-US" sz="2800" dirty="0">
                <a:latin typeface="+mj-lt"/>
              </a:rPr>
              <a:t>Display a diagram showing the system’s structure.</a:t>
            </a:r>
          </a:p>
          <a:p>
            <a:pPr marL="708025" indent="-457200">
              <a:lnSpc>
                <a:spcPct val="150000"/>
              </a:lnSpc>
              <a:buFont typeface="Arial" panose="020B0604020202020204" pitchFamily="34" charset="0"/>
              <a:buChar char="•"/>
            </a:pPr>
            <a:r>
              <a:rPr lang="en-US" sz="2800" dirty="0">
                <a:latin typeface="+mj-lt"/>
              </a:rPr>
              <a:t>Use a </a:t>
            </a:r>
            <a:r>
              <a:rPr lang="en-US" sz="2800" b="1" dirty="0">
                <a:latin typeface="+mj-lt"/>
              </a:rPr>
              <a:t>tree or chart</a:t>
            </a:r>
            <a:r>
              <a:rPr lang="en-US" sz="2800" dirty="0">
                <a:latin typeface="+mj-lt"/>
              </a:rPr>
              <a:t> format (e.g., Admin &gt; User Management &gt; Add User, Edit User, etc.).</a:t>
            </a:r>
          </a:p>
          <a:p>
            <a:pPr marL="708025" indent="-457200">
              <a:lnSpc>
                <a:spcPct val="150000"/>
              </a:lnSpc>
              <a:buFont typeface="Arial" panose="020B0604020202020204" pitchFamily="34" charset="0"/>
              <a:buChar char="•"/>
            </a:pPr>
            <a:r>
              <a:rPr lang="en-US" sz="2800" dirty="0">
                <a:latin typeface="+mj-lt"/>
              </a:rPr>
              <a:t>Clearly define modules, submodules, and their interactions.</a:t>
            </a:r>
          </a:p>
        </p:txBody>
      </p:sp>
    </p:spTree>
    <p:extLst>
      <p:ext uri="{BB962C8B-B14F-4D97-AF65-F5344CB8AC3E}">
        <p14:creationId xmlns:p14="http://schemas.microsoft.com/office/powerpoint/2010/main" val="1940545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E237B-A5AF-9AF9-8549-BCA901DA02EF}"/>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7843851-2B9B-C9F7-BE88-B1546A0A99DE}"/>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F6F31311-B7F8-7955-A0D0-DB078DD62E70}"/>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EEC0B865-C1D5-CF7C-C448-21DA9D43D09C}"/>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68BCB6E9-8724-64E3-E82A-A3C6AE4B893A}"/>
              </a:ext>
            </a:extLst>
          </p:cNvPr>
          <p:cNvSpPr txBox="1"/>
          <p:nvPr/>
        </p:nvSpPr>
        <p:spPr>
          <a:xfrm>
            <a:off x="304800" y="1376084"/>
            <a:ext cx="11887198" cy="3903504"/>
          </a:xfrm>
          <a:prstGeom prst="rect">
            <a:avLst/>
          </a:prstGeom>
          <a:noFill/>
        </p:spPr>
        <p:txBody>
          <a:bodyPr wrap="square">
            <a:spAutoFit/>
          </a:bodyPr>
          <a:lstStyle/>
          <a:p>
            <a:pPr>
              <a:lnSpc>
                <a:spcPct val="150000"/>
              </a:lnSpc>
              <a:buNone/>
            </a:pPr>
            <a:r>
              <a:rPr lang="en-US" sz="2800" b="1" dirty="0">
                <a:latin typeface="+mj-lt"/>
              </a:rPr>
              <a:t>2. Mock-up Screens (5%)</a:t>
            </a:r>
          </a:p>
          <a:p>
            <a:pPr marL="708025" indent="-457200">
              <a:lnSpc>
                <a:spcPct val="150000"/>
              </a:lnSpc>
              <a:buFont typeface="Arial" panose="020B0604020202020204" pitchFamily="34" charset="0"/>
              <a:buChar char="•"/>
            </a:pPr>
            <a:r>
              <a:rPr lang="en-US" sz="2800" dirty="0">
                <a:latin typeface="+mj-lt"/>
              </a:rPr>
              <a:t>Include </a:t>
            </a:r>
            <a:r>
              <a:rPr lang="en-US" sz="2800" b="1" dirty="0">
                <a:latin typeface="+mj-lt"/>
              </a:rPr>
              <a:t>annotated mock-ups</a:t>
            </a:r>
            <a:r>
              <a:rPr lang="en-US" sz="2800" dirty="0">
                <a:latin typeface="+mj-lt"/>
              </a:rPr>
              <a:t> of important system interfaces.</a:t>
            </a:r>
          </a:p>
          <a:p>
            <a:pPr marL="708025" indent="-457200">
              <a:lnSpc>
                <a:spcPct val="150000"/>
              </a:lnSpc>
              <a:buFont typeface="Arial" panose="020B0604020202020204" pitchFamily="34" charset="0"/>
              <a:buChar char="•"/>
            </a:pPr>
            <a:r>
              <a:rPr lang="en-US" sz="2800" dirty="0">
                <a:latin typeface="+mj-lt"/>
              </a:rPr>
              <a:t>Screens should show layout, font, color, and button placement.</a:t>
            </a:r>
          </a:p>
          <a:p>
            <a:pPr marL="708025" indent="-457200">
              <a:lnSpc>
                <a:spcPct val="150000"/>
              </a:lnSpc>
              <a:buFont typeface="Arial" panose="020B0604020202020204" pitchFamily="34" charset="0"/>
              <a:buChar char="•"/>
            </a:pPr>
            <a:r>
              <a:rPr lang="en-US" sz="2800" dirty="0">
                <a:latin typeface="+mj-lt"/>
              </a:rPr>
              <a:t>Tools: You can use </a:t>
            </a:r>
            <a:r>
              <a:rPr lang="en-US" sz="2800" b="1" dirty="0">
                <a:latin typeface="+mj-lt"/>
              </a:rPr>
              <a:t>Figma</a:t>
            </a:r>
            <a:r>
              <a:rPr lang="en-US" sz="2800" dirty="0">
                <a:latin typeface="+mj-lt"/>
              </a:rPr>
              <a:t>, </a:t>
            </a:r>
            <a:r>
              <a:rPr lang="en-US" sz="2800" b="1" dirty="0">
                <a:latin typeface="+mj-lt"/>
              </a:rPr>
              <a:t>Adobe XD</a:t>
            </a:r>
            <a:r>
              <a:rPr lang="en-US" sz="2800" dirty="0">
                <a:latin typeface="+mj-lt"/>
              </a:rPr>
              <a:t>, </a:t>
            </a:r>
            <a:r>
              <a:rPr lang="en-US" sz="2800" b="1" dirty="0">
                <a:latin typeface="+mj-lt"/>
              </a:rPr>
              <a:t>Balsamiq</a:t>
            </a:r>
            <a:r>
              <a:rPr lang="en-US" sz="2800" dirty="0">
                <a:latin typeface="+mj-lt"/>
              </a:rPr>
              <a:t>, or simply annotated PowerPoint slides.</a:t>
            </a:r>
          </a:p>
          <a:p>
            <a:pPr>
              <a:lnSpc>
                <a:spcPct val="150000"/>
              </a:lnSpc>
            </a:pPr>
            <a:r>
              <a:rPr lang="en-US" sz="2800" b="1" dirty="0">
                <a:latin typeface="+mj-lt"/>
              </a:rPr>
              <a:t>Tip:</a:t>
            </a:r>
            <a:r>
              <a:rPr lang="en-US" sz="2800" dirty="0">
                <a:latin typeface="+mj-lt"/>
              </a:rPr>
              <a:t> Group similar interfaces together and explain reusable design elements.</a:t>
            </a:r>
          </a:p>
        </p:txBody>
      </p:sp>
    </p:spTree>
    <p:extLst>
      <p:ext uri="{BB962C8B-B14F-4D97-AF65-F5344CB8AC3E}">
        <p14:creationId xmlns:p14="http://schemas.microsoft.com/office/powerpoint/2010/main" val="1682839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7E95D-383B-FEC0-0637-8C0B3AC0234D}"/>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7DA36C0D-0850-17F9-9B1D-1E7EDD14B87A}"/>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014B417B-CDE0-A9C8-F28C-F45922A989FC}"/>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2F56BFB1-0AEF-AC77-7E22-77EF12145A2A}"/>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42426CEB-056F-CAC2-34DD-AEC7EEE5CCB5}"/>
              </a:ext>
            </a:extLst>
          </p:cNvPr>
          <p:cNvSpPr txBox="1"/>
          <p:nvPr/>
        </p:nvSpPr>
        <p:spPr>
          <a:xfrm>
            <a:off x="304800" y="1376084"/>
            <a:ext cx="11887198" cy="3257174"/>
          </a:xfrm>
          <a:prstGeom prst="rect">
            <a:avLst/>
          </a:prstGeom>
          <a:noFill/>
        </p:spPr>
        <p:txBody>
          <a:bodyPr wrap="square">
            <a:spAutoFit/>
          </a:bodyPr>
          <a:lstStyle/>
          <a:p>
            <a:pPr>
              <a:lnSpc>
                <a:spcPct val="150000"/>
              </a:lnSpc>
              <a:buNone/>
            </a:pPr>
            <a:r>
              <a:rPr lang="en-US" sz="2800" b="1" dirty="0">
                <a:latin typeface="+mj-lt"/>
              </a:rPr>
              <a:t>3. Reports (6%)</a:t>
            </a:r>
          </a:p>
          <a:p>
            <a:pPr marL="752475" indent="-457200">
              <a:lnSpc>
                <a:spcPct val="150000"/>
              </a:lnSpc>
              <a:buFont typeface="Arial" panose="020B0604020202020204" pitchFamily="34" charset="0"/>
              <a:buChar char="•"/>
            </a:pPr>
            <a:r>
              <a:rPr lang="en-US" sz="2800" dirty="0">
                <a:latin typeface="+mj-lt"/>
              </a:rPr>
              <a:t>Define what business reports your system can generate (e.g., User Activity Report, Monthly Sales Summary).</a:t>
            </a:r>
          </a:p>
          <a:p>
            <a:pPr marL="752475" indent="-457200">
              <a:lnSpc>
                <a:spcPct val="150000"/>
              </a:lnSpc>
              <a:buFont typeface="Arial" panose="020B0604020202020204" pitchFamily="34" charset="0"/>
              <a:buChar char="•"/>
            </a:pPr>
            <a:r>
              <a:rPr lang="en-US" sz="2800" dirty="0">
                <a:latin typeface="+mj-lt"/>
              </a:rPr>
              <a:t>Provide sample report layouts: show headings, data tables, filters, and formats.</a:t>
            </a:r>
          </a:p>
        </p:txBody>
      </p:sp>
    </p:spTree>
    <p:extLst>
      <p:ext uri="{BB962C8B-B14F-4D97-AF65-F5344CB8AC3E}">
        <p14:creationId xmlns:p14="http://schemas.microsoft.com/office/powerpoint/2010/main" val="853608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FD32A-DFB5-90A5-ADC6-E584263B739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36B8FC7F-8F30-9772-2AF9-437705C6BD52}"/>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8EF9687D-B514-8EFE-0BB4-11FA03ABD376}"/>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678B9095-89E1-791B-C90B-9D262BAA47DA}"/>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3AE49EA2-E443-4A81-2233-5A9DE2F00759}"/>
              </a:ext>
            </a:extLst>
          </p:cNvPr>
          <p:cNvSpPr txBox="1"/>
          <p:nvPr/>
        </p:nvSpPr>
        <p:spPr>
          <a:xfrm>
            <a:off x="304800" y="1376084"/>
            <a:ext cx="11887198" cy="5196166"/>
          </a:xfrm>
          <a:prstGeom prst="rect">
            <a:avLst/>
          </a:prstGeom>
          <a:noFill/>
        </p:spPr>
        <p:txBody>
          <a:bodyPr wrap="square">
            <a:spAutoFit/>
          </a:bodyPr>
          <a:lstStyle/>
          <a:p>
            <a:pPr>
              <a:lnSpc>
                <a:spcPct val="150000"/>
              </a:lnSpc>
              <a:buNone/>
            </a:pPr>
            <a:r>
              <a:rPr lang="en-US" sz="2800" b="1" dirty="0">
                <a:latin typeface="+mj-lt"/>
              </a:rPr>
              <a:t>4. Documentation &amp; User Manual (6%)</a:t>
            </a:r>
          </a:p>
          <a:p>
            <a:pPr>
              <a:lnSpc>
                <a:spcPct val="150000"/>
              </a:lnSpc>
              <a:buNone/>
            </a:pPr>
            <a:r>
              <a:rPr lang="en-US" sz="2800" dirty="0">
                <a:latin typeface="+mj-lt"/>
              </a:rPr>
              <a:t>Your documentation should be usable and informative for new users:</a:t>
            </a:r>
          </a:p>
          <a:p>
            <a:pPr marL="752475" indent="-457200">
              <a:lnSpc>
                <a:spcPct val="150000"/>
              </a:lnSpc>
              <a:buFont typeface="Arial" panose="020B0604020202020204" pitchFamily="34" charset="0"/>
              <a:buChar char="•"/>
            </a:pPr>
            <a:r>
              <a:rPr lang="en-US" sz="2800" b="1" dirty="0">
                <a:latin typeface="+mj-lt"/>
              </a:rPr>
              <a:t>Interface text</a:t>
            </a:r>
            <a:r>
              <a:rPr lang="en-US" sz="2800" dirty="0">
                <a:latin typeface="+mj-lt"/>
              </a:rPr>
              <a:t>: Instructions, menus, tooltips, error messages.</a:t>
            </a:r>
          </a:p>
          <a:p>
            <a:pPr marL="752475" indent="-457200">
              <a:lnSpc>
                <a:spcPct val="150000"/>
              </a:lnSpc>
              <a:buFont typeface="Arial" panose="020B0604020202020204" pitchFamily="34" charset="0"/>
              <a:buChar char="•"/>
            </a:pPr>
            <a:r>
              <a:rPr lang="en-US" sz="2800" b="1" dirty="0">
                <a:latin typeface="+mj-lt"/>
              </a:rPr>
              <a:t>Operational messages</a:t>
            </a:r>
            <a:r>
              <a:rPr lang="en-US" sz="2800" dirty="0">
                <a:latin typeface="+mj-lt"/>
              </a:rPr>
              <a:t>: Error handling and warnings.</a:t>
            </a:r>
          </a:p>
          <a:p>
            <a:pPr marL="752475" indent="-457200">
              <a:lnSpc>
                <a:spcPct val="150000"/>
              </a:lnSpc>
              <a:buFont typeface="Arial" panose="020B0604020202020204" pitchFamily="34" charset="0"/>
              <a:buChar char="•"/>
            </a:pPr>
            <a:r>
              <a:rPr lang="en-US" sz="2800" b="1" dirty="0">
                <a:latin typeface="+mj-lt"/>
              </a:rPr>
              <a:t>Online help</a:t>
            </a:r>
            <a:r>
              <a:rPr lang="en-US" sz="2800" dirty="0">
                <a:latin typeface="+mj-lt"/>
              </a:rPr>
              <a:t>: FAQs, tutorials, navigation tips.</a:t>
            </a:r>
          </a:p>
          <a:p>
            <a:pPr marL="752475" indent="-457200">
              <a:lnSpc>
                <a:spcPct val="150000"/>
              </a:lnSpc>
              <a:buFont typeface="Arial" panose="020B0604020202020204" pitchFamily="34" charset="0"/>
              <a:buChar char="•"/>
            </a:pPr>
            <a:r>
              <a:rPr lang="en-US" sz="2800" b="1" dirty="0">
                <a:latin typeface="+mj-lt"/>
              </a:rPr>
              <a:t>Printable User Manual</a:t>
            </a:r>
            <a:r>
              <a:rPr lang="en-US" sz="2800" dirty="0">
                <a:latin typeface="+mj-lt"/>
              </a:rPr>
              <a:t>: Describe steps for login, task execution, troubleshooting.</a:t>
            </a:r>
          </a:p>
          <a:p>
            <a:pPr>
              <a:lnSpc>
                <a:spcPct val="150000"/>
              </a:lnSpc>
            </a:pPr>
            <a:r>
              <a:rPr lang="en-US" sz="2800" b="1" dirty="0">
                <a:latin typeface="+mj-lt"/>
              </a:rPr>
              <a:t>Hint:</a:t>
            </a:r>
            <a:r>
              <a:rPr lang="en-US" sz="2800" dirty="0">
                <a:latin typeface="+mj-lt"/>
              </a:rPr>
              <a:t> Include screenshots with annotated steps to guide usage.</a:t>
            </a:r>
          </a:p>
        </p:txBody>
      </p:sp>
    </p:spTree>
    <p:extLst>
      <p:ext uri="{BB962C8B-B14F-4D97-AF65-F5344CB8AC3E}">
        <p14:creationId xmlns:p14="http://schemas.microsoft.com/office/powerpoint/2010/main" val="708342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E76F5-6EAB-C640-F69F-B8073D09BAFB}"/>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EDD13109-4AC1-6AD8-B6D5-EB3ADCB3B82D}"/>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606163E1-4E07-0FA4-CE0B-3C4E2A8E9906}"/>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8CBDA0C5-4E5B-AF52-34FA-3E91ADE0B055}"/>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AA9464E2-56B6-F905-BE6F-707E9622826B}"/>
              </a:ext>
            </a:extLst>
          </p:cNvPr>
          <p:cNvSpPr txBox="1"/>
          <p:nvPr/>
        </p:nvSpPr>
        <p:spPr>
          <a:xfrm>
            <a:off x="304800" y="1376084"/>
            <a:ext cx="11887198" cy="5842497"/>
          </a:xfrm>
          <a:prstGeom prst="rect">
            <a:avLst/>
          </a:prstGeom>
          <a:noFill/>
        </p:spPr>
        <p:txBody>
          <a:bodyPr wrap="square">
            <a:spAutoFit/>
          </a:bodyPr>
          <a:lstStyle/>
          <a:p>
            <a:pPr>
              <a:lnSpc>
                <a:spcPct val="150000"/>
              </a:lnSpc>
              <a:buNone/>
            </a:pPr>
            <a:r>
              <a:rPr lang="en-US" sz="2800" b="1" dirty="0">
                <a:latin typeface="+mj-lt"/>
              </a:rPr>
              <a:t>5. Implementation &amp; Testing (10%)</a:t>
            </a:r>
          </a:p>
          <a:p>
            <a:pPr marL="457200" indent="-457200">
              <a:lnSpc>
                <a:spcPct val="150000"/>
              </a:lnSpc>
              <a:buFont typeface="Arial" panose="020B0604020202020204" pitchFamily="34" charset="0"/>
              <a:buChar char="•"/>
            </a:pPr>
            <a:r>
              <a:rPr lang="en-US" sz="2800" dirty="0">
                <a:latin typeface="+mj-lt"/>
              </a:rPr>
              <a:t>Explain </a:t>
            </a:r>
            <a:r>
              <a:rPr lang="en-US" sz="2800" b="1" dirty="0">
                <a:latin typeface="+mj-lt"/>
              </a:rPr>
              <a:t>how your system is built</a:t>
            </a:r>
            <a:r>
              <a:rPr lang="en-US" sz="2800" dirty="0">
                <a:latin typeface="+mj-lt"/>
              </a:rPr>
              <a:t>: which tools, technologies, and how modules are connected.</a:t>
            </a:r>
          </a:p>
          <a:p>
            <a:pPr marL="457200" indent="-457200">
              <a:lnSpc>
                <a:spcPct val="150000"/>
              </a:lnSpc>
              <a:buFont typeface="Arial" panose="020B0604020202020204" pitchFamily="34" charset="0"/>
              <a:buChar char="•"/>
            </a:pPr>
            <a:r>
              <a:rPr lang="en-US" sz="2800" dirty="0">
                <a:latin typeface="+mj-lt"/>
              </a:rPr>
              <a:t>Include:</a:t>
            </a:r>
          </a:p>
          <a:p>
            <a:pPr marL="914400" lvl="1" indent="-457200">
              <a:lnSpc>
                <a:spcPct val="150000"/>
              </a:lnSpc>
              <a:buFont typeface="Arial" panose="020B0604020202020204" pitchFamily="34" charset="0"/>
              <a:buChar char="•"/>
            </a:pPr>
            <a:r>
              <a:rPr lang="en-US" sz="2800" dirty="0">
                <a:latin typeface="+mj-lt"/>
              </a:rPr>
              <a:t>Screenshots of your working prototype.</a:t>
            </a:r>
          </a:p>
          <a:p>
            <a:pPr marL="914400" lvl="1" indent="-457200">
              <a:lnSpc>
                <a:spcPct val="150000"/>
              </a:lnSpc>
              <a:buFont typeface="Arial" panose="020B0604020202020204" pitchFamily="34" charset="0"/>
              <a:buChar char="•"/>
            </a:pPr>
            <a:r>
              <a:rPr lang="en-US" sz="2800" dirty="0">
                <a:latin typeface="+mj-lt"/>
              </a:rPr>
              <a:t>Technology stack used (e.g., XAMPP + PHP + MySQL + HTML/CSS/JS).</a:t>
            </a:r>
          </a:p>
          <a:p>
            <a:pPr marL="914400" lvl="1" indent="-457200">
              <a:lnSpc>
                <a:spcPct val="150000"/>
              </a:lnSpc>
              <a:buFont typeface="Arial" panose="020B0604020202020204" pitchFamily="34" charset="0"/>
              <a:buChar char="•"/>
            </a:pPr>
            <a:r>
              <a:rPr lang="en-US" sz="2800" dirty="0">
                <a:latin typeface="+mj-lt"/>
              </a:rPr>
              <a:t>Brief database structure.</a:t>
            </a:r>
          </a:p>
          <a:p>
            <a:pPr marL="914400" lvl="1" indent="-457200">
              <a:lnSpc>
                <a:spcPct val="150000"/>
              </a:lnSpc>
              <a:buFont typeface="Arial" panose="020B0604020202020204" pitchFamily="34" charset="0"/>
              <a:buChar char="•"/>
            </a:pPr>
            <a:r>
              <a:rPr lang="en-US" sz="2800" b="1" dirty="0">
                <a:latin typeface="+mj-lt"/>
              </a:rPr>
              <a:t>Testing strategy</a:t>
            </a:r>
            <a:r>
              <a:rPr lang="en-US" sz="2800" dirty="0">
                <a:latin typeface="+mj-lt"/>
              </a:rPr>
              <a:t>: Describe unit, integration, and user testing conducted. Mention test results and any known bugs/fixes.</a:t>
            </a:r>
          </a:p>
        </p:txBody>
      </p:sp>
    </p:spTree>
    <p:extLst>
      <p:ext uri="{BB962C8B-B14F-4D97-AF65-F5344CB8AC3E}">
        <p14:creationId xmlns:p14="http://schemas.microsoft.com/office/powerpoint/2010/main" val="1029888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E9DF1-95C6-20C2-BBF8-3E42046999B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567A23D9-2FFC-998C-D8F5-952C3DDE6558}"/>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7B4ABBA6-44BC-6393-EFE4-D19C2F62D4CB}"/>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50ACAD54-4C25-C4AD-B20A-11C8206F39CF}"/>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035EB4B-8A3A-E1F6-D38D-265C8932D485}"/>
              </a:ext>
            </a:extLst>
          </p:cNvPr>
          <p:cNvSpPr txBox="1"/>
          <p:nvPr/>
        </p:nvSpPr>
        <p:spPr>
          <a:xfrm>
            <a:off x="304800" y="1376084"/>
            <a:ext cx="11887198" cy="6488828"/>
          </a:xfrm>
          <a:prstGeom prst="rect">
            <a:avLst/>
          </a:prstGeom>
          <a:noFill/>
        </p:spPr>
        <p:txBody>
          <a:bodyPr wrap="square">
            <a:spAutoFit/>
          </a:bodyPr>
          <a:lstStyle/>
          <a:p>
            <a:pPr>
              <a:lnSpc>
                <a:spcPct val="150000"/>
              </a:lnSpc>
              <a:buNone/>
            </a:pPr>
            <a:r>
              <a:rPr lang="en-US" sz="2800" b="1" dirty="0">
                <a:latin typeface="+mj-lt"/>
              </a:rPr>
              <a:t>Tips for Success</a:t>
            </a:r>
          </a:p>
          <a:p>
            <a:pPr>
              <a:lnSpc>
                <a:spcPct val="150000"/>
              </a:lnSpc>
              <a:buNone/>
            </a:pPr>
            <a:r>
              <a:rPr lang="en-US" sz="2800" b="1" dirty="0">
                <a:latin typeface="+mj-lt"/>
              </a:rPr>
              <a:t>What To Do:</a:t>
            </a:r>
          </a:p>
          <a:p>
            <a:pPr marL="766763" indent="-457200">
              <a:lnSpc>
                <a:spcPct val="150000"/>
              </a:lnSpc>
              <a:buFont typeface="Arial" panose="020B0604020202020204" pitchFamily="34" charset="0"/>
              <a:buChar char="•"/>
            </a:pPr>
            <a:r>
              <a:rPr lang="en-US" sz="2800" dirty="0">
                <a:latin typeface="+mj-lt"/>
              </a:rPr>
              <a:t>Organize content logically: </a:t>
            </a:r>
            <a:r>
              <a:rPr lang="en-US" sz="2800" b="1" dirty="0">
                <a:latin typeface="+mj-lt"/>
              </a:rPr>
              <a:t>Introduction → Design → Implementation → Testing</a:t>
            </a:r>
            <a:r>
              <a:rPr lang="en-US" sz="2800" dirty="0">
                <a:latin typeface="+mj-lt"/>
              </a:rPr>
              <a:t>.</a:t>
            </a:r>
          </a:p>
          <a:p>
            <a:pPr marL="766763" indent="-457200">
              <a:lnSpc>
                <a:spcPct val="150000"/>
              </a:lnSpc>
              <a:buFont typeface="Arial" panose="020B0604020202020204" pitchFamily="34" charset="0"/>
              <a:buChar char="•"/>
            </a:pPr>
            <a:r>
              <a:rPr lang="en-US" sz="2800" dirty="0">
                <a:latin typeface="+mj-lt"/>
              </a:rPr>
              <a:t>Use diagrams for clarity (Gantt chart, mockups, architecture, etc.).</a:t>
            </a:r>
          </a:p>
          <a:p>
            <a:pPr marL="766763" indent="-457200">
              <a:lnSpc>
                <a:spcPct val="150000"/>
              </a:lnSpc>
              <a:buFont typeface="Arial" panose="020B0604020202020204" pitchFamily="34" charset="0"/>
              <a:buChar char="•"/>
            </a:pPr>
            <a:r>
              <a:rPr lang="en-US" sz="2800" dirty="0">
                <a:latin typeface="+mj-lt"/>
              </a:rPr>
              <a:t>Clearly label and caption all images and diagrams.</a:t>
            </a:r>
          </a:p>
          <a:p>
            <a:pPr marL="766763" indent="-457200">
              <a:lnSpc>
                <a:spcPct val="150000"/>
              </a:lnSpc>
              <a:buFont typeface="Arial" panose="020B0604020202020204" pitchFamily="34" charset="0"/>
              <a:buChar char="•"/>
            </a:pPr>
            <a:r>
              <a:rPr lang="en-US" sz="2800" dirty="0">
                <a:latin typeface="+mj-lt"/>
              </a:rPr>
              <a:t>Write in </a:t>
            </a:r>
            <a:r>
              <a:rPr lang="en-US" sz="2800" b="1" dirty="0">
                <a:latin typeface="+mj-lt"/>
              </a:rPr>
              <a:t>clear professional language</a:t>
            </a:r>
            <a:r>
              <a:rPr lang="en-US" sz="2800" dirty="0">
                <a:latin typeface="+mj-lt"/>
              </a:rPr>
              <a:t> suitable for a business and technical audience.</a:t>
            </a:r>
          </a:p>
          <a:p>
            <a:pPr marL="766763" indent="-457200">
              <a:lnSpc>
                <a:spcPct val="150000"/>
              </a:lnSpc>
              <a:buFont typeface="Arial" panose="020B0604020202020204" pitchFamily="34" charset="0"/>
              <a:buChar char="•"/>
            </a:pPr>
            <a:r>
              <a:rPr lang="en-US" sz="2800" dirty="0">
                <a:latin typeface="+mj-lt"/>
              </a:rPr>
              <a:t>Follow formatting guidelines: </a:t>
            </a:r>
            <a:r>
              <a:rPr lang="en-US" sz="2800" b="1" dirty="0">
                <a:latin typeface="+mj-lt"/>
              </a:rPr>
              <a:t>Calibri 11pt</a:t>
            </a:r>
            <a:r>
              <a:rPr lang="en-US" sz="2800" dirty="0">
                <a:latin typeface="+mj-lt"/>
              </a:rPr>
              <a:t>, 2cm margins, appropriate headings.</a:t>
            </a:r>
          </a:p>
        </p:txBody>
      </p:sp>
    </p:spTree>
    <p:extLst>
      <p:ext uri="{BB962C8B-B14F-4D97-AF65-F5344CB8AC3E}">
        <p14:creationId xmlns:p14="http://schemas.microsoft.com/office/powerpoint/2010/main" val="1446472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9FDDA-ECC0-55C5-B26F-E18DEC5419E0}"/>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189E93E6-3E66-6C38-D904-91E2A59662DD}"/>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8F0155F4-4C4D-DCAE-6A59-22985C0C2EDC}"/>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7F1DC2AE-8498-18D4-DE62-BB8F240FCDF3}"/>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FC6C5F92-EA5A-9E5A-6F47-88B418F7ECB3}"/>
              </a:ext>
            </a:extLst>
          </p:cNvPr>
          <p:cNvSpPr txBox="1"/>
          <p:nvPr/>
        </p:nvSpPr>
        <p:spPr>
          <a:xfrm>
            <a:off x="304800" y="1376084"/>
            <a:ext cx="11887198" cy="3257174"/>
          </a:xfrm>
          <a:prstGeom prst="rect">
            <a:avLst/>
          </a:prstGeom>
          <a:noFill/>
        </p:spPr>
        <p:txBody>
          <a:bodyPr wrap="square">
            <a:spAutoFit/>
          </a:bodyPr>
          <a:lstStyle/>
          <a:p>
            <a:pPr>
              <a:lnSpc>
                <a:spcPct val="150000"/>
              </a:lnSpc>
              <a:buNone/>
            </a:pPr>
            <a:r>
              <a:rPr lang="en-US" sz="2800" b="1" dirty="0">
                <a:latin typeface="+mj-lt"/>
              </a:rPr>
              <a:t>❌ What to Avoid:</a:t>
            </a:r>
          </a:p>
          <a:p>
            <a:pPr marL="825500" indent="-457200">
              <a:lnSpc>
                <a:spcPct val="150000"/>
              </a:lnSpc>
              <a:buFont typeface="Arial" panose="020B0604020202020204" pitchFamily="34" charset="0"/>
              <a:buChar char="•"/>
            </a:pPr>
            <a:r>
              <a:rPr lang="en-US" sz="2800" dirty="0">
                <a:latin typeface="+mj-lt"/>
              </a:rPr>
              <a:t>Submitting screenshots with no explanation.</a:t>
            </a:r>
          </a:p>
          <a:p>
            <a:pPr marL="825500" indent="-457200">
              <a:lnSpc>
                <a:spcPct val="150000"/>
              </a:lnSpc>
              <a:buFont typeface="Arial" panose="020B0604020202020204" pitchFamily="34" charset="0"/>
              <a:buChar char="•"/>
            </a:pPr>
            <a:r>
              <a:rPr lang="en-US" sz="2800" dirty="0">
                <a:latin typeface="+mj-lt"/>
              </a:rPr>
              <a:t>Omitting your group number or student names from the cover sheet.</a:t>
            </a:r>
          </a:p>
          <a:p>
            <a:pPr marL="825500" indent="-457200">
              <a:lnSpc>
                <a:spcPct val="150000"/>
              </a:lnSpc>
              <a:buFont typeface="Arial" panose="020B0604020202020204" pitchFamily="34" charset="0"/>
              <a:buChar char="•"/>
            </a:pPr>
            <a:r>
              <a:rPr lang="en-US" sz="2800" dirty="0">
                <a:latin typeface="+mj-lt"/>
              </a:rPr>
              <a:t>Using technical jargon without context.</a:t>
            </a:r>
          </a:p>
          <a:p>
            <a:pPr marL="825500" indent="-457200">
              <a:lnSpc>
                <a:spcPct val="150000"/>
              </a:lnSpc>
              <a:buFont typeface="Arial" panose="020B0604020202020204" pitchFamily="34" charset="0"/>
              <a:buChar char="•"/>
            </a:pPr>
            <a:r>
              <a:rPr lang="en-US" sz="2800" dirty="0">
                <a:latin typeface="+mj-lt"/>
              </a:rPr>
              <a:t>Missing citation of tools, libraries, or borrowed resources.</a:t>
            </a:r>
          </a:p>
        </p:txBody>
      </p:sp>
    </p:spTree>
    <p:extLst>
      <p:ext uri="{BB962C8B-B14F-4D97-AF65-F5344CB8AC3E}">
        <p14:creationId xmlns:p14="http://schemas.microsoft.com/office/powerpoint/2010/main" val="782803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EE63-6603-6CF6-BFBB-590EDDE61DE5}"/>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71B6474D-3CFF-338E-90BB-1A96B1286739}"/>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DC5231D8-DFB9-4460-6489-F02CB05BEA6B}"/>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858AD972-F7D0-710D-CE6F-8991D9F3CF2D}"/>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1A602E21-1D51-E76A-32A4-587D659E0654}"/>
              </a:ext>
            </a:extLst>
          </p:cNvPr>
          <p:cNvSpPr txBox="1"/>
          <p:nvPr/>
        </p:nvSpPr>
        <p:spPr>
          <a:xfrm>
            <a:off x="304800" y="1376084"/>
            <a:ext cx="11887198" cy="3257174"/>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Submission Requirements</a:t>
            </a:r>
          </a:p>
          <a:p>
            <a:pPr marL="841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Format: MS Word (.docx)</a:t>
            </a:r>
          </a:p>
          <a:p>
            <a:pPr marL="841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Filename: HS3052-StudentID.docx</a:t>
            </a:r>
          </a:p>
          <a:p>
            <a:pPr marL="841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Include: Assessment Cover Page with all group members listed</a:t>
            </a:r>
          </a:p>
          <a:p>
            <a:pPr marL="841375"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Submit via </a:t>
            </a:r>
            <a:r>
              <a:rPr kumimoji="0" lang="en-US" altLang="en-US" sz="2800" b="1" i="0" u="none" strike="noStrike" cap="none" normalizeH="0" baseline="0" dirty="0">
                <a:ln>
                  <a:noFill/>
                </a:ln>
                <a:solidFill>
                  <a:schemeClr val="tx1"/>
                </a:solidFill>
                <a:effectLst/>
                <a:latin typeface="+mj-lt"/>
              </a:rPr>
              <a:t>Blackboard</a:t>
            </a:r>
            <a:r>
              <a:rPr kumimoji="0" lang="en-US" altLang="en-US" sz="2800" b="0" i="0" u="none" strike="noStrike" cap="none" normalizeH="0" baseline="0" dirty="0">
                <a:ln>
                  <a:noFill/>
                </a:ln>
                <a:solidFill>
                  <a:schemeClr val="tx1"/>
                </a:solidFill>
                <a:effectLst/>
                <a:latin typeface="+mj-lt"/>
              </a:rPr>
              <a:t> by (refer to blackboar</a:t>
            </a:r>
            <a:r>
              <a:rPr lang="en-US" altLang="en-US" sz="2800" dirty="0">
                <a:solidFill>
                  <a:schemeClr val="tx1"/>
                </a:solidFill>
                <a:latin typeface="+mj-lt"/>
              </a:rPr>
              <a:t>d for the due date)</a:t>
            </a:r>
            <a:endParaRPr kumimoji="0" lang="en-US"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648978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5C401-6C41-0CE7-8F4A-DD507DF111D4}"/>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4D58113A-CF66-018E-1D9A-46DADDC3314D}"/>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A2A950AB-9324-1327-DC8E-80F7C2009F5D}"/>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9107F517-E791-D192-AB46-DBB2DFFED94F}"/>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5FE9174C-7A37-BFB6-38F2-1D6D350BDCE7}"/>
              </a:ext>
            </a:extLst>
          </p:cNvPr>
          <p:cNvGraphicFramePr>
            <a:graphicFrameLocks noGrp="1"/>
          </p:cNvGraphicFramePr>
          <p:nvPr>
            <p:extLst>
              <p:ext uri="{D42A27DB-BD31-4B8C-83A1-F6EECF244321}">
                <p14:modId xmlns:p14="http://schemas.microsoft.com/office/powerpoint/2010/main" val="1031865938"/>
              </p:ext>
            </p:extLst>
          </p:nvPr>
        </p:nvGraphicFramePr>
        <p:xfrm>
          <a:off x="457199" y="2410363"/>
          <a:ext cx="10972800" cy="3992118"/>
        </p:xfrm>
        <a:graphic>
          <a:graphicData uri="http://schemas.openxmlformats.org/drawingml/2006/table">
            <a:tbl>
              <a:tblPr>
                <a:tableStyleId>{5DA37D80-6434-44D0-A028-1B22A696006F}</a:tableStyleId>
              </a:tblPr>
              <a:tblGrid>
                <a:gridCol w="5486400">
                  <a:extLst>
                    <a:ext uri="{9D8B030D-6E8A-4147-A177-3AD203B41FA5}">
                      <a16:colId xmlns:a16="http://schemas.microsoft.com/office/drawing/2014/main" val="3964351323"/>
                    </a:ext>
                  </a:extLst>
                </a:gridCol>
                <a:gridCol w="5486400">
                  <a:extLst>
                    <a:ext uri="{9D8B030D-6E8A-4147-A177-3AD203B41FA5}">
                      <a16:colId xmlns:a16="http://schemas.microsoft.com/office/drawing/2014/main" val="424178382"/>
                    </a:ext>
                  </a:extLst>
                </a:gridCol>
              </a:tblGrid>
              <a:tr h="0">
                <a:tc>
                  <a:txBody>
                    <a:bodyPr/>
                    <a:lstStyle/>
                    <a:p>
                      <a:pPr>
                        <a:lnSpc>
                          <a:spcPct val="150000"/>
                        </a:lnSpc>
                      </a:pPr>
                      <a:r>
                        <a:rPr lang="en-US" sz="2800" b="1" dirty="0"/>
                        <a:t>Criteria</a:t>
                      </a:r>
                    </a:p>
                  </a:txBody>
                  <a:tcPr anchor="ctr">
                    <a:solidFill>
                      <a:schemeClr val="accent2">
                        <a:lumMod val="20000"/>
                        <a:lumOff val="80000"/>
                      </a:schemeClr>
                    </a:solidFill>
                  </a:tcPr>
                </a:tc>
                <a:tc>
                  <a:txBody>
                    <a:bodyPr/>
                    <a:lstStyle/>
                    <a:p>
                      <a:pPr>
                        <a:lnSpc>
                          <a:spcPct val="150000"/>
                        </a:lnSpc>
                      </a:pPr>
                      <a:r>
                        <a:rPr lang="en-US" sz="2800" b="1" dirty="0"/>
                        <a:t>Weight</a:t>
                      </a:r>
                    </a:p>
                  </a:txBody>
                  <a:tcPr anchor="ctr">
                    <a:solidFill>
                      <a:schemeClr val="accent2">
                        <a:lumMod val="20000"/>
                        <a:lumOff val="80000"/>
                      </a:schemeClr>
                    </a:solidFill>
                  </a:tcPr>
                </a:tc>
                <a:extLst>
                  <a:ext uri="{0D108BD9-81ED-4DB2-BD59-A6C34878D82A}">
                    <a16:rowId xmlns:a16="http://schemas.microsoft.com/office/drawing/2014/main" val="2491877144"/>
                  </a:ext>
                </a:extLst>
              </a:tr>
              <a:tr h="0">
                <a:tc>
                  <a:txBody>
                    <a:bodyPr/>
                    <a:lstStyle/>
                    <a:p>
                      <a:pPr>
                        <a:lnSpc>
                          <a:spcPct val="150000"/>
                        </a:lnSpc>
                      </a:pPr>
                      <a:r>
                        <a:rPr lang="en-US" sz="2800" dirty="0"/>
                        <a:t>Module Hierarchy</a:t>
                      </a:r>
                    </a:p>
                  </a:txBody>
                  <a:tcPr anchor="ctr"/>
                </a:tc>
                <a:tc>
                  <a:txBody>
                    <a:bodyPr/>
                    <a:lstStyle/>
                    <a:p>
                      <a:pPr>
                        <a:lnSpc>
                          <a:spcPct val="150000"/>
                        </a:lnSpc>
                      </a:pPr>
                      <a:r>
                        <a:rPr lang="en-US" sz="2800"/>
                        <a:t>3%</a:t>
                      </a:r>
                    </a:p>
                  </a:txBody>
                  <a:tcPr anchor="ctr"/>
                </a:tc>
                <a:extLst>
                  <a:ext uri="{0D108BD9-81ED-4DB2-BD59-A6C34878D82A}">
                    <a16:rowId xmlns:a16="http://schemas.microsoft.com/office/drawing/2014/main" val="2570779842"/>
                  </a:ext>
                </a:extLst>
              </a:tr>
              <a:tr h="0">
                <a:tc>
                  <a:txBody>
                    <a:bodyPr/>
                    <a:lstStyle/>
                    <a:p>
                      <a:pPr>
                        <a:lnSpc>
                          <a:spcPct val="150000"/>
                        </a:lnSpc>
                      </a:pPr>
                      <a:r>
                        <a:rPr lang="en-US" sz="2800"/>
                        <a:t>Mock-up Screens</a:t>
                      </a:r>
                    </a:p>
                  </a:txBody>
                  <a:tcPr anchor="ctr"/>
                </a:tc>
                <a:tc>
                  <a:txBody>
                    <a:bodyPr/>
                    <a:lstStyle/>
                    <a:p>
                      <a:pPr>
                        <a:lnSpc>
                          <a:spcPct val="150000"/>
                        </a:lnSpc>
                      </a:pPr>
                      <a:r>
                        <a:rPr lang="en-US" sz="2800"/>
                        <a:t>5%</a:t>
                      </a:r>
                    </a:p>
                  </a:txBody>
                  <a:tcPr anchor="ctr"/>
                </a:tc>
                <a:extLst>
                  <a:ext uri="{0D108BD9-81ED-4DB2-BD59-A6C34878D82A}">
                    <a16:rowId xmlns:a16="http://schemas.microsoft.com/office/drawing/2014/main" val="276246351"/>
                  </a:ext>
                </a:extLst>
              </a:tr>
              <a:tr h="0">
                <a:tc>
                  <a:txBody>
                    <a:bodyPr/>
                    <a:lstStyle/>
                    <a:p>
                      <a:pPr>
                        <a:lnSpc>
                          <a:spcPct val="150000"/>
                        </a:lnSpc>
                      </a:pPr>
                      <a:r>
                        <a:rPr lang="en-US" sz="2800"/>
                        <a:t>Reports</a:t>
                      </a:r>
                    </a:p>
                  </a:txBody>
                  <a:tcPr anchor="ctr"/>
                </a:tc>
                <a:tc>
                  <a:txBody>
                    <a:bodyPr/>
                    <a:lstStyle/>
                    <a:p>
                      <a:pPr>
                        <a:lnSpc>
                          <a:spcPct val="150000"/>
                        </a:lnSpc>
                      </a:pPr>
                      <a:r>
                        <a:rPr lang="en-US" sz="2800"/>
                        <a:t>6%</a:t>
                      </a:r>
                    </a:p>
                  </a:txBody>
                  <a:tcPr anchor="ctr"/>
                </a:tc>
                <a:extLst>
                  <a:ext uri="{0D108BD9-81ED-4DB2-BD59-A6C34878D82A}">
                    <a16:rowId xmlns:a16="http://schemas.microsoft.com/office/drawing/2014/main" val="985688458"/>
                  </a:ext>
                </a:extLst>
              </a:tr>
              <a:tr h="0">
                <a:tc>
                  <a:txBody>
                    <a:bodyPr/>
                    <a:lstStyle/>
                    <a:p>
                      <a:pPr>
                        <a:lnSpc>
                          <a:spcPct val="150000"/>
                        </a:lnSpc>
                      </a:pPr>
                      <a:r>
                        <a:rPr lang="en-US" sz="2800"/>
                        <a:t>Documentation &amp; User Manual</a:t>
                      </a:r>
                    </a:p>
                  </a:txBody>
                  <a:tcPr anchor="ctr"/>
                </a:tc>
                <a:tc>
                  <a:txBody>
                    <a:bodyPr/>
                    <a:lstStyle/>
                    <a:p>
                      <a:pPr>
                        <a:lnSpc>
                          <a:spcPct val="150000"/>
                        </a:lnSpc>
                      </a:pPr>
                      <a:r>
                        <a:rPr lang="en-US" sz="2800"/>
                        <a:t>6%</a:t>
                      </a:r>
                    </a:p>
                  </a:txBody>
                  <a:tcPr anchor="ctr"/>
                </a:tc>
                <a:extLst>
                  <a:ext uri="{0D108BD9-81ED-4DB2-BD59-A6C34878D82A}">
                    <a16:rowId xmlns:a16="http://schemas.microsoft.com/office/drawing/2014/main" val="3644256185"/>
                  </a:ext>
                </a:extLst>
              </a:tr>
              <a:tr h="0">
                <a:tc>
                  <a:txBody>
                    <a:bodyPr/>
                    <a:lstStyle/>
                    <a:p>
                      <a:pPr>
                        <a:lnSpc>
                          <a:spcPct val="150000"/>
                        </a:lnSpc>
                      </a:pPr>
                      <a:r>
                        <a:rPr lang="en-US" sz="2800"/>
                        <a:t>Implementation &amp; Testing</a:t>
                      </a:r>
                    </a:p>
                  </a:txBody>
                  <a:tcPr anchor="ctr"/>
                </a:tc>
                <a:tc>
                  <a:txBody>
                    <a:bodyPr/>
                    <a:lstStyle/>
                    <a:p>
                      <a:pPr>
                        <a:lnSpc>
                          <a:spcPct val="150000"/>
                        </a:lnSpc>
                      </a:pPr>
                      <a:r>
                        <a:rPr lang="en-US" sz="2800" dirty="0"/>
                        <a:t>10%</a:t>
                      </a:r>
                    </a:p>
                  </a:txBody>
                  <a:tcPr anchor="ctr"/>
                </a:tc>
                <a:extLst>
                  <a:ext uri="{0D108BD9-81ED-4DB2-BD59-A6C34878D82A}">
                    <a16:rowId xmlns:a16="http://schemas.microsoft.com/office/drawing/2014/main" val="2867438120"/>
                  </a:ext>
                </a:extLst>
              </a:tr>
            </a:tbl>
          </a:graphicData>
        </a:graphic>
      </p:graphicFrame>
      <p:sp>
        <p:nvSpPr>
          <p:cNvPr id="7" name="Rectangle 1">
            <a:extLst>
              <a:ext uri="{FF2B5EF4-FFF2-40B4-BE49-F238E27FC236}">
                <a16:creationId xmlns:a16="http://schemas.microsoft.com/office/drawing/2014/main" id="{2E5E786C-208E-3418-4E12-1E97C381B8C7}"/>
              </a:ext>
            </a:extLst>
          </p:cNvPr>
          <p:cNvSpPr>
            <a:spLocks noChangeArrowheads="1"/>
          </p:cNvSpPr>
          <p:nvPr/>
        </p:nvSpPr>
        <p:spPr bwMode="auto">
          <a:xfrm>
            <a:off x="0" y="1509497"/>
            <a:ext cx="4169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Marking Guide (30% Total)</a:t>
            </a:r>
            <a:endParaRPr kumimoji="0" lang="en-US" altLang="en-US" sz="28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5356108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B229E-7162-97D1-EE0D-7682F05CED22}"/>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CD14C28C-744B-B042-FF3B-A86B9F476E4A}"/>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2F33BDB0-C797-7D93-E44A-E6A9047E164E}"/>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1F3A9F4A-0B15-F3D5-5A88-2BE066A4E68A}"/>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1B7FDEAB-C313-CC6A-3BB9-A1613D98D4A7}"/>
              </a:ext>
            </a:extLst>
          </p:cNvPr>
          <p:cNvSpPr>
            <a:spLocks noChangeArrowheads="1"/>
          </p:cNvSpPr>
          <p:nvPr/>
        </p:nvSpPr>
        <p:spPr bwMode="auto">
          <a:xfrm>
            <a:off x="0" y="1573059"/>
            <a:ext cx="11963400" cy="325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800" b="1" dirty="0">
                <a:latin typeface="+mj-lt"/>
              </a:rPr>
              <a:t>Suggested Tools</a:t>
            </a:r>
          </a:p>
          <a:p>
            <a:pPr marL="708025" indent="-457200">
              <a:lnSpc>
                <a:spcPct val="150000"/>
              </a:lnSpc>
              <a:buFont typeface="Arial" panose="020B0604020202020204" pitchFamily="34" charset="0"/>
              <a:buChar char="•"/>
            </a:pPr>
            <a:r>
              <a:rPr lang="en-US" sz="2800" b="1" dirty="0">
                <a:latin typeface="+mj-lt"/>
              </a:rPr>
              <a:t>Design/Mockups</a:t>
            </a:r>
            <a:r>
              <a:rPr lang="en-US" sz="2800" dirty="0">
                <a:latin typeface="+mj-lt"/>
              </a:rPr>
              <a:t>: Figma, Balsamiq, Adobe XD, PowerPoint</a:t>
            </a:r>
          </a:p>
          <a:p>
            <a:pPr marL="708025" indent="-457200">
              <a:lnSpc>
                <a:spcPct val="150000"/>
              </a:lnSpc>
              <a:buFont typeface="Arial" panose="020B0604020202020204" pitchFamily="34" charset="0"/>
              <a:buChar char="•"/>
            </a:pPr>
            <a:r>
              <a:rPr lang="en-US" sz="2800" b="1" dirty="0">
                <a:latin typeface="+mj-lt"/>
              </a:rPr>
              <a:t>Development</a:t>
            </a:r>
            <a:r>
              <a:rPr lang="en-US" sz="2800" dirty="0">
                <a:latin typeface="+mj-lt"/>
              </a:rPr>
              <a:t>: XAMPP, PHP, MySQL, HTML, CSS, JS</a:t>
            </a:r>
          </a:p>
          <a:p>
            <a:pPr marL="708025" indent="-457200">
              <a:lnSpc>
                <a:spcPct val="150000"/>
              </a:lnSpc>
              <a:buFont typeface="Arial" panose="020B0604020202020204" pitchFamily="34" charset="0"/>
              <a:buChar char="•"/>
            </a:pPr>
            <a:r>
              <a:rPr lang="en-US" sz="2800" b="1" dirty="0">
                <a:latin typeface="+mj-lt"/>
              </a:rPr>
              <a:t>Reporting</a:t>
            </a:r>
            <a:r>
              <a:rPr lang="en-US" sz="2800" dirty="0">
                <a:latin typeface="+mj-lt"/>
              </a:rPr>
              <a:t>: Excel, Power BI, Google Data Studio</a:t>
            </a:r>
          </a:p>
          <a:p>
            <a:pPr marL="708025" indent="-457200">
              <a:lnSpc>
                <a:spcPct val="150000"/>
              </a:lnSpc>
              <a:buFont typeface="Arial" panose="020B0604020202020204" pitchFamily="34" charset="0"/>
              <a:buChar char="•"/>
            </a:pPr>
            <a:r>
              <a:rPr lang="en-US" sz="2800" b="1" dirty="0">
                <a:latin typeface="+mj-lt"/>
              </a:rPr>
              <a:t>Documentation</a:t>
            </a:r>
            <a:r>
              <a:rPr lang="en-US" sz="2800" dirty="0">
                <a:latin typeface="+mj-lt"/>
              </a:rPr>
              <a:t>: MS Word, Google Docs</a:t>
            </a:r>
          </a:p>
        </p:txBody>
      </p:sp>
    </p:spTree>
    <p:extLst>
      <p:ext uri="{BB962C8B-B14F-4D97-AF65-F5344CB8AC3E}">
        <p14:creationId xmlns:p14="http://schemas.microsoft.com/office/powerpoint/2010/main" val="4263486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77F0-E960-CF92-9D6F-1F8DBAFCE05F}"/>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803D604B-D343-8B65-1CA8-25CF1CB4C924}"/>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D377E41A-D911-D448-17BF-1AEC2D023F4A}"/>
              </a:ext>
            </a:extLst>
          </p:cNvPr>
          <p:cNvSpPr txBox="1"/>
          <p:nvPr/>
        </p:nvSpPr>
        <p:spPr>
          <a:xfrm>
            <a:off x="0" y="0"/>
            <a:ext cx="11887199" cy="1200329"/>
          </a:xfrm>
          <a:prstGeom prst="rect">
            <a:avLst/>
          </a:prstGeom>
          <a:noFill/>
        </p:spPr>
        <p:txBody>
          <a:bodyPr wrap="square">
            <a:spAutoFit/>
          </a:bodyPr>
          <a:lstStyle/>
          <a:p>
            <a:r>
              <a:rPr lang="en-US" sz="3600" b="1" dirty="0"/>
              <a:t>Preparation for Group Assignment 4: Solution Prototype</a:t>
            </a:r>
          </a:p>
        </p:txBody>
      </p:sp>
      <p:sp>
        <p:nvSpPr>
          <p:cNvPr id="6" name="Rectangle 1">
            <a:extLst>
              <a:ext uri="{FF2B5EF4-FFF2-40B4-BE49-F238E27FC236}">
                <a16:creationId xmlns:a16="http://schemas.microsoft.com/office/drawing/2014/main" id="{A4AAA4BE-9F15-682E-901A-DEB357A9A5F6}"/>
              </a:ext>
            </a:extLst>
          </p:cNvPr>
          <p:cNvSpPr>
            <a:spLocks noChangeArrowheads="1"/>
          </p:cNvSpPr>
          <p:nvPr/>
        </p:nvSpPr>
        <p:spPr bwMode="auto">
          <a:xfrm>
            <a:off x="1981200" y="15779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C01B3FAA-5B60-5E9F-071E-6B0913E5FADE}"/>
              </a:ext>
            </a:extLst>
          </p:cNvPr>
          <p:cNvSpPr>
            <a:spLocks noChangeArrowheads="1"/>
          </p:cNvSpPr>
          <p:nvPr/>
        </p:nvSpPr>
        <p:spPr bwMode="auto">
          <a:xfrm>
            <a:off x="117323" y="1200329"/>
            <a:ext cx="11963400" cy="519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800" b="1" dirty="0">
                <a:latin typeface="+mj-lt"/>
              </a:rPr>
              <a:t>Academic Integrity Reminder</a:t>
            </a:r>
          </a:p>
          <a:p>
            <a:pPr>
              <a:lnSpc>
                <a:spcPct val="150000"/>
              </a:lnSpc>
              <a:buNone/>
            </a:pPr>
            <a:r>
              <a:rPr lang="en-US" sz="2800" dirty="0">
                <a:latin typeface="+mj-lt"/>
              </a:rPr>
              <a:t>Strict penalties apply for:</a:t>
            </a:r>
          </a:p>
          <a:p>
            <a:pPr marL="825500" indent="-457200">
              <a:lnSpc>
                <a:spcPct val="150000"/>
              </a:lnSpc>
              <a:buFont typeface="Arial" panose="020B0604020202020204" pitchFamily="34" charset="0"/>
              <a:buChar char="•"/>
            </a:pPr>
            <a:r>
              <a:rPr lang="en-US" sz="2800" dirty="0">
                <a:latin typeface="+mj-lt"/>
              </a:rPr>
              <a:t>Plagiarism</a:t>
            </a:r>
          </a:p>
          <a:p>
            <a:pPr marL="825500" indent="-457200">
              <a:lnSpc>
                <a:spcPct val="150000"/>
              </a:lnSpc>
              <a:buFont typeface="Arial" panose="020B0604020202020204" pitchFamily="34" charset="0"/>
              <a:buChar char="•"/>
            </a:pPr>
            <a:r>
              <a:rPr lang="en-US" sz="2800" dirty="0">
                <a:latin typeface="+mj-lt"/>
              </a:rPr>
              <a:t>Contract cheating</a:t>
            </a:r>
          </a:p>
          <a:p>
            <a:pPr marL="825500" indent="-457200">
              <a:lnSpc>
                <a:spcPct val="150000"/>
              </a:lnSpc>
              <a:buFont typeface="Arial" panose="020B0604020202020204" pitchFamily="34" charset="0"/>
              <a:buChar char="•"/>
            </a:pPr>
            <a:r>
              <a:rPr lang="en-US" sz="2800" dirty="0">
                <a:latin typeface="+mj-lt"/>
              </a:rPr>
              <a:t>Collusion</a:t>
            </a:r>
          </a:p>
          <a:p>
            <a:pPr marL="825500" indent="-457200">
              <a:lnSpc>
                <a:spcPct val="150000"/>
              </a:lnSpc>
              <a:buFont typeface="Arial" panose="020B0604020202020204" pitchFamily="34" charset="0"/>
              <a:buChar char="•"/>
            </a:pPr>
            <a:r>
              <a:rPr lang="en-US" sz="2800" dirty="0">
                <a:latin typeface="+mj-lt"/>
              </a:rPr>
              <a:t>Submission impersonation</a:t>
            </a:r>
          </a:p>
          <a:p>
            <a:pPr>
              <a:lnSpc>
                <a:spcPct val="150000"/>
              </a:lnSpc>
            </a:pPr>
            <a:r>
              <a:rPr lang="en-US" sz="2800" dirty="0">
                <a:latin typeface="+mj-lt"/>
              </a:rPr>
              <a:t>Always produce original work and credit all sources using </a:t>
            </a:r>
            <a:r>
              <a:rPr lang="en-US" sz="2800" b="1" dirty="0">
                <a:latin typeface="+mj-lt"/>
              </a:rPr>
              <a:t>Holmes Adapted Harvard Referencing</a:t>
            </a:r>
            <a:r>
              <a:rPr lang="en-US" sz="2800" dirty="0">
                <a:latin typeface="+mj-lt"/>
              </a:rPr>
              <a:t>.</a:t>
            </a:r>
          </a:p>
        </p:txBody>
      </p:sp>
    </p:spTree>
    <p:extLst>
      <p:ext uri="{BB962C8B-B14F-4D97-AF65-F5344CB8AC3E}">
        <p14:creationId xmlns:p14="http://schemas.microsoft.com/office/powerpoint/2010/main" val="3233205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8E0D2-9286-EC6A-FC28-A59187C968B7}"/>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53D8119B-B033-4742-7B01-FE383058F9D1}"/>
              </a:ext>
            </a:extLst>
          </p:cNvPr>
          <p:cNvSpPr>
            <a:spLocks noGrp="1"/>
          </p:cNvSpPr>
          <p:nvPr>
            <p:ph type="ctrTitle"/>
          </p:nvPr>
        </p:nvSpPr>
        <p:spPr>
          <a:xfrm>
            <a:off x="8626" y="12941"/>
            <a:ext cx="12192000" cy="10538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Group Progress Presentation – Overview of Progress at least 2 min</a:t>
            </a:r>
            <a:endParaRPr lang="en-US" sz="3600" dirty="0">
              <a:highlight>
                <a:srgbClr val="FFFF00"/>
              </a:highlight>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94872E6-ECC6-7615-EF56-326EA87CDB1D}"/>
              </a:ext>
            </a:extLst>
          </p:cNvPr>
          <p:cNvPicPr>
            <a:picLocks noChangeAspect="1"/>
          </p:cNvPicPr>
          <p:nvPr/>
        </p:nvPicPr>
        <p:blipFill>
          <a:blip r:embed="rId2"/>
          <a:srcRect t="14199" b="23637"/>
          <a:stretch/>
        </p:blipFill>
        <p:spPr>
          <a:xfrm>
            <a:off x="8626" y="1371600"/>
            <a:ext cx="12192000" cy="4263242"/>
          </a:xfrm>
          <a:prstGeom prst="rect">
            <a:avLst/>
          </a:prstGeom>
        </p:spPr>
      </p:pic>
    </p:spTree>
    <p:extLst>
      <p:ext uri="{BB962C8B-B14F-4D97-AF65-F5344CB8AC3E}">
        <p14:creationId xmlns:p14="http://schemas.microsoft.com/office/powerpoint/2010/main" val="6248778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3FDA4-F517-E77D-EB49-2934AAEB6345}"/>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D3044E11-6E19-E06B-FA73-B9C6FFE17B31}"/>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8107B59-23AC-C30D-A135-12D649F18985}"/>
              </a:ext>
            </a:extLst>
          </p:cNvPr>
          <p:cNvSpPr txBox="1"/>
          <p:nvPr/>
        </p:nvSpPr>
        <p:spPr>
          <a:xfrm>
            <a:off x="8626" y="914400"/>
            <a:ext cx="12174748" cy="8753358"/>
          </a:xfrm>
          <a:prstGeom prst="rect">
            <a:avLst/>
          </a:prstGeom>
          <a:noFill/>
        </p:spPr>
        <p:txBody>
          <a:bodyPr wrap="square">
            <a:spAutoFit/>
          </a:bodyPr>
          <a:lstStyle/>
          <a:p>
            <a:pPr>
              <a:lnSpc>
                <a:spcPct val="150000"/>
              </a:lnSpc>
              <a:buNone/>
            </a:pPr>
            <a:r>
              <a:rPr lang="en-US" sz="2700" b="1" dirty="0">
                <a:latin typeface="+mj-lt"/>
              </a:rPr>
              <a:t>Q1. Do students need to develop a prototype (website, mobile app, or software)?</a:t>
            </a:r>
          </a:p>
          <a:p>
            <a:pPr>
              <a:lnSpc>
                <a:spcPct val="150000"/>
              </a:lnSpc>
              <a:buNone/>
            </a:pPr>
            <a:r>
              <a:rPr lang="en-US" sz="2700" b="1" dirty="0">
                <a:latin typeface="+mj-lt"/>
              </a:rPr>
              <a:t>Yes — students are required to develop a functional prototype</a:t>
            </a:r>
            <a:r>
              <a:rPr lang="en-US" sz="2700" dirty="0">
                <a:latin typeface="+mj-lt"/>
              </a:rPr>
              <a:t> of a system, such as:</a:t>
            </a:r>
          </a:p>
          <a:p>
            <a:pPr marL="457200" indent="-457200">
              <a:lnSpc>
                <a:spcPct val="150000"/>
              </a:lnSpc>
              <a:buFont typeface="Arial" panose="020B0604020202020204" pitchFamily="34" charset="0"/>
              <a:buChar char="•"/>
            </a:pPr>
            <a:r>
              <a:rPr lang="en-US" sz="2700" b="1" dirty="0">
                <a:latin typeface="+mj-lt"/>
              </a:rPr>
              <a:t>A website or web app</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A mobile app</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A software application</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A database-driven system (e.g. Power BI, Tableau dashboard)</a:t>
            </a:r>
            <a:endParaRPr lang="en-US" sz="2700" dirty="0">
              <a:latin typeface="+mj-lt"/>
            </a:endParaRPr>
          </a:p>
          <a:p>
            <a:pPr>
              <a:lnSpc>
                <a:spcPct val="150000"/>
              </a:lnSpc>
              <a:buNone/>
            </a:pPr>
            <a:r>
              <a:rPr lang="en-US" sz="2700" dirty="0">
                <a:latin typeface="+mj-lt"/>
              </a:rPr>
              <a:t>The prototype </a:t>
            </a:r>
            <a:r>
              <a:rPr lang="en-US" sz="2700" b="1" dirty="0">
                <a:latin typeface="+mj-lt"/>
              </a:rPr>
              <a:t>must include</a:t>
            </a:r>
            <a:r>
              <a:rPr lang="en-US" sz="2700" dirty="0">
                <a:latin typeface="+mj-lt"/>
              </a:rPr>
              <a:t>:</a:t>
            </a:r>
          </a:p>
          <a:p>
            <a:pPr marL="457200" indent="-457200">
              <a:lnSpc>
                <a:spcPct val="150000"/>
              </a:lnSpc>
              <a:buFont typeface="Arial" panose="020B0604020202020204" pitchFamily="34" charset="0"/>
              <a:buChar char="•"/>
            </a:pPr>
            <a:r>
              <a:rPr lang="en-US" sz="2700" b="1" dirty="0">
                <a:latin typeface="+mj-lt"/>
              </a:rPr>
              <a:t>Mock-up screens</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Reports generated from a database</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Documentation</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Implementation and Testing</a:t>
            </a:r>
            <a:endParaRPr lang="en-US" sz="2700" dirty="0">
              <a:latin typeface="+mj-lt"/>
            </a:endParaRPr>
          </a:p>
          <a:p>
            <a:pPr marL="457200" indent="-457200">
              <a:lnSpc>
                <a:spcPct val="150000"/>
              </a:lnSpc>
              <a:buFont typeface="Arial" panose="020B0604020202020204" pitchFamily="34" charset="0"/>
              <a:buChar char="•"/>
            </a:pPr>
            <a:r>
              <a:rPr lang="en-US" sz="2700" b="1" dirty="0">
                <a:latin typeface="+mj-lt"/>
              </a:rPr>
              <a:t>Screenshots and examples of how it works</a:t>
            </a:r>
            <a:endParaRPr lang="en-US" sz="2700" dirty="0">
              <a:latin typeface="+mj-lt"/>
            </a:endParaRPr>
          </a:p>
          <a:p>
            <a:pPr>
              <a:lnSpc>
                <a:spcPct val="150000"/>
              </a:lnSpc>
            </a:pPr>
            <a:r>
              <a:rPr lang="en-US" sz="2700" dirty="0">
                <a:latin typeface="+mj-lt"/>
              </a:rPr>
              <a:t>This all implies a </a:t>
            </a:r>
            <a:r>
              <a:rPr lang="en-US" sz="2700" b="1" dirty="0">
                <a:latin typeface="+mj-lt"/>
              </a:rPr>
              <a:t>working system or a demonstrable partial product</a:t>
            </a:r>
            <a:r>
              <a:rPr lang="en-US" sz="2700" dirty="0">
                <a:latin typeface="+mj-lt"/>
              </a:rPr>
              <a:t> — not just research or a concept.</a:t>
            </a:r>
          </a:p>
        </p:txBody>
      </p:sp>
    </p:spTree>
    <p:extLst>
      <p:ext uri="{BB962C8B-B14F-4D97-AF65-F5344CB8AC3E}">
        <p14:creationId xmlns:p14="http://schemas.microsoft.com/office/powerpoint/2010/main" val="3462811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BB1C6-7A76-ECE6-2750-86A81950C483}"/>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171B7807-2258-AAFA-DBC4-609365DF3314}"/>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5B51251-C5B5-211A-73B1-CDCB6A7F541C}"/>
              </a:ext>
            </a:extLst>
          </p:cNvPr>
          <p:cNvSpPr txBox="1"/>
          <p:nvPr/>
        </p:nvSpPr>
        <p:spPr>
          <a:xfrm>
            <a:off x="8626" y="914400"/>
            <a:ext cx="12174748" cy="6488828"/>
          </a:xfrm>
          <a:prstGeom prst="rect">
            <a:avLst/>
          </a:prstGeom>
          <a:noFill/>
        </p:spPr>
        <p:txBody>
          <a:bodyPr wrap="square">
            <a:spAutoFit/>
          </a:bodyPr>
          <a:lstStyle/>
          <a:p>
            <a:pPr>
              <a:lnSpc>
                <a:spcPct val="150000"/>
              </a:lnSpc>
              <a:buNone/>
            </a:pPr>
            <a:r>
              <a:rPr lang="en-US" sz="2800" b="1" dirty="0">
                <a:latin typeface="+mj-lt"/>
              </a:rPr>
              <a:t>Q2. Is this purely software/mobile development or both research + development?</a:t>
            </a:r>
          </a:p>
          <a:p>
            <a:pPr>
              <a:lnSpc>
                <a:spcPct val="150000"/>
              </a:lnSpc>
              <a:buNone/>
            </a:pPr>
            <a:r>
              <a:rPr lang="en-US" sz="2800" dirty="0">
                <a:latin typeface="+mj-lt"/>
              </a:rPr>
              <a:t>It is </a:t>
            </a:r>
            <a:r>
              <a:rPr lang="en-US" sz="2800" b="1" dirty="0">
                <a:latin typeface="+mj-lt"/>
              </a:rPr>
              <a:t>primarily a development task</a:t>
            </a:r>
            <a:r>
              <a:rPr lang="en-US" sz="2800" dirty="0">
                <a:latin typeface="+mj-lt"/>
              </a:rPr>
              <a:t> with </a:t>
            </a:r>
            <a:r>
              <a:rPr lang="en-US" sz="2800" b="1" dirty="0">
                <a:latin typeface="+mj-lt"/>
              </a:rPr>
              <a:t>research embedded</a:t>
            </a:r>
            <a:r>
              <a:rPr lang="en-US" sz="2800" dirty="0">
                <a:latin typeface="+mj-lt"/>
              </a:rPr>
              <a:t> into:</a:t>
            </a:r>
          </a:p>
          <a:p>
            <a:pPr marL="811213" lvl="1" indent="-457200">
              <a:lnSpc>
                <a:spcPct val="150000"/>
              </a:lnSpc>
              <a:buFont typeface="Arial" panose="020B0604020202020204" pitchFamily="34" charset="0"/>
              <a:buChar char="•"/>
            </a:pPr>
            <a:r>
              <a:rPr lang="en-US" sz="2800" b="1" dirty="0">
                <a:latin typeface="+mj-lt"/>
              </a:rPr>
              <a:t>Analysis</a:t>
            </a:r>
            <a:endParaRPr lang="en-US" sz="2800" dirty="0">
              <a:latin typeface="+mj-lt"/>
            </a:endParaRPr>
          </a:p>
          <a:p>
            <a:pPr marL="811213" lvl="1" indent="-457200">
              <a:lnSpc>
                <a:spcPct val="150000"/>
              </a:lnSpc>
              <a:buFont typeface="Arial" panose="020B0604020202020204" pitchFamily="34" charset="0"/>
              <a:buChar char="•"/>
            </a:pPr>
            <a:r>
              <a:rPr lang="en-US" sz="2800" b="1" dirty="0">
                <a:latin typeface="+mj-lt"/>
              </a:rPr>
              <a:t>Design methodology</a:t>
            </a:r>
            <a:endParaRPr lang="en-US" sz="2800" dirty="0">
              <a:latin typeface="+mj-lt"/>
            </a:endParaRPr>
          </a:p>
          <a:p>
            <a:pPr marL="811213" lvl="1" indent="-457200">
              <a:lnSpc>
                <a:spcPct val="150000"/>
              </a:lnSpc>
              <a:buFont typeface="Arial" panose="020B0604020202020204" pitchFamily="34" charset="0"/>
              <a:buChar char="•"/>
            </a:pPr>
            <a:r>
              <a:rPr lang="en-US" sz="2800" b="1" dirty="0">
                <a:latin typeface="+mj-lt"/>
              </a:rPr>
              <a:t>Database structure</a:t>
            </a:r>
            <a:endParaRPr lang="en-US" sz="2800" dirty="0">
              <a:latin typeface="+mj-lt"/>
            </a:endParaRPr>
          </a:p>
          <a:p>
            <a:pPr marL="811213" lvl="1" indent="-457200">
              <a:lnSpc>
                <a:spcPct val="150000"/>
              </a:lnSpc>
              <a:buFont typeface="Arial" panose="020B0604020202020204" pitchFamily="34" charset="0"/>
              <a:buChar char="•"/>
            </a:pPr>
            <a:r>
              <a:rPr lang="en-US" sz="2800" b="1" dirty="0">
                <a:latin typeface="+mj-lt"/>
              </a:rPr>
              <a:t>User needs</a:t>
            </a:r>
            <a:endParaRPr lang="en-US" sz="2800" dirty="0">
              <a:latin typeface="+mj-lt"/>
            </a:endParaRPr>
          </a:p>
          <a:p>
            <a:pPr marL="811213" lvl="1" indent="-457200">
              <a:lnSpc>
                <a:spcPct val="150000"/>
              </a:lnSpc>
              <a:buFont typeface="Arial" panose="020B0604020202020204" pitchFamily="34" charset="0"/>
              <a:buChar char="•"/>
            </a:pPr>
            <a:r>
              <a:rPr lang="en-US" sz="2800" b="1" dirty="0">
                <a:latin typeface="+mj-lt"/>
              </a:rPr>
              <a:t>Testing and evaluation</a:t>
            </a:r>
            <a:endParaRPr lang="en-US" sz="2800" dirty="0">
              <a:latin typeface="+mj-lt"/>
            </a:endParaRPr>
          </a:p>
          <a:p>
            <a:pPr>
              <a:lnSpc>
                <a:spcPct val="150000"/>
              </a:lnSpc>
            </a:pPr>
            <a:r>
              <a:rPr lang="en-US" sz="2800" dirty="0">
                <a:latin typeface="+mj-lt"/>
              </a:rPr>
              <a:t>So while some research is expected, </a:t>
            </a:r>
            <a:r>
              <a:rPr lang="en-US" sz="2800" b="1" dirty="0">
                <a:latin typeface="+mj-lt"/>
              </a:rPr>
              <a:t>the main deliverable is a working prototype</a:t>
            </a:r>
            <a:r>
              <a:rPr lang="en-US" sz="2800" dirty="0">
                <a:latin typeface="+mj-lt"/>
              </a:rPr>
              <a:t>, not a purely research paper.</a:t>
            </a:r>
          </a:p>
        </p:txBody>
      </p:sp>
    </p:spTree>
    <p:extLst>
      <p:ext uri="{BB962C8B-B14F-4D97-AF65-F5344CB8AC3E}">
        <p14:creationId xmlns:p14="http://schemas.microsoft.com/office/powerpoint/2010/main" val="35307178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88B78-B250-D3BC-5494-AEFB3BCCDEF8}"/>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953CC61B-6B2A-7ACF-EF48-0A36E2832187}"/>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6053A82-A072-6A53-3E6E-A1F56665790F}"/>
              </a:ext>
            </a:extLst>
          </p:cNvPr>
          <p:cNvSpPr txBox="1"/>
          <p:nvPr/>
        </p:nvSpPr>
        <p:spPr>
          <a:xfrm>
            <a:off x="8626" y="914400"/>
            <a:ext cx="12174748" cy="7135158"/>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Q3. What kind of prototype is acceptable?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mj-lt"/>
              </a:rPr>
              <a:t>The instructions are flexible about the form of the prototype. Examples include:</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 </a:t>
            </a:r>
            <a:r>
              <a:rPr kumimoji="0" lang="en-US" altLang="en-US" sz="2800" b="1" i="0" u="none" strike="noStrike" cap="none" normalizeH="0" baseline="0" dirty="0">
                <a:ln>
                  <a:noFill/>
                </a:ln>
                <a:solidFill>
                  <a:schemeClr val="tx1"/>
                </a:solidFill>
                <a:effectLst/>
                <a:latin typeface="+mj-lt"/>
              </a:rPr>
              <a:t>website</a:t>
            </a:r>
            <a:r>
              <a:rPr kumimoji="0" lang="en-US" altLang="en-US" sz="2800" b="0" i="0" u="none" strike="noStrike" cap="none" normalizeH="0" baseline="0" dirty="0">
                <a:ln>
                  <a:noFill/>
                </a:ln>
                <a:solidFill>
                  <a:schemeClr val="tx1"/>
                </a:solidFill>
                <a:effectLst/>
                <a:latin typeface="+mj-lt"/>
              </a:rPr>
              <a:t> (HTML/CSS/JS or a low-code tool)</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 </a:t>
            </a:r>
            <a:r>
              <a:rPr kumimoji="0" lang="en-US" altLang="en-US" sz="2800" b="1" i="0" u="none" strike="noStrike" cap="none" normalizeH="0" baseline="0" dirty="0">
                <a:ln>
                  <a:noFill/>
                </a:ln>
                <a:solidFill>
                  <a:schemeClr val="tx1"/>
                </a:solidFill>
                <a:effectLst/>
                <a:latin typeface="+mj-lt"/>
              </a:rPr>
              <a:t>mobile app</a:t>
            </a:r>
            <a:r>
              <a:rPr kumimoji="0" lang="en-US" altLang="en-US" sz="2800" b="0" i="0" u="none" strike="noStrike" cap="none" normalizeH="0" baseline="0" dirty="0">
                <a:ln>
                  <a:noFill/>
                </a:ln>
                <a:solidFill>
                  <a:schemeClr val="tx1"/>
                </a:solidFill>
                <a:effectLst/>
                <a:latin typeface="+mj-lt"/>
              </a:rPr>
              <a:t> (even using a prototype tool like Figma, Flutter, or </a:t>
            </a:r>
            <a:r>
              <a:rPr kumimoji="0" lang="en-US" altLang="en-US" sz="2800" b="0" i="0" u="none" strike="noStrike" cap="none" normalizeH="0" baseline="0" dirty="0" err="1">
                <a:ln>
                  <a:noFill/>
                </a:ln>
                <a:solidFill>
                  <a:schemeClr val="tx1"/>
                </a:solidFill>
                <a:effectLst/>
                <a:latin typeface="+mj-lt"/>
              </a:rPr>
              <a:t>Thunkable</a:t>
            </a:r>
            <a:r>
              <a:rPr kumimoji="0" lang="en-US" altLang="en-US" sz="2800" b="0" i="0" u="none" strike="noStrike" cap="none" normalizeH="0" baseline="0" dirty="0">
                <a:ln>
                  <a:noFill/>
                </a:ln>
                <a:solidFill>
                  <a:schemeClr val="tx1"/>
                </a:solidFill>
                <a:effectLst/>
                <a:latin typeface="+mj-lt"/>
              </a:rPr>
              <a: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 </a:t>
            </a:r>
            <a:r>
              <a:rPr kumimoji="0" lang="en-US" altLang="en-US" sz="2800" b="1" i="0" u="none" strike="noStrike" cap="none" normalizeH="0" baseline="0" dirty="0">
                <a:ln>
                  <a:noFill/>
                </a:ln>
                <a:solidFill>
                  <a:schemeClr val="tx1"/>
                </a:solidFill>
                <a:effectLst/>
                <a:latin typeface="+mj-lt"/>
              </a:rPr>
              <a:t>desktop or cloud-based system</a:t>
            </a:r>
            <a:r>
              <a:rPr kumimoji="0" lang="en-US" altLang="en-US" sz="2800" b="0" i="0" u="none" strike="noStrike" cap="none" normalizeH="0" baseline="0" dirty="0">
                <a:ln>
                  <a:noFill/>
                </a:ln>
                <a:solidFill>
                  <a:schemeClr val="tx1"/>
                </a:solidFill>
                <a:effectLst/>
                <a:latin typeface="+mj-lt"/>
              </a:rPr>
              <a:t> using tools like Power BI, MS Access, or Python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b="0" i="0" u="none" strike="noStrike" cap="none" normalizeH="0" baseline="0" dirty="0">
                <a:ln>
                  <a:noFill/>
                </a:ln>
                <a:solidFill>
                  <a:schemeClr val="tx1"/>
                </a:solidFill>
                <a:effectLst/>
                <a:latin typeface="+mj-lt"/>
              </a:rPr>
              <a:t>A </a:t>
            </a:r>
            <a:r>
              <a:rPr kumimoji="0" lang="en-US" altLang="en-US" sz="2800" b="1" i="0" u="none" strike="noStrike" cap="none" normalizeH="0" baseline="0" dirty="0">
                <a:ln>
                  <a:noFill/>
                </a:ln>
                <a:solidFill>
                  <a:schemeClr val="tx1"/>
                </a:solidFill>
                <a:effectLst/>
                <a:latin typeface="+mj-lt"/>
              </a:rPr>
              <a:t>mock-up or wireframe prototype</a:t>
            </a:r>
            <a:r>
              <a:rPr kumimoji="0" lang="en-US" altLang="en-US" sz="2800" b="0" i="0" u="none" strike="noStrike" cap="none" normalizeH="0" baseline="0" dirty="0">
                <a:ln>
                  <a:noFill/>
                </a:ln>
                <a:solidFill>
                  <a:schemeClr val="tx1"/>
                </a:solidFill>
                <a:effectLst/>
                <a:latin typeface="+mj-lt"/>
              </a:rPr>
              <a:t> (if it's high-fidelity with detailed functionality explained)</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Note</a:t>
            </a:r>
            <a:r>
              <a:rPr kumimoji="0" lang="en-US" altLang="en-US" sz="2800" b="0" i="0" u="none" strike="noStrike" cap="none" normalizeH="0" baseline="0" dirty="0">
                <a:ln>
                  <a:noFill/>
                </a:ln>
                <a:solidFill>
                  <a:schemeClr val="tx1"/>
                </a:solidFill>
                <a:effectLst/>
                <a:latin typeface="+mj-lt"/>
              </a:rPr>
              <a:t>: If your team is short on time or development skills, a mock-up with screenshots and a clearly designed system flow might be accepted — but it should be detailed enough to show </a:t>
            </a:r>
            <a:r>
              <a:rPr kumimoji="0" lang="en-US" altLang="en-US" sz="2800" b="1" i="0" u="none" strike="noStrike" cap="none" normalizeH="0" baseline="0" dirty="0">
                <a:ln>
                  <a:noFill/>
                </a:ln>
                <a:solidFill>
                  <a:schemeClr val="tx1"/>
                </a:solidFill>
                <a:effectLst/>
                <a:latin typeface="+mj-lt"/>
              </a:rPr>
              <a:t>realistic functionality</a:t>
            </a:r>
            <a:r>
              <a:rPr kumimoji="0" lang="en-US" altLang="en-US" sz="2800" b="0" i="0" u="none" strike="noStrike" cap="none" normalizeH="0" baseline="0" dirty="0">
                <a:ln>
                  <a:noFill/>
                </a:ln>
                <a:solidFill>
                  <a:schemeClr val="tx1"/>
                </a:solidFill>
                <a:effectLst/>
                <a:latin typeface="+mj-lt"/>
              </a:rPr>
              <a:t>.</a:t>
            </a:r>
          </a:p>
        </p:txBody>
      </p:sp>
    </p:spTree>
    <p:extLst>
      <p:ext uri="{BB962C8B-B14F-4D97-AF65-F5344CB8AC3E}">
        <p14:creationId xmlns:p14="http://schemas.microsoft.com/office/powerpoint/2010/main" val="3010019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915D-9F85-435A-6BDF-1BCB5E3259F1}"/>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0F54A366-DD71-51D4-CAD7-FE2D1513E49F}"/>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D993D9DF-53E4-91BC-6A38-ED6FB3CE9C0C}"/>
              </a:ext>
            </a:extLst>
          </p:cNvPr>
          <p:cNvSpPr txBox="1"/>
          <p:nvPr/>
        </p:nvSpPr>
        <p:spPr>
          <a:xfrm>
            <a:off x="8626" y="914400"/>
            <a:ext cx="12174748" cy="3257174"/>
          </a:xfrm>
          <a:prstGeom prst="rect">
            <a:avLst/>
          </a:prstGeom>
          <a:noFill/>
        </p:spPr>
        <p:txBody>
          <a:bodyPr wrap="square">
            <a:spAutoFit/>
          </a:bodyPr>
          <a:lstStyle/>
          <a:p>
            <a:pPr>
              <a:lnSpc>
                <a:spcPct val="150000"/>
              </a:lnSpc>
              <a:buNone/>
            </a:pPr>
            <a:r>
              <a:rPr lang="en-US" sz="2800" b="1" dirty="0">
                <a:latin typeface="+mj-lt"/>
              </a:rPr>
              <a:t>Final Clarification</a:t>
            </a:r>
          </a:p>
          <a:p>
            <a:pPr>
              <a:lnSpc>
                <a:spcPct val="150000"/>
              </a:lnSpc>
            </a:pPr>
            <a:r>
              <a:rPr lang="en-US" sz="2800" dirty="0">
                <a:latin typeface="+mj-lt"/>
              </a:rPr>
              <a:t>There is </a:t>
            </a:r>
            <a:r>
              <a:rPr lang="en-US" sz="2800" b="1" dirty="0">
                <a:latin typeface="+mj-lt"/>
              </a:rPr>
              <a:t>no mention</a:t>
            </a:r>
            <a:r>
              <a:rPr lang="en-US" sz="2800" dirty="0">
                <a:latin typeface="+mj-lt"/>
              </a:rPr>
              <a:t> that you must </a:t>
            </a:r>
            <a:r>
              <a:rPr lang="en-US" sz="2800" b="1" dirty="0">
                <a:latin typeface="+mj-lt"/>
              </a:rPr>
              <a:t>choose between research or development</a:t>
            </a:r>
            <a:r>
              <a:rPr lang="en-US" sz="2800" dirty="0">
                <a:latin typeface="+mj-lt"/>
              </a:rPr>
              <a:t>. Instead, you’re expected to apply research methods </a:t>
            </a:r>
            <a:r>
              <a:rPr lang="en-US" sz="2800" b="1" dirty="0">
                <a:latin typeface="+mj-lt"/>
              </a:rPr>
              <a:t>as part of the development</a:t>
            </a:r>
            <a:r>
              <a:rPr lang="en-US" sz="2800" dirty="0">
                <a:latin typeface="+mj-lt"/>
              </a:rPr>
              <a:t> of a working </a:t>
            </a:r>
            <a:r>
              <a:rPr lang="en-US" sz="2800" b="1" dirty="0">
                <a:latin typeface="+mj-lt"/>
              </a:rPr>
              <a:t>solution prototype</a:t>
            </a:r>
            <a:r>
              <a:rPr lang="en-US" sz="2800" dirty="0">
                <a:latin typeface="+mj-lt"/>
              </a:rPr>
              <a:t> — this is a </a:t>
            </a:r>
            <a:r>
              <a:rPr lang="en-US" sz="2800" b="1" dirty="0">
                <a:latin typeface="+mj-lt"/>
              </a:rPr>
              <a:t>design and implementation-heavy</a:t>
            </a:r>
            <a:r>
              <a:rPr lang="en-US" sz="2800" dirty="0">
                <a:latin typeface="+mj-lt"/>
              </a:rPr>
              <a:t> assessment.</a:t>
            </a:r>
          </a:p>
        </p:txBody>
      </p:sp>
    </p:spTree>
    <p:extLst>
      <p:ext uri="{BB962C8B-B14F-4D97-AF65-F5344CB8AC3E}">
        <p14:creationId xmlns:p14="http://schemas.microsoft.com/office/powerpoint/2010/main" val="1373701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645E5-9F6D-4E2F-5E8B-02E19B85A55B}"/>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426C422B-C9F6-BC74-B653-D5C56933F2D2}"/>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2964A16-6759-AF71-D30F-89FAD61EBDA5}"/>
              </a:ext>
            </a:extLst>
          </p:cNvPr>
          <p:cNvSpPr txBox="1"/>
          <p:nvPr/>
        </p:nvSpPr>
        <p:spPr>
          <a:xfrm>
            <a:off x="8626" y="914400"/>
            <a:ext cx="12174748" cy="2608086"/>
          </a:xfrm>
          <a:prstGeom prst="rect">
            <a:avLst/>
          </a:prstGeom>
          <a:noFill/>
        </p:spPr>
        <p:txBody>
          <a:bodyPr wrap="square">
            <a:spAutoFit/>
          </a:bodyPr>
          <a:lstStyle/>
          <a:p>
            <a:pPr>
              <a:lnSpc>
                <a:spcPct val="150000"/>
              </a:lnSpc>
              <a:buNone/>
            </a:pPr>
            <a:r>
              <a:rPr lang="en-US" sz="2800" b="1" dirty="0">
                <a:latin typeface="+mj-lt"/>
              </a:rPr>
              <a:t>Beginner Friendly tools</a:t>
            </a:r>
          </a:p>
          <a:p>
            <a:pPr>
              <a:lnSpc>
                <a:spcPct val="150000"/>
              </a:lnSpc>
            </a:pPr>
            <a:r>
              <a:rPr lang="en-US" sz="2800" dirty="0">
                <a:latin typeface="+mj-lt"/>
              </a:rPr>
              <a:t>You can use these tools to develop your </a:t>
            </a:r>
            <a:r>
              <a:rPr lang="en-US" sz="2800" b="1" dirty="0">
                <a:latin typeface="+mj-lt"/>
              </a:rPr>
              <a:t>solution prototype</a:t>
            </a:r>
            <a:r>
              <a:rPr lang="en-US" sz="2800" dirty="0">
                <a:latin typeface="+mj-lt"/>
              </a:rPr>
              <a:t> — whether it's a website, mobile app, or a system interface. These tools </a:t>
            </a:r>
            <a:r>
              <a:rPr lang="en-US" sz="2800" b="1" dirty="0">
                <a:latin typeface="+mj-lt"/>
              </a:rPr>
              <a:t>require little to no coding</a:t>
            </a:r>
            <a:r>
              <a:rPr lang="en-US" sz="2800" dirty="0">
                <a:latin typeface="+mj-lt"/>
              </a:rPr>
              <a:t> and are ideal for students working under time constraints.</a:t>
            </a:r>
          </a:p>
        </p:txBody>
      </p:sp>
    </p:spTree>
    <p:extLst>
      <p:ext uri="{BB962C8B-B14F-4D97-AF65-F5344CB8AC3E}">
        <p14:creationId xmlns:p14="http://schemas.microsoft.com/office/powerpoint/2010/main" val="2399436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7B287-DDD7-2477-31AA-2139F1BD2D0D}"/>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69DF591E-254E-5A34-3F41-AA1902040C8E}"/>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390D004A-B05A-E213-A7C2-6B570020D75D}"/>
              </a:ext>
            </a:extLst>
          </p:cNvPr>
          <p:cNvSpPr txBox="1"/>
          <p:nvPr/>
        </p:nvSpPr>
        <p:spPr>
          <a:xfrm>
            <a:off x="8626" y="914400"/>
            <a:ext cx="12174748" cy="4549835"/>
          </a:xfrm>
          <a:prstGeom prst="rect">
            <a:avLst/>
          </a:prstGeom>
          <a:noFill/>
        </p:spPr>
        <p:txBody>
          <a:bodyPr wrap="square">
            <a:spAutoFit/>
          </a:bodyPr>
          <a:lstStyle/>
          <a:p>
            <a:pPr>
              <a:lnSpc>
                <a:spcPct val="150000"/>
              </a:lnSpc>
              <a:buNone/>
            </a:pPr>
            <a:r>
              <a:rPr lang="en-US" sz="2800" b="1" dirty="0">
                <a:latin typeface="+mj-lt"/>
              </a:rPr>
              <a:t>1. For a Website/Web App</a:t>
            </a:r>
          </a:p>
          <a:p>
            <a:pPr marL="457200" indent="-457200">
              <a:lnSpc>
                <a:spcPct val="150000"/>
              </a:lnSpc>
              <a:buFont typeface="Wingdings" panose="05000000000000000000" pitchFamily="2" charset="2"/>
              <a:buChar char="ü"/>
            </a:pPr>
            <a:r>
              <a:rPr lang="en-US" sz="2800" b="1" dirty="0">
                <a:latin typeface="+mj-lt"/>
              </a:rPr>
              <a:t>Google Sites </a:t>
            </a:r>
            <a:r>
              <a:rPr lang="en-US" sz="2800" b="1" i="1" dirty="0">
                <a:latin typeface="+mj-lt"/>
              </a:rPr>
              <a:t>(No coding)</a:t>
            </a:r>
            <a:endParaRPr lang="en-US" sz="2800" b="1" dirty="0">
              <a:latin typeface="+mj-lt"/>
            </a:endParaRPr>
          </a:p>
          <a:p>
            <a:pPr marL="758825" lvl="1" indent="-457200">
              <a:lnSpc>
                <a:spcPct val="150000"/>
              </a:lnSpc>
              <a:buFont typeface="Arial" panose="020B0604020202020204" pitchFamily="34" charset="0"/>
              <a:buChar char="•"/>
            </a:pPr>
            <a:r>
              <a:rPr lang="en-US" sz="2800" b="1" dirty="0">
                <a:latin typeface="+mj-lt"/>
              </a:rPr>
              <a:t>Best for</a:t>
            </a:r>
            <a:r>
              <a:rPr lang="en-US" sz="2800" dirty="0">
                <a:latin typeface="+mj-lt"/>
              </a:rPr>
              <a:t>: Simple system mockups, dashboards, portals</a:t>
            </a:r>
          </a:p>
          <a:p>
            <a:pPr marL="758825" lvl="1" indent="-457200">
              <a:lnSpc>
                <a:spcPct val="150000"/>
              </a:lnSpc>
              <a:buFont typeface="Arial" panose="020B0604020202020204" pitchFamily="34" charset="0"/>
              <a:buChar char="•"/>
            </a:pPr>
            <a:r>
              <a:rPr lang="en-US" sz="2800" b="1" dirty="0">
                <a:latin typeface="+mj-lt"/>
              </a:rPr>
              <a:t>Features</a:t>
            </a:r>
            <a:r>
              <a:rPr lang="en-US" sz="2800" dirty="0">
                <a:latin typeface="+mj-lt"/>
              </a:rPr>
              <a:t>: Drag-and-drop, embed Google Forms, Docs, Sheets</a:t>
            </a:r>
          </a:p>
          <a:p>
            <a:pPr marL="758825" lvl="1" indent="-457200">
              <a:lnSpc>
                <a:spcPct val="150000"/>
              </a:lnSpc>
              <a:buFont typeface="Arial" panose="020B0604020202020204" pitchFamily="34" charset="0"/>
              <a:buChar char="•"/>
            </a:pPr>
            <a:r>
              <a:rPr lang="en-US" sz="2800" b="1" dirty="0">
                <a:latin typeface="+mj-lt"/>
              </a:rPr>
              <a:t>Link</a:t>
            </a:r>
            <a:r>
              <a:rPr lang="en-US" sz="2800" dirty="0">
                <a:latin typeface="+mj-lt"/>
              </a:rPr>
              <a:t>: </a:t>
            </a:r>
            <a:r>
              <a:rPr lang="en-US" sz="2800" dirty="0">
                <a:latin typeface="+mj-lt"/>
                <a:hlinkClick r:id="rId2"/>
              </a:rPr>
              <a:t>https://sites.google.com</a:t>
            </a:r>
            <a:endParaRPr lang="en-US" sz="2800" dirty="0">
              <a:latin typeface="+mj-lt"/>
            </a:endParaRPr>
          </a:p>
          <a:p>
            <a:pPr marL="758825" lvl="1" indent="-457200">
              <a:lnSpc>
                <a:spcPct val="150000"/>
              </a:lnSpc>
              <a:buFont typeface="Arial" panose="020B0604020202020204" pitchFamily="34" charset="0"/>
              <a:buChar char="•"/>
            </a:pPr>
            <a:r>
              <a:rPr lang="en-US" sz="2800" b="1" dirty="0">
                <a:latin typeface="+mj-lt"/>
              </a:rPr>
              <a:t>Ideal if</a:t>
            </a:r>
            <a:r>
              <a:rPr lang="en-US" sz="2800" dirty="0">
                <a:latin typeface="+mj-lt"/>
              </a:rPr>
              <a:t>: You want to build a simple interface + embed sample reports (e.g., PDFs, charts)</a:t>
            </a:r>
          </a:p>
        </p:txBody>
      </p:sp>
    </p:spTree>
    <p:extLst>
      <p:ext uri="{BB962C8B-B14F-4D97-AF65-F5344CB8AC3E}">
        <p14:creationId xmlns:p14="http://schemas.microsoft.com/office/powerpoint/2010/main" val="97716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AD1F-4F81-7435-5AA8-CEEBFC0FCEE2}"/>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39B25C99-A8FF-8F99-6C97-A0A4D1EA77E3}"/>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6A38348-339F-E2AC-2BC2-B5676C53A709}"/>
              </a:ext>
            </a:extLst>
          </p:cNvPr>
          <p:cNvSpPr txBox="1"/>
          <p:nvPr/>
        </p:nvSpPr>
        <p:spPr>
          <a:xfrm>
            <a:off x="8626" y="914400"/>
            <a:ext cx="12174748" cy="2610843"/>
          </a:xfrm>
          <a:prstGeom prst="rect">
            <a:avLst/>
          </a:prstGeom>
          <a:noFill/>
        </p:spPr>
        <p:txBody>
          <a:bodyPr wrap="square">
            <a:spAutoFit/>
          </a:bodyPr>
          <a:lstStyle/>
          <a:p>
            <a:pPr marL="457200" indent="-457200">
              <a:lnSpc>
                <a:spcPct val="150000"/>
              </a:lnSpc>
              <a:buFont typeface="Wingdings" panose="05000000000000000000" pitchFamily="2" charset="2"/>
              <a:buChar char="ü"/>
            </a:pPr>
            <a:r>
              <a:rPr lang="en-US" sz="2800" b="1" dirty="0">
                <a:latin typeface="+mj-lt"/>
              </a:rPr>
              <a:t>Wix / </a:t>
            </a:r>
            <a:r>
              <a:rPr lang="en-US" sz="2800" b="1" dirty="0" err="1">
                <a:latin typeface="+mj-lt"/>
              </a:rPr>
              <a:t>Webflow</a:t>
            </a:r>
            <a:r>
              <a:rPr lang="en-US" sz="2800" b="1" dirty="0">
                <a:latin typeface="+mj-lt"/>
              </a:rPr>
              <a:t> / </a:t>
            </a:r>
            <a:r>
              <a:rPr lang="en-US" sz="2800" b="1" dirty="0" err="1">
                <a:latin typeface="+mj-lt"/>
              </a:rPr>
              <a:t>Carrd</a:t>
            </a:r>
            <a:endParaRPr lang="en-US" sz="2800" b="1" dirty="0">
              <a:latin typeface="+mj-lt"/>
            </a:endParaRPr>
          </a:p>
          <a:p>
            <a:pPr marL="811213" lvl="2" indent="-457200">
              <a:lnSpc>
                <a:spcPct val="150000"/>
              </a:lnSpc>
              <a:buFont typeface="Arial" panose="020B0604020202020204" pitchFamily="34" charset="0"/>
              <a:buChar char="•"/>
            </a:pPr>
            <a:r>
              <a:rPr lang="en-US" sz="2800" b="1" dirty="0">
                <a:latin typeface="+mj-lt"/>
              </a:rPr>
              <a:t>Best for</a:t>
            </a:r>
            <a:r>
              <a:rPr lang="en-US" sz="2800" dirty="0">
                <a:latin typeface="+mj-lt"/>
              </a:rPr>
              <a:t>: Highly visual web apps or landing pages</a:t>
            </a:r>
          </a:p>
          <a:p>
            <a:pPr marL="811213" lvl="2" indent="-457200">
              <a:lnSpc>
                <a:spcPct val="150000"/>
              </a:lnSpc>
              <a:buFont typeface="Arial" panose="020B0604020202020204" pitchFamily="34" charset="0"/>
              <a:buChar char="•"/>
            </a:pPr>
            <a:r>
              <a:rPr lang="en-US" sz="2800" b="1" dirty="0">
                <a:latin typeface="+mj-lt"/>
              </a:rPr>
              <a:t>Drag-and-drop</a:t>
            </a:r>
            <a:r>
              <a:rPr lang="en-US" sz="2800" dirty="0">
                <a:latin typeface="+mj-lt"/>
              </a:rPr>
              <a:t> editors with professional templates</a:t>
            </a:r>
          </a:p>
          <a:p>
            <a:pPr marL="811213" lvl="2" indent="-457200">
              <a:lnSpc>
                <a:spcPct val="150000"/>
              </a:lnSpc>
              <a:buFont typeface="Arial" panose="020B0604020202020204" pitchFamily="34" charset="0"/>
              <a:buChar char="•"/>
            </a:pPr>
            <a:r>
              <a:rPr lang="en-US" sz="2800" b="1" dirty="0">
                <a:latin typeface="+mj-lt"/>
              </a:rPr>
              <a:t>Link</a:t>
            </a:r>
            <a:r>
              <a:rPr lang="en-US" sz="2800" dirty="0">
                <a:latin typeface="+mj-lt"/>
              </a:rPr>
              <a:t>: </a:t>
            </a:r>
            <a:r>
              <a:rPr lang="en-US" sz="2800" dirty="0">
                <a:latin typeface="+mj-lt"/>
                <a:hlinkClick r:id="rId2"/>
              </a:rPr>
              <a:t>https://www.wix.com</a:t>
            </a:r>
            <a:r>
              <a:rPr lang="en-US" sz="2800" dirty="0">
                <a:latin typeface="+mj-lt"/>
              </a:rPr>
              <a:t>, </a:t>
            </a:r>
            <a:r>
              <a:rPr lang="en-US" sz="2800" dirty="0">
                <a:latin typeface="+mj-lt"/>
                <a:hlinkClick r:id="rId3"/>
              </a:rPr>
              <a:t>https://webflow.com</a:t>
            </a:r>
            <a:r>
              <a:rPr lang="en-US" sz="2800" dirty="0">
                <a:latin typeface="+mj-lt"/>
              </a:rPr>
              <a:t>, </a:t>
            </a:r>
            <a:r>
              <a:rPr lang="en-US" sz="2800" dirty="0">
                <a:latin typeface="+mj-lt"/>
                <a:hlinkClick r:id="rId4"/>
              </a:rPr>
              <a:t>https://carrd.co</a:t>
            </a:r>
            <a:endParaRPr lang="en-US" sz="2800" dirty="0">
              <a:latin typeface="+mj-lt"/>
            </a:endParaRPr>
          </a:p>
        </p:txBody>
      </p:sp>
    </p:spTree>
    <p:extLst>
      <p:ext uri="{BB962C8B-B14F-4D97-AF65-F5344CB8AC3E}">
        <p14:creationId xmlns:p14="http://schemas.microsoft.com/office/powerpoint/2010/main" val="670989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0E794-5D34-A863-B4E7-A1A333FD8F35}"/>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F4FEC1CF-B3C1-9E1F-03CD-855A00E389B5}"/>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57EE3B6-B408-43E8-D78A-5DBFF9BA4094}"/>
              </a:ext>
            </a:extLst>
          </p:cNvPr>
          <p:cNvSpPr txBox="1"/>
          <p:nvPr/>
        </p:nvSpPr>
        <p:spPr>
          <a:xfrm>
            <a:off x="8626" y="914400"/>
            <a:ext cx="12174748" cy="3257174"/>
          </a:xfrm>
          <a:prstGeom prst="rect">
            <a:avLst/>
          </a:prstGeom>
          <a:noFill/>
        </p:spPr>
        <p:txBody>
          <a:bodyPr wrap="square">
            <a:spAutoFit/>
          </a:bodyPr>
          <a:lstStyle/>
          <a:p>
            <a:pPr>
              <a:lnSpc>
                <a:spcPct val="150000"/>
              </a:lnSpc>
              <a:buNone/>
            </a:pPr>
            <a:r>
              <a:rPr lang="en-US" sz="2800" b="1" dirty="0">
                <a:latin typeface="+mj-lt"/>
              </a:rPr>
              <a:t>2. For Mobile App Prototypes</a:t>
            </a:r>
          </a:p>
          <a:p>
            <a:pPr marL="457200" indent="-457200">
              <a:lnSpc>
                <a:spcPct val="150000"/>
              </a:lnSpc>
              <a:buFont typeface="Wingdings" panose="05000000000000000000" pitchFamily="2" charset="2"/>
              <a:buChar char="ü"/>
            </a:pPr>
            <a:r>
              <a:rPr lang="en-US" sz="2800" b="1" dirty="0">
                <a:latin typeface="+mj-lt"/>
              </a:rPr>
              <a:t>Figma + Figma Mobile App Mirror </a:t>
            </a:r>
            <a:r>
              <a:rPr lang="en-US" sz="2800" b="1" i="1" dirty="0">
                <a:latin typeface="+mj-lt"/>
              </a:rPr>
              <a:t>(Free and very popular)</a:t>
            </a:r>
            <a:endParaRPr lang="en-US" sz="2800" b="1" dirty="0">
              <a:latin typeface="+mj-lt"/>
            </a:endParaRPr>
          </a:p>
          <a:p>
            <a:pPr marL="862013" lvl="1" indent="-457200">
              <a:lnSpc>
                <a:spcPct val="150000"/>
              </a:lnSpc>
              <a:buFont typeface="Arial" panose="020B0604020202020204" pitchFamily="34" charset="0"/>
              <a:buChar char="•"/>
            </a:pPr>
            <a:r>
              <a:rPr lang="en-US" sz="2800" b="1" dirty="0">
                <a:latin typeface="+mj-lt"/>
              </a:rPr>
              <a:t>Best for</a:t>
            </a:r>
            <a:r>
              <a:rPr lang="en-US" sz="2800" dirty="0">
                <a:latin typeface="+mj-lt"/>
              </a:rPr>
              <a:t>: Clickable mock-up of a mobile app</a:t>
            </a:r>
          </a:p>
          <a:p>
            <a:pPr marL="862013" lvl="1" indent="-457200">
              <a:lnSpc>
                <a:spcPct val="150000"/>
              </a:lnSpc>
              <a:buFont typeface="Arial" panose="020B0604020202020204" pitchFamily="34" charset="0"/>
              <a:buChar char="•"/>
            </a:pPr>
            <a:r>
              <a:rPr lang="en-US" sz="2800" b="1" dirty="0">
                <a:latin typeface="+mj-lt"/>
              </a:rPr>
              <a:t>Features</a:t>
            </a:r>
            <a:r>
              <a:rPr lang="en-US" sz="2800" dirty="0">
                <a:latin typeface="+mj-lt"/>
              </a:rPr>
              <a:t>: Design screens, set user flow, present interactive demo</a:t>
            </a:r>
          </a:p>
          <a:p>
            <a:pPr marL="862013" lvl="1" indent="-457200">
              <a:lnSpc>
                <a:spcPct val="150000"/>
              </a:lnSpc>
              <a:buFont typeface="Arial" panose="020B0604020202020204" pitchFamily="34" charset="0"/>
              <a:buChar char="•"/>
            </a:pPr>
            <a:r>
              <a:rPr lang="en-US" sz="2800" b="1" dirty="0">
                <a:latin typeface="+mj-lt"/>
              </a:rPr>
              <a:t>Link</a:t>
            </a:r>
            <a:r>
              <a:rPr lang="en-US" sz="2800" dirty="0">
                <a:latin typeface="+mj-lt"/>
              </a:rPr>
              <a:t>: </a:t>
            </a:r>
            <a:r>
              <a:rPr lang="en-US" sz="2800" dirty="0">
                <a:latin typeface="+mj-lt"/>
                <a:hlinkClick r:id="rId2"/>
              </a:rPr>
              <a:t>https://www.figma.com</a:t>
            </a:r>
            <a:endParaRPr lang="en-US" sz="2800" dirty="0">
              <a:latin typeface="+mj-lt"/>
            </a:endParaRPr>
          </a:p>
        </p:txBody>
      </p:sp>
    </p:spTree>
    <p:extLst>
      <p:ext uri="{BB962C8B-B14F-4D97-AF65-F5344CB8AC3E}">
        <p14:creationId xmlns:p14="http://schemas.microsoft.com/office/powerpoint/2010/main" val="24446243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643E8-07CE-0924-E0D9-A019A71E816E}"/>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29BE146B-8CDF-1D31-4B00-06352A56CF3A}"/>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E40D33B-EDA8-99BB-5134-EC32F3B6C64C}"/>
              </a:ext>
            </a:extLst>
          </p:cNvPr>
          <p:cNvSpPr txBox="1"/>
          <p:nvPr/>
        </p:nvSpPr>
        <p:spPr>
          <a:xfrm>
            <a:off x="8626" y="914400"/>
            <a:ext cx="12174748" cy="3257174"/>
          </a:xfrm>
          <a:prstGeom prst="rect">
            <a:avLst/>
          </a:prstGeom>
          <a:noFill/>
        </p:spPr>
        <p:txBody>
          <a:bodyPr wrap="square">
            <a:spAutoFit/>
          </a:bodyPr>
          <a:lstStyle/>
          <a:p>
            <a:pPr marL="457200" indent="-457200">
              <a:lnSpc>
                <a:spcPct val="150000"/>
              </a:lnSpc>
              <a:buFont typeface="Wingdings" panose="05000000000000000000" pitchFamily="2" charset="2"/>
              <a:buChar char="ü"/>
            </a:pPr>
            <a:r>
              <a:rPr lang="en-US" sz="2800" b="1" dirty="0" err="1">
                <a:latin typeface="+mj-lt"/>
              </a:rPr>
              <a:t>Thunkable</a:t>
            </a:r>
            <a:r>
              <a:rPr lang="en-US" sz="2800" b="1" dirty="0">
                <a:latin typeface="+mj-lt"/>
              </a:rPr>
              <a:t> </a:t>
            </a:r>
            <a:r>
              <a:rPr lang="en-US" sz="2800" b="1" i="1" dirty="0">
                <a:latin typeface="+mj-lt"/>
              </a:rPr>
              <a:t>(No code mobile app builder)</a:t>
            </a:r>
            <a:endParaRPr lang="en-US" sz="2800" b="1" dirty="0">
              <a:latin typeface="+mj-lt"/>
            </a:endParaRPr>
          </a:p>
          <a:p>
            <a:pPr marL="931863" indent="-457200">
              <a:lnSpc>
                <a:spcPct val="150000"/>
              </a:lnSpc>
              <a:buFont typeface="Arial" panose="020B0604020202020204" pitchFamily="34" charset="0"/>
              <a:buChar char="•"/>
            </a:pPr>
            <a:r>
              <a:rPr lang="en-US" sz="2800" b="1" dirty="0">
                <a:latin typeface="+mj-lt"/>
              </a:rPr>
              <a:t>Build</a:t>
            </a:r>
            <a:r>
              <a:rPr lang="en-US" sz="2800" dirty="0">
                <a:latin typeface="+mj-lt"/>
              </a:rPr>
              <a:t>: Native mobile apps (iOS/Android)</a:t>
            </a:r>
          </a:p>
          <a:p>
            <a:pPr marL="931863" indent="-457200">
              <a:lnSpc>
                <a:spcPct val="150000"/>
              </a:lnSpc>
              <a:buFont typeface="Arial" panose="020B0604020202020204" pitchFamily="34" charset="0"/>
              <a:buChar char="•"/>
            </a:pPr>
            <a:r>
              <a:rPr lang="en-US" sz="2800" b="1" dirty="0">
                <a:latin typeface="+mj-lt"/>
              </a:rPr>
              <a:t>Drag-and-drop</a:t>
            </a:r>
            <a:r>
              <a:rPr lang="en-US" sz="2800" dirty="0">
                <a:latin typeface="+mj-lt"/>
              </a:rPr>
              <a:t> interface components</a:t>
            </a:r>
          </a:p>
          <a:p>
            <a:pPr marL="931863" indent="-457200">
              <a:lnSpc>
                <a:spcPct val="150000"/>
              </a:lnSpc>
              <a:buFont typeface="Arial" panose="020B0604020202020204" pitchFamily="34" charset="0"/>
              <a:buChar char="•"/>
            </a:pPr>
            <a:r>
              <a:rPr lang="en-US" sz="2800" b="1" dirty="0">
                <a:latin typeface="+mj-lt"/>
              </a:rPr>
              <a:t>Link</a:t>
            </a:r>
            <a:r>
              <a:rPr lang="en-US" sz="2800" dirty="0">
                <a:latin typeface="+mj-lt"/>
              </a:rPr>
              <a:t>: </a:t>
            </a:r>
            <a:r>
              <a:rPr lang="en-US" sz="2800" dirty="0">
                <a:latin typeface="+mj-lt"/>
                <a:hlinkClick r:id="rId2"/>
              </a:rPr>
              <a:t>https://thunkable.com</a:t>
            </a:r>
            <a:endParaRPr lang="en-US" sz="2800" dirty="0">
              <a:latin typeface="+mj-lt"/>
            </a:endParaRPr>
          </a:p>
          <a:p>
            <a:pPr marL="931863" indent="-457200">
              <a:lnSpc>
                <a:spcPct val="150000"/>
              </a:lnSpc>
              <a:buFont typeface="Arial" panose="020B0604020202020204" pitchFamily="34" charset="0"/>
              <a:buChar char="•"/>
            </a:pPr>
            <a:r>
              <a:rPr lang="en-US" sz="2800" b="1" dirty="0">
                <a:latin typeface="+mj-lt"/>
              </a:rPr>
              <a:t>Bonus</a:t>
            </a:r>
            <a:r>
              <a:rPr lang="en-US" sz="2800" dirty="0">
                <a:latin typeface="+mj-lt"/>
              </a:rPr>
              <a:t>: You can export a working APK/app or share a preview link</a:t>
            </a:r>
          </a:p>
        </p:txBody>
      </p:sp>
    </p:spTree>
    <p:extLst>
      <p:ext uri="{BB962C8B-B14F-4D97-AF65-F5344CB8AC3E}">
        <p14:creationId xmlns:p14="http://schemas.microsoft.com/office/powerpoint/2010/main" val="1300104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C176E-AAFA-6741-A928-2C7F970F6B2A}"/>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FE26B06B-1436-B095-27A3-5669FD98B16D}"/>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14EBE7C-42F4-4249-EE51-6EA852D85E1B}"/>
              </a:ext>
            </a:extLst>
          </p:cNvPr>
          <p:cNvSpPr txBox="1"/>
          <p:nvPr/>
        </p:nvSpPr>
        <p:spPr>
          <a:xfrm>
            <a:off x="8626" y="914400"/>
            <a:ext cx="12174748" cy="3257174"/>
          </a:xfrm>
          <a:prstGeom prst="rect">
            <a:avLst/>
          </a:prstGeom>
          <a:noFill/>
        </p:spPr>
        <p:txBody>
          <a:bodyPr wrap="square">
            <a:spAutoFit/>
          </a:bodyPr>
          <a:lstStyle/>
          <a:p>
            <a:pPr>
              <a:lnSpc>
                <a:spcPct val="150000"/>
              </a:lnSpc>
              <a:buNone/>
            </a:pPr>
            <a:r>
              <a:rPr lang="en-US" sz="2800" b="1" dirty="0">
                <a:latin typeface="+mj-lt"/>
              </a:rPr>
              <a:t>3. For Dashboards/Database Systems</a:t>
            </a:r>
          </a:p>
          <a:p>
            <a:pPr marL="457200" indent="-457200">
              <a:lnSpc>
                <a:spcPct val="150000"/>
              </a:lnSpc>
              <a:buFont typeface="Wingdings" panose="05000000000000000000" pitchFamily="2" charset="2"/>
              <a:buChar char="ü"/>
            </a:pPr>
            <a:r>
              <a:rPr lang="en-US" sz="2800" b="1" dirty="0">
                <a:latin typeface="+mj-lt"/>
              </a:rPr>
              <a:t>Microsoft Power BI / Excel + Pivot Tables</a:t>
            </a:r>
          </a:p>
          <a:p>
            <a:pPr marL="811213" indent="-457200">
              <a:lnSpc>
                <a:spcPct val="150000"/>
              </a:lnSpc>
              <a:buFont typeface="Arial" panose="020B0604020202020204" pitchFamily="34" charset="0"/>
              <a:buChar char="•"/>
            </a:pPr>
            <a:r>
              <a:rPr lang="en-US" sz="2800" b="1" dirty="0">
                <a:latin typeface="+mj-lt"/>
              </a:rPr>
              <a:t>For</a:t>
            </a:r>
            <a:r>
              <a:rPr lang="en-US" sz="2800" dirty="0">
                <a:latin typeface="+mj-lt"/>
              </a:rPr>
              <a:t>: Creating system-generated reports</a:t>
            </a:r>
          </a:p>
          <a:p>
            <a:pPr marL="811213" indent="-457200">
              <a:lnSpc>
                <a:spcPct val="150000"/>
              </a:lnSpc>
              <a:buFont typeface="Arial" panose="020B0604020202020204" pitchFamily="34" charset="0"/>
              <a:buChar char="•"/>
            </a:pPr>
            <a:r>
              <a:rPr lang="en-US" sz="2800" b="1" dirty="0">
                <a:latin typeface="+mj-lt"/>
              </a:rPr>
              <a:t>Example</a:t>
            </a:r>
            <a:r>
              <a:rPr lang="en-US" sz="2800" dirty="0">
                <a:latin typeface="+mj-lt"/>
              </a:rPr>
              <a:t>: Sales report, employee performance dashboard</a:t>
            </a:r>
          </a:p>
          <a:p>
            <a:pPr marL="811213" indent="-457200">
              <a:lnSpc>
                <a:spcPct val="150000"/>
              </a:lnSpc>
              <a:buFont typeface="Arial" panose="020B0604020202020204" pitchFamily="34" charset="0"/>
              <a:buChar char="•"/>
            </a:pPr>
            <a:r>
              <a:rPr lang="en-US" sz="2800" b="1" dirty="0">
                <a:latin typeface="+mj-lt"/>
              </a:rPr>
              <a:t>Good for</a:t>
            </a:r>
            <a:r>
              <a:rPr lang="en-US" sz="2800" dirty="0">
                <a:latin typeface="+mj-lt"/>
              </a:rPr>
              <a:t>: Showing the "Reports" component of your system</a:t>
            </a:r>
          </a:p>
        </p:txBody>
      </p:sp>
    </p:spTree>
    <p:extLst>
      <p:ext uri="{BB962C8B-B14F-4D97-AF65-F5344CB8AC3E}">
        <p14:creationId xmlns:p14="http://schemas.microsoft.com/office/powerpoint/2010/main" val="2094483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565A0-986C-F342-50FF-BED59E01F4B1}"/>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EAC09206-FE90-3CD4-D96F-DBC596021488}"/>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6B0C7988-0106-413A-DD02-84CFA95492E2}"/>
              </a:ext>
            </a:extLst>
          </p:cNvPr>
          <p:cNvSpPr txBox="1"/>
          <p:nvPr/>
        </p:nvSpPr>
        <p:spPr>
          <a:xfrm>
            <a:off x="8626" y="914400"/>
            <a:ext cx="12174748" cy="2610843"/>
          </a:xfrm>
          <a:prstGeom prst="rect">
            <a:avLst/>
          </a:prstGeom>
          <a:noFill/>
        </p:spPr>
        <p:txBody>
          <a:bodyPr wrap="square">
            <a:spAutoFit/>
          </a:bodyPr>
          <a:lstStyle/>
          <a:p>
            <a:pPr marL="457200" indent="-457200">
              <a:lnSpc>
                <a:spcPct val="150000"/>
              </a:lnSpc>
              <a:buFont typeface="Wingdings" panose="05000000000000000000" pitchFamily="2" charset="2"/>
              <a:buChar char="ü"/>
            </a:pPr>
            <a:r>
              <a:rPr lang="en-US" sz="2800" b="1" dirty="0" err="1">
                <a:latin typeface="+mj-lt"/>
              </a:rPr>
              <a:t>Airtable</a:t>
            </a:r>
            <a:endParaRPr lang="en-US" sz="2800" b="1" dirty="0">
              <a:latin typeface="+mj-lt"/>
            </a:endParaRPr>
          </a:p>
          <a:p>
            <a:pPr marL="896938" indent="-457200">
              <a:lnSpc>
                <a:spcPct val="150000"/>
              </a:lnSpc>
              <a:buFont typeface="Arial" panose="020B0604020202020204" pitchFamily="34" charset="0"/>
              <a:buChar char="•"/>
            </a:pPr>
            <a:r>
              <a:rPr lang="en-US" sz="2800" b="1" dirty="0">
                <a:latin typeface="+mj-lt"/>
              </a:rPr>
              <a:t>Hybrid</a:t>
            </a:r>
            <a:r>
              <a:rPr lang="en-US" sz="2800" dirty="0">
                <a:latin typeface="+mj-lt"/>
              </a:rPr>
              <a:t> of spreadsheet + database + forms</a:t>
            </a:r>
          </a:p>
          <a:p>
            <a:pPr marL="896938" indent="-457200">
              <a:lnSpc>
                <a:spcPct val="150000"/>
              </a:lnSpc>
              <a:buFont typeface="Arial" panose="020B0604020202020204" pitchFamily="34" charset="0"/>
              <a:buChar char="•"/>
            </a:pPr>
            <a:r>
              <a:rPr lang="en-US" sz="2800" dirty="0">
                <a:latin typeface="+mj-lt"/>
              </a:rPr>
              <a:t>Great for creating interactive systems like task trackers or HR databases</a:t>
            </a:r>
          </a:p>
          <a:p>
            <a:pPr marL="896938" indent="-457200">
              <a:lnSpc>
                <a:spcPct val="150000"/>
              </a:lnSpc>
              <a:buFont typeface="Arial" panose="020B0604020202020204" pitchFamily="34" charset="0"/>
              <a:buChar char="•"/>
            </a:pPr>
            <a:r>
              <a:rPr lang="en-US" sz="2800" b="1" dirty="0">
                <a:latin typeface="+mj-lt"/>
              </a:rPr>
              <a:t>Link</a:t>
            </a:r>
            <a:r>
              <a:rPr lang="en-US" sz="2800" dirty="0">
                <a:latin typeface="+mj-lt"/>
              </a:rPr>
              <a:t>: </a:t>
            </a:r>
            <a:r>
              <a:rPr lang="en-US" sz="2800" dirty="0">
                <a:latin typeface="+mj-lt"/>
                <a:hlinkClick r:id="rId2"/>
              </a:rPr>
              <a:t>https://airtable.com</a:t>
            </a:r>
            <a:endParaRPr lang="en-US" sz="2800" dirty="0">
              <a:latin typeface="+mj-lt"/>
            </a:endParaRPr>
          </a:p>
        </p:txBody>
      </p:sp>
    </p:spTree>
    <p:extLst>
      <p:ext uri="{BB962C8B-B14F-4D97-AF65-F5344CB8AC3E}">
        <p14:creationId xmlns:p14="http://schemas.microsoft.com/office/powerpoint/2010/main" val="38240841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8B2D8-BA53-020C-5121-CC25F8D2053F}"/>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3548E669-EC72-B0D6-8854-9C2690A9F27A}"/>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Question and Answers</a:t>
            </a:r>
            <a:endParaRPr lang="en-US" sz="3600" dirty="0">
              <a:highlight>
                <a:srgbClr val="FFFF00"/>
              </a:highlight>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A9A744BB-B558-03E0-82C2-63FF176DCA63}"/>
              </a:ext>
            </a:extLst>
          </p:cNvPr>
          <p:cNvGraphicFramePr>
            <a:graphicFrameLocks noGrp="1"/>
          </p:cNvGraphicFramePr>
          <p:nvPr>
            <p:extLst>
              <p:ext uri="{D42A27DB-BD31-4B8C-83A1-F6EECF244321}">
                <p14:modId xmlns:p14="http://schemas.microsoft.com/office/powerpoint/2010/main" val="1159601754"/>
              </p:ext>
            </p:extLst>
          </p:nvPr>
        </p:nvGraphicFramePr>
        <p:xfrm>
          <a:off x="228600" y="2362200"/>
          <a:ext cx="10972800" cy="3326765"/>
        </p:xfrm>
        <a:graphic>
          <a:graphicData uri="http://schemas.openxmlformats.org/drawingml/2006/table">
            <a:tbl>
              <a:tblPr>
                <a:tableStyleId>{ED083AE6-46FA-4A59-8FB0-9F97EB10719F}</a:tableStyleId>
              </a:tblPr>
              <a:tblGrid>
                <a:gridCol w="5486400">
                  <a:extLst>
                    <a:ext uri="{9D8B030D-6E8A-4147-A177-3AD203B41FA5}">
                      <a16:colId xmlns:a16="http://schemas.microsoft.com/office/drawing/2014/main" val="4057131915"/>
                    </a:ext>
                  </a:extLst>
                </a:gridCol>
                <a:gridCol w="5486400">
                  <a:extLst>
                    <a:ext uri="{9D8B030D-6E8A-4147-A177-3AD203B41FA5}">
                      <a16:colId xmlns:a16="http://schemas.microsoft.com/office/drawing/2014/main" val="217357773"/>
                    </a:ext>
                  </a:extLst>
                </a:gridCol>
              </a:tblGrid>
              <a:tr h="0">
                <a:tc>
                  <a:txBody>
                    <a:bodyPr/>
                    <a:lstStyle/>
                    <a:p>
                      <a:pPr>
                        <a:lnSpc>
                          <a:spcPct val="150000"/>
                        </a:lnSpc>
                      </a:pPr>
                      <a:r>
                        <a:rPr lang="en-US" sz="2800" dirty="0"/>
                        <a:t>Goal</a:t>
                      </a:r>
                    </a:p>
                  </a:txBody>
                  <a:tcPr anchor="ctr">
                    <a:solidFill>
                      <a:schemeClr val="accent4">
                        <a:lumMod val="20000"/>
                        <a:lumOff val="80000"/>
                      </a:schemeClr>
                    </a:solidFill>
                  </a:tcPr>
                </a:tc>
                <a:tc>
                  <a:txBody>
                    <a:bodyPr/>
                    <a:lstStyle/>
                    <a:p>
                      <a:pPr>
                        <a:lnSpc>
                          <a:spcPct val="150000"/>
                        </a:lnSpc>
                      </a:pPr>
                      <a:r>
                        <a:rPr lang="en-US" sz="2800" dirty="0"/>
                        <a:t>Recommended Tool</a:t>
                      </a:r>
                    </a:p>
                  </a:txBody>
                  <a:tcPr anchor="ctr">
                    <a:solidFill>
                      <a:schemeClr val="accent4">
                        <a:lumMod val="20000"/>
                        <a:lumOff val="80000"/>
                      </a:schemeClr>
                    </a:solidFill>
                  </a:tcPr>
                </a:tc>
                <a:extLst>
                  <a:ext uri="{0D108BD9-81ED-4DB2-BD59-A6C34878D82A}">
                    <a16:rowId xmlns:a16="http://schemas.microsoft.com/office/drawing/2014/main" val="2079647943"/>
                  </a:ext>
                </a:extLst>
              </a:tr>
              <a:tr h="0">
                <a:tc>
                  <a:txBody>
                    <a:bodyPr/>
                    <a:lstStyle/>
                    <a:p>
                      <a:pPr>
                        <a:lnSpc>
                          <a:spcPct val="150000"/>
                        </a:lnSpc>
                      </a:pPr>
                      <a:r>
                        <a:rPr lang="en-US" sz="2800"/>
                        <a:t>Build a simple system website</a:t>
                      </a:r>
                    </a:p>
                  </a:txBody>
                  <a:tcPr anchor="ctr"/>
                </a:tc>
                <a:tc>
                  <a:txBody>
                    <a:bodyPr/>
                    <a:lstStyle/>
                    <a:p>
                      <a:pPr>
                        <a:lnSpc>
                          <a:spcPct val="150000"/>
                        </a:lnSpc>
                      </a:pPr>
                      <a:r>
                        <a:rPr lang="en-US" sz="2800"/>
                        <a:t>Google Sites</a:t>
                      </a:r>
                    </a:p>
                  </a:txBody>
                  <a:tcPr anchor="ctr"/>
                </a:tc>
                <a:extLst>
                  <a:ext uri="{0D108BD9-81ED-4DB2-BD59-A6C34878D82A}">
                    <a16:rowId xmlns:a16="http://schemas.microsoft.com/office/drawing/2014/main" val="2288984108"/>
                  </a:ext>
                </a:extLst>
              </a:tr>
              <a:tr h="0">
                <a:tc>
                  <a:txBody>
                    <a:bodyPr/>
                    <a:lstStyle/>
                    <a:p>
                      <a:pPr>
                        <a:lnSpc>
                          <a:spcPct val="150000"/>
                        </a:lnSpc>
                      </a:pPr>
                      <a:r>
                        <a:rPr lang="en-US" sz="2800"/>
                        <a:t>Make a mobile app mock-up</a:t>
                      </a:r>
                    </a:p>
                  </a:txBody>
                  <a:tcPr anchor="ctr"/>
                </a:tc>
                <a:tc>
                  <a:txBody>
                    <a:bodyPr/>
                    <a:lstStyle/>
                    <a:p>
                      <a:pPr>
                        <a:lnSpc>
                          <a:spcPct val="150000"/>
                        </a:lnSpc>
                      </a:pPr>
                      <a:r>
                        <a:rPr lang="en-US" sz="2800"/>
                        <a:t>Figma or Thunkable</a:t>
                      </a:r>
                    </a:p>
                  </a:txBody>
                  <a:tcPr anchor="ctr"/>
                </a:tc>
                <a:extLst>
                  <a:ext uri="{0D108BD9-81ED-4DB2-BD59-A6C34878D82A}">
                    <a16:rowId xmlns:a16="http://schemas.microsoft.com/office/drawing/2014/main" val="2445572121"/>
                  </a:ext>
                </a:extLst>
              </a:tr>
              <a:tr h="0">
                <a:tc>
                  <a:txBody>
                    <a:bodyPr/>
                    <a:lstStyle/>
                    <a:p>
                      <a:pPr>
                        <a:lnSpc>
                          <a:spcPct val="150000"/>
                        </a:lnSpc>
                      </a:pPr>
                      <a:r>
                        <a:rPr lang="en-US" sz="2800"/>
                        <a:t>Show database functionality/reports</a:t>
                      </a:r>
                    </a:p>
                  </a:txBody>
                  <a:tcPr anchor="ctr"/>
                </a:tc>
                <a:tc>
                  <a:txBody>
                    <a:bodyPr/>
                    <a:lstStyle/>
                    <a:p>
                      <a:pPr>
                        <a:lnSpc>
                          <a:spcPct val="150000"/>
                        </a:lnSpc>
                      </a:pPr>
                      <a:r>
                        <a:rPr lang="en-US" sz="2800"/>
                        <a:t>Power BI or Airtable</a:t>
                      </a:r>
                    </a:p>
                  </a:txBody>
                  <a:tcPr anchor="ctr"/>
                </a:tc>
                <a:extLst>
                  <a:ext uri="{0D108BD9-81ED-4DB2-BD59-A6C34878D82A}">
                    <a16:rowId xmlns:a16="http://schemas.microsoft.com/office/drawing/2014/main" val="4230002989"/>
                  </a:ext>
                </a:extLst>
              </a:tr>
              <a:tr h="0">
                <a:tc>
                  <a:txBody>
                    <a:bodyPr/>
                    <a:lstStyle/>
                    <a:p>
                      <a:pPr>
                        <a:lnSpc>
                          <a:spcPct val="150000"/>
                        </a:lnSpc>
                      </a:pPr>
                      <a:r>
                        <a:rPr lang="en-US" sz="2800" dirty="0"/>
                        <a:t>Create screen flows quickly</a:t>
                      </a:r>
                    </a:p>
                  </a:txBody>
                  <a:tcPr anchor="ctr"/>
                </a:tc>
                <a:tc>
                  <a:txBody>
                    <a:bodyPr/>
                    <a:lstStyle/>
                    <a:p>
                      <a:pPr>
                        <a:lnSpc>
                          <a:spcPct val="150000"/>
                        </a:lnSpc>
                      </a:pPr>
                      <a:r>
                        <a:rPr lang="en-US" sz="2800" dirty="0"/>
                        <a:t>Figma or Canva (UX templates)</a:t>
                      </a:r>
                    </a:p>
                  </a:txBody>
                  <a:tcPr anchor="ctr"/>
                </a:tc>
                <a:extLst>
                  <a:ext uri="{0D108BD9-81ED-4DB2-BD59-A6C34878D82A}">
                    <a16:rowId xmlns:a16="http://schemas.microsoft.com/office/drawing/2014/main" val="3088081600"/>
                  </a:ext>
                </a:extLst>
              </a:tr>
            </a:tbl>
          </a:graphicData>
        </a:graphic>
      </p:graphicFrame>
      <p:sp>
        <p:nvSpPr>
          <p:cNvPr id="3" name="Rectangle 1">
            <a:extLst>
              <a:ext uri="{FF2B5EF4-FFF2-40B4-BE49-F238E27FC236}">
                <a16:creationId xmlns:a16="http://schemas.microsoft.com/office/drawing/2014/main" id="{10670014-7E1C-B7A4-C006-8A15C2E109A1}"/>
              </a:ext>
            </a:extLst>
          </p:cNvPr>
          <p:cNvSpPr>
            <a:spLocks noChangeArrowheads="1"/>
          </p:cNvSpPr>
          <p:nvPr/>
        </p:nvSpPr>
        <p:spPr bwMode="auto">
          <a:xfrm>
            <a:off x="-99412" y="1066800"/>
            <a:ext cx="581441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Recommendation Based on Simplicity</a:t>
            </a:r>
          </a:p>
        </p:txBody>
      </p:sp>
    </p:spTree>
    <p:extLst>
      <p:ext uri="{BB962C8B-B14F-4D97-AF65-F5344CB8AC3E}">
        <p14:creationId xmlns:p14="http://schemas.microsoft.com/office/powerpoint/2010/main" val="18741784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3529-506A-668E-02D1-E5ED5057B113}"/>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CDF76518-108B-8B4B-C56B-6369A2E9E004}"/>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4F782902-1D87-DEFB-41A3-EF0AAA6DD8D9}"/>
              </a:ext>
            </a:extLst>
          </p:cNvPr>
          <p:cNvSpPr>
            <a:spLocks noChangeArrowheads="1"/>
          </p:cNvSpPr>
          <p:nvPr/>
        </p:nvSpPr>
        <p:spPr bwMode="auto">
          <a:xfrm>
            <a:off x="8626" y="1219200"/>
            <a:ext cx="12192001"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lang="en-US" sz="2800" dirty="0">
                <a:latin typeface="+mj-lt"/>
              </a:rPr>
              <a:t>A </a:t>
            </a:r>
            <a:r>
              <a:rPr lang="en-US" sz="2800" b="1" dirty="0">
                <a:latin typeface="+mj-lt"/>
              </a:rPr>
              <a:t>To-Do List system</a:t>
            </a:r>
            <a:r>
              <a:rPr lang="en-US" sz="2800" dirty="0">
                <a:latin typeface="+mj-lt"/>
              </a:rPr>
              <a:t> is a classic and practical project that works very well for this type of prototype assignment — it's simple enough to build yet rich enough to demonstrate </a:t>
            </a:r>
            <a:r>
              <a:rPr lang="en-US" sz="2800" b="1" dirty="0">
                <a:latin typeface="+mj-lt"/>
              </a:rPr>
              <a:t>systems analysis, interface design, database use, and testing</a:t>
            </a:r>
            <a:r>
              <a:rPr lang="en-US" sz="2800" dirty="0">
                <a:latin typeface="+mj-lt"/>
              </a:rPr>
              <a:t>.</a:t>
            </a:r>
            <a:endParaRPr kumimoji="0" lang="en-US" altLang="en-US" sz="2800" b="1" i="0" u="none" strike="noStrike" cap="none" normalizeH="0" baseline="0" dirty="0">
              <a:ln>
                <a:noFill/>
              </a:ln>
              <a:solidFill>
                <a:schemeClr val="tx1"/>
              </a:solidFill>
              <a:effectLst/>
              <a:latin typeface="+mj-lt"/>
            </a:endParaRPr>
          </a:p>
        </p:txBody>
      </p:sp>
      <p:graphicFrame>
        <p:nvGraphicFramePr>
          <p:cNvPr id="4" name="Table 3">
            <a:extLst>
              <a:ext uri="{FF2B5EF4-FFF2-40B4-BE49-F238E27FC236}">
                <a16:creationId xmlns:a16="http://schemas.microsoft.com/office/drawing/2014/main" id="{DE8A255F-34C1-3B05-0F3F-3744755E2057}"/>
              </a:ext>
            </a:extLst>
          </p:cNvPr>
          <p:cNvGraphicFramePr>
            <a:graphicFrameLocks noGrp="1"/>
          </p:cNvGraphicFramePr>
          <p:nvPr>
            <p:extLst>
              <p:ext uri="{D42A27DB-BD31-4B8C-83A1-F6EECF244321}">
                <p14:modId xmlns:p14="http://schemas.microsoft.com/office/powerpoint/2010/main" val="1668920568"/>
              </p:ext>
            </p:extLst>
          </p:nvPr>
        </p:nvGraphicFramePr>
        <p:xfrm>
          <a:off x="381000" y="4572000"/>
          <a:ext cx="10972800" cy="5334000"/>
        </p:xfrm>
        <a:graphic>
          <a:graphicData uri="http://schemas.openxmlformats.org/drawingml/2006/table">
            <a:tbl>
              <a:tblPr>
                <a:tableStyleId>{ED083AE6-46FA-4A59-8FB0-9F97EB10719F}</a:tableStyleId>
              </a:tblPr>
              <a:tblGrid>
                <a:gridCol w="5486400">
                  <a:extLst>
                    <a:ext uri="{9D8B030D-6E8A-4147-A177-3AD203B41FA5}">
                      <a16:colId xmlns:a16="http://schemas.microsoft.com/office/drawing/2014/main" val="2784797556"/>
                    </a:ext>
                  </a:extLst>
                </a:gridCol>
                <a:gridCol w="5486400">
                  <a:extLst>
                    <a:ext uri="{9D8B030D-6E8A-4147-A177-3AD203B41FA5}">
                      <a16:colId xmlns:a16="http://schemas.microsoft.com/office/drawing/2014/main" val="1937438510"/>
                    </a:ext>
                  </a:extLst>
                </a:gridCol>
              </a:tblGrid>
              <a:tr h="0">
                <a:tc>
                  <a:txBody>
                    <a:bodyPr/>
                    <a:lstStyle/>
                    <a:p>
                      <a:r>
                        <a:rPr lang="en-US" sz="2800" b="1" dirty="0"/>
                        <a:t>Component</a:t>
                      </a:r>
                    </a:p>
                  </a:txBody>
                  <a:tcPr anchor="ctr">
                    <a:solidFill>
                      <a:schemeClr val="accent4">
                        <a:lumMod val="20000"/>
                        <a:lumOff val="80000"/>
                      </a:schemeClr>
                    </a:solidFill>
                  </a:tcPr>
                </a:tc>
                <a:tc>
                  <a:txBody>
                    <a:bodyPr/>
                    <a:lstStyle/>
                    <a:p>
                      <a:r>
                        <a:rPr lang="en-US" sz="2800" b="1" dirty="0"/>
                        <a:t>Example</a:t>
                      </a:r>
                    </a:p>
                  </a:txBody>
                  <a:tcPr anchor="ctr">
                    <a:solidFill>
                      <a:schemeClr val="accent4">
                        <a:lumMod val="20000"/>
                        <a:lumOff val="80000"/>
                      </a:schemeClr>
                    </a:solidFill>
                  </a:tcPr>
                </a:tc>
                <a:extLst>
                  <a:ext uri="{0D108BD9-81ED-4DB2-BD59-A6C34878D82A}">
                    <a16:rowId xmlns:a16="http://schemas.microsoft.com/office/drawing/2014/main" val="3829102793"/>
                  </a:ext>
                </a:extLst>
              </a:tr>
              <a:tr h="0">
                <a:tc>
                  <a:txBody>
                    <a:bodyPr/>
                    <a:lstStyle/>
                    <a:p>
                      <a:r>
                        <a:rPr lang="en-US" sz="2800" dirty="0"/>
                        <a:t>Add Task</a:t>
                      </a:r>
                    </a:p>
                  </a:txBody>
                  <a:tcPr anchor="ctr"/>
                </a:tc>
                <a:tc>
                  <a:txBody>
                    <a:bodyPr/>
                    <a:lstStyle/>
                    <a:p>
                      <a:r>
                        <a:rPr lang="en-US" sz="2800"/>
                        <a:t>Input field for task title, due date, priority</a:t>
                      </a:r>
                    </a:p>
                  </a:txBody>
                  <a:tcPr anchor="ctr"/>
                </a:tc>
                <a:extLst>
                  <a:ext uri="{0D108BD9-81ED-4DB2-BD59-A6C34878D82A}">
                    <a16:rowId xmlns:a16="http://schemas.microsoft.com/office/drawing/2014/main" val="3756270479"/>
                  </a:ext>
                </a:extLst>
              </a:tr>
              <a:tr h="0">
                <a:tc>
                  <a:txBody>
                    <a:bodyPr/>
                    <a:lstStyle/>
                    <a:p>
                      <a:r>
                        <a:rPr lang="en-US" sz="2800" dirty="0"/>
                        <a:t>Update Task</a:t>
                      </a:r>
                    </a:p>
                  </a:txBody>
                  <a:tcPr anchor="ctr"/>
                </a:tc>
                <a:tc>
                  <a:txBody>
                    <a:bodyPr/>
                    <a:lstStyle/>
                    <a:p>
                      <a:r>
                        <a:rPr lang="en-US" sz="2800"/>
                        <a:t>Edit name, deadline, or mark as complete</a:t>
                      </a:r>
                    </a:p>
                  </a:txBody>
                  <a:tcPr anchor="ctr"/>
                </a:tc>
                <a:extLst>
                  <a:ext uri="{0D108BD9-81ED-4DB2-BD59-A6C34878D82A}">
                    <a16:rowId xmlns:a16="http://schemas.microsoft.com/office/drawing/2014/main" val="73465135"/>
                  </a:ext>
                </a:extLst>
              </a:tr>
              <a:tr h="0">
                <a:tc>
                  <a:txBody>
                    <a:bodyPr/>
                    <a:lstStyle/>
                    <a:p>
                      <a:r>
                        <a:rPr lang="en-US" sz="2800" dirty="0"/>
                        <a:t>Delete Task</a:t>
                      </a:r>
                    </a:p>
                  </a:txBody>
                  <a:tcPr anchor="ctr"/>
                </a:tc>
                <a:tc>
                  <a:txBody>
                    <a:bodyPr/>
                    <a:lstStyle/>
                    <a:p>
                      <a:r>
                        <a:rPr lang="en-US" sz="2800"/>
                        <a:t>Remove task from list</a:t>
                      </a:r>
                    </a:p>
                  </a:txBody>
                  <a:tcPr anchor="ctr"/>
                </a:tc>
                <a:extLst>
                  <a:ext uri="{0D108BD9-81ED-4DB2-BD59-A6C34878D82A}">
                    <a16:rowId xmlns:a16="http://schemas.microsoft.com/office/drawing/2014/main" val="1275486631"/>
                  </a:ext>
                </a:extLst>
              </a:tr>
              <a:tr h="0">
                <a:tc>
                  <a:txBody>
                    <a:bodyPr/>
                    <a:lstStyle/>
                    <a:p>
                      <a:r>
                        <a:rPr lang="en-US" sz="2800" dirty="0"/>
                        <a:t>Categorize</a:t>
                      </a:r>
                    </a:p>
                  </a:txBody>
                  <a:tcPr anchor="ctr"/>
                </a:tc>
                <a:tc>
                  <a:txBody>
                    <a:bodyPr/>
                    <a:lstStyle/>
                    <a:p>
                      <a:r>
                        <a:rPr lang="en-US" sz="2800"/>
                        <a:t>By project, subject, or tag</a:t>
                      </a:r>
                    </a:p>
                  </a:txBody>
                  <a:tcPr anchor="ctr"/>
                </a:tc>
                <a:extLst>
                  <a:ext uri="{0D108BD9-81ED-4DB2-BD59-A6C34878D82A}">
                    <a16:rowId xmlns:a16="http://schemas.microsoft.com/office/drawing/2014/main" val="652043219"/>
                  </a:ext>
                </a:extLst>
              </a:tr>
              <a:tr h="0">
                <a:tc>
                  <a:txBody>
                    <a:bodyPr/>
                    <a:lstStyle/>
                    <a:p>
                      <a:r>
                        <a:rPr lang="en-US" sz="2800" dirty="0"/>
                        <a:t>Reports</a:t>
                      </a:r>
                    </a:p>
                  </a:txBody>
                  <a:tcPr anchor="ctr"/>
                </a:tc>
                <a:tc>
                  <a:txBody>
                    <a:bodyPr/>
                    <a:lstStyle/>
                    <a:p>
                      <a:r>
                        <a:rPr lang="en-US" sz="2800"/>
                        <a:t>Completed tasks, overdue tasks, upcoming tasks</a:t>
                      </a:r>
                    </a:p>
                  </a:txBody>
                  <a:tcPr anchor="ctr"/>
                </a:tc>
                <a:extLst>
                  <a:ext uri="{0D108BD9-81ED-4DB2-BD59-A6C34878D82A}">
                    <a16:rowId xmlns:a16="http://schemas.microsoft.com/office/drawing/2014/main" val="3862401487"/>
                  </a:ext>
                </a:extLst>
              </a:tr>
              <a:tr h="0">
                <a:tc>
                  <a:txBody>
                    <a:bodyPr/>
                    <a:lstStyle/>
                    <a:p>
                      <a:r>
                        <a:rPr lang="en-US" sz="2800" dirty="0"/>
                        <a:t>User Accounts (optional)</a:t>
                      </a:r>
                    </a:p>
                  </a:txBody>
                  <a:tcPr anchor="ctr"/>
                </a:tc>
                <a:tc>
                  <a:txBody>
                    <a:bodyPr/>
                    <a:lstStyle/>
                    <a:p>
                      <a:r>
                        <a:rPr lang="en-US" sz="2800" dirty="0"/>
                        <a:t>Multi-user support if you want to expand</a:t>
                      </a:r>
                    </a:p>
                  </a:txBody>
                  <a:tcPr anchor="ctr"/>
                </a:tc>
                <a:extLst>
                  <a:ext uri="{0D108BD9-81ED-4DB2-BD59-A6C34878D82A}">
                    <a16:rowId xmlns:a16="http://schemas.microsoft.com/office/drawing/2014/main" val="3869894724"/>
                  </a:ext>
                </a:extLst>
              </a:tr>
            </a:tbl>
          </a:graphicData>
        </a:graphic>
      </p:graphicFrame>
      <p:sp>
        <p:nvSpPr>
          <p:cNvPr id="5" name="Rectangle 1">
            <a:extLst>
              <a:ext uri="{FF2B5EF4-FFF2-40B4-BE49-F238E27FC236}">
                <a16:creationId xmlns:a16="http://schemas.microsoft.com/office/drawing/2014/main" id="{4E43F35B-5BD6-A2E6-0AF9-C06BBAC20C9F}"/>
              </a:ext>
            </a:extLst>
          </p:cNvPr>
          <p:cNvSpPr>
            <a:spLocks noChangeArrowheads="1"/>
          </p:cNvSpPr>
          <p:nvPr/>
        </p:nvSpPr>
        <p:spPr bwMode="auto">
          <a:xfrm>
            <a:off x="8626" y="3053545"/>
            <a:ext cx="5553123"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To-Do List System — Prototype Plan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Key Features You Can Include:</a:t>
            </a:r>
          </a:p>
        </p:txBody>
      </p:sp>
    </p:spTree>
    <p:extLst>
      <p:ext uri="{BB962C8B-B14F-4D97-AF65-F5344CB8AC3E}">
        <p14:creationId xmlns:p14="http://schemas.microsoft.com/office/powerpoint/2010/main" val="18894367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92229-3EFB-3269-4D35-B600767853C2}"/>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BD2D4202-81F4-47AF-C6D2-B12C94204498}"/>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AD377751-0412-D542-CC33-834E252E80AB}"/>
              </a:ext>
            </a:extLst>
          </p:cNvPr>
          <p:cNvSpPr>
            <a:spLocks noChangeArrowheads="1"/>
          </p:cNvSpPr>
          <p:nvPr/>
        </p:nvSpPr>
        <p:spPr bwMode="auto">
          <a:xfrm>
            <a:off x="8626" y="914400"/>
            <a:ext cx="12192001" cy="583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800" b="1" dirty="0">
                <a:latin typeface="+mj-lt"/>
              </a:rPr>
              <a:t>Tool Suggestions Based on Approach</a:t>
            </a:r>
          </a:p>
          <a:p>
            <a:pPr>
              <a:lnSpc>
                <a:spcPct val="150000"/>
              </a:lnSpc>
              <a:buNone/>
            </a:pPr>
            <a:r>
              <a:rPr lang="en-US" sz="2800" b="1" dirty="0">
                <a:latin typeface="+mj-lt"/>
              </a:rPr>
              <a:t>Option A: Simple Website — Google Sites</a:t>
            </a:r>
          </a:p>
          <a:p>
            <a:pPr marL="457200" indent="-457200">
              <a:lnSpc>
                <a:spcPct val="150000"/>
              </a:lnSpc>
              <a:buFont typeface="Arial" panose="020B0604020202020204" pitchFamily="34" charset="0"/>
              <a:buChar char="•"/>
            </a:pPr>
            <a:r>
              <a:rPr lang="en-US" sz="2800" dirty="0">
                <a:latin typeface="+mj-lt"/>
              </a:rPr>
              <a:t>Design screens like:</a:t>
            </a:r>
          </a:p>
          <a:p>
            <a:pPr marL="914400" lvl="1" indent="-457200">
              <a:lnSpc>
                <a:spcPct val="150000"/>
              </a:lnSpc>
              <a:buFont typeface="Arial" panose="020B0604020202020204" pitchFamily="34" charset="0"/>
              <a:buChar char="•"/>
            </a:pPr>
            <a:r>
              <a:rPr lang="en-US" sz="2800" dirty="0">
                <a:latin typeface="+mj-lt"/>
              </a:rPr>
              <a:t>Homepage with task list</a:t>
            </a:r>
          </a:p>
          <a:p>
            <a:pPr marL="914400" lvl="1" indent="-457200">
              <a:lnSpc>
                <a:spcPct val="150000"/>
              </a:lnSpc>
              <a:buFont typeface="Arial" panose="020B0604020202020204" pitchFamily="34" charset="0"/>
              <a:buChar char="•"/>
            </a:pPr>
            <a:r>
              <a:rPr lang="en-US" sz="2800" dirty="0">
                <a:latin typeface="+mj-lt"/>
              </a:rPr>
              <a:t>"Add Task" form</a:t>
            </a:r>
          </a:p>
          <a:p>
            <a:pPr marL="914400" lvl="1" indent="-457200">
              <a:lnSpc>
                <a:spcPct val="150000"/>
              </a:lnSpc>
              <a:buFont typeface="Arial" panose="020B0604020202020204" pitchFamily="34" charset="0"/>
              <a:buChar char="•"/>
            </a:pPr>
            <a:r>
              <a:rPr lang="en-US" sz="2800" dirty="0">
                <a:latin typeface="+mj-lt"/>
              </a:rPr>
              <a:t>Sample report (using embedded Google Sheet)</a:t>
            </a:r>
          </a:p>
          <a:p>
            <a:pPr marL="457200" indent="-457200">
              <a:lnSpc>
                <a:spcPct val="150000"/>
              </a:lnSpc>
              <a:buFont typeface="Arial" panose="020B0604020202020204" pitchFamily="34" charset="0"/>
              <a:buChar char="•"/>
            </a:pPr>
            <a:r>
              <a:rPr lang="en-US" sz="2800" dirty="0">
                <a:latin typeface="+mj-lt"/>
              </a:rPr>
              <a:t>Link between pages like "clickable prototype"</a:t>
            </a:r>
          </a:p>
          <a:p>
            <a:pPr marL="457200" indent="-457200">
              <a:lnSpc>
                <a:spcPct val="150000"/>
              </a:lnSpc>
              <a:buFont typeface="Arial" panose="020B0604020202020204" pitchFamily="34" charset="0"/>
              <a:buChar char="•"/>
            </a:pPr>
            <a:r>
              <a:rPr lang="en-US" sz="2800" dirty="0">
                <a:latin typeface="+mj-lt"/>
              </a:rPr>
              <a:t>Can embed forms, charts, mock-up screens</a:t>
            </a:r>
          </a:p>
          <a:p>
            <a:pPr>
              <a:lnSpc>
                <a:spcPct val="150000"/>
              </a:lnSpc>
            </a:pPr>
            <a:r>
              <a:rPr lang="en-US" sz="2800" i="1" dirty="0">
                <a:latin typeface="+mj-lt"/>
              </a:rPr>
              <a:t>Good for showing screen flow + reports without coding.</a:t>
            </a:r>
            <a:endParaRPr lang="en-US" sz="2800" dirty="0">
              <a:latin typeface="+mj-lt"/>
            </a:endParaRPr>
          </a:p>
        </p:txBody>
      </p:sp>
    </p:spTree>
    <p:extLst>
      <p:ext uri="{BB962C8B-B14F-4D97-AF65-F5344CB8AC3E}">
        <p14:creationId xmlns:p14="http://schemas.microsoft.com/office/powerpoint/2010/main" val="296082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6C585-97DD-8A07-9837-792057A46BAC}"/>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D531BAE3-91E1-F2C3-42D9-21DE1A20124A}"/>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73A3D184-4231-3EBE-3D6E-56C6E35D1BE3}"/>
              </a:ext>
            </a:extLst>
          </p:cNvPr>
          <p:cNvSpPr>
            <a:spLocks noChangeArrowheads="1"/>
          </p:cNvSpPr>
          <p:nvPr/>
        </p:nvSpPr>
        <p:spPr bwMode="auto">
          <a:xfrm>
            <a:off x="8626" y="1560731"/>
            <a:ext cx="12192001" cy="454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800" b="1" dirty="0">
                <a:latin typeface="+mj-lt"/>
              </a:rPr>
              <a:t>Option B: Mobile App — </a:t>
            </a:r>
            <a:r>
              <a:rPr lang="en-US" sz="2800" b="1" dirty="0" err="1">
                <a:latin typeface="+mj-lt"/>
              </a:rPr>
              <a:t>Thunkable</a:t>
            </a:r>
            <a:endParaRPr lang="en-US" sz="2800" b="1" dirty="0">
              <a:latin typeface="+mj-lt"/>
            </a:endParaRPr>
          </a:p>
          <a:p>
            <a:pPr marL="457200" indent="-457200">
              <a:lnSpc>
                <a:spcPct val="150000"/>
              </a:lnSpc>
              <a:buFont typeface="Arial" panose="020B0604020202020204" pitchFamily="34" charset="0"/>
              <a:buChar char="•"/>
            </a:pPr>
            <a:r>
              <a:rPr lang="en-US" sz="2800" dirty="0">
                <a:latin typeface="+mj-lt"/>
              </a:rPr>
              <a:t>Drag-and-drop blocks to build:</a:t>
            </a:r>
          </a:p>
          <a:p>
            <a:pPr marL="914400" lvl="1" indent="-457200">
              <a:lnSpc>
                <a:spcPct val="150000"/>
              </a:lnSpc>
              <a:buFont typeface="Arial" panose="020B0604020202020204" pitchFamily="34" charset="0"/>
              <a:buChar char="•"/>
            </a:pPr>
            <a:r>
              <a:rPr lang="en-US" sz="2800" dirty="0">
                <a:latin typeface="+mj-lt"/>
              </a:rPr>
              <a:t>Home screen: list of tasks</a:t>
            </a:r>
          </a:p>
          <a:p>
            <a:pPr marL="914400" lvl="1" indent="-457200">
              <a:lnSpc>
                <a:spcPct val="150000"/>
              </a:lnSpc>
              <a:buFont typeface="Arial" panose="020B0604020202020204" pitchFamily="34" charset="0"/>
              <a:buChar char="•"/>
            </a:pPr>
            <a:r>
              <a:rPr lang="en-US" sz="2800" dirty="0">
                <a:latin typeface="+mj-lt"/>
              </a:rPr>
              <a:t>Add Task screen: input fields</a:t>
            </a:r>
          </a:p>
          <a:p>
            <a:pPr marL="914400" lvl="1" indent="-457200">
              <a:lnSpc>
                <a:spcPct val="150000"/>
              </a:lnSpc>
              <a:buFont typeface="Arial" panose="020B0604020202020204" pitchFamily="34" charset="0"/>
              <a:buChar char="•"/>
            </a:pPr>
            <a:r>
              <a:rPr lang="en-US" sz="2800" dirty="0">
                <a:latin typeface="+mj-lt"/>
              </a:rPr>
              <a:t>Reports screen: show task stats</a:t>
            </a:r>
          </a:p>
          <a:p>
            <a:pPr marL="457200" indent="-457200">
              <a:lnSpc>
                <a:spcPct val="150000"/>
              </a:lnSpc>
              <a:buFont typeface="Arial" panose="020B0604020202020204" pitchFamily="34" charset="0"/>
              <a:buChar char="•"/>
            </a:pPr>
            <a:r>
              <a:rPr lang="en-US" sz="2800" dirty="0">
                <a:latin typeface="+mj-lt"/>
              </a:rPr>
              <a:t>You can test live on your phone or generate a preview/shareable link</a:t>
            </a:r>
          </a:p>
          <a:p>
            <a:pPr>
              <a:lnSpc>
                <a:spcPct val="150000"/>
              </a:lnSpc>
            </a:pPr>
            <a:r>
              <a:rPr lang="en-US" sz="2800" i="1" dirty="0">
                <a:latin typeface="+mj-lt"/>
              </a:rPr>
              <a:t>Excellent if you want a working mobile prototype without code.</a:t>
            </a:r>
            <a:endParaRPr lang="en-US" sz="2800" dirty="0">
              <a:latin typeface="+mj-lt"/>
            </a:endParaRPr>
          </a:p>
        </p:txBody>
      </p:sp>
    </p:spTree>
    <p:extLst>
      <p:ext uri="{BB962C8B-B14F-4D97-AF65-F5344CB8AC3E}">
        <p14:creationId xmlns:p14="http://schemas.microsoft.com/office/powerpoint/2010/main" val="31966437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CC4AB-0F34-F09A-3610-7865CC9DDA5D}"/>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5DB7247D-0176-6A14-C96D-C4580BD127F4}"/>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0CDA4EE7-457A-782D-8A61-F5E966773C99}"/>
              </a:ext>
            </a:extLst>
          </p:cNvPr>
          <p:cNvSpPr>
            <a:spLocks noChangeArrowheads="1"/>
          </p:cNvSpPr>
          <p:nvPr/>
        </p:nvSpPr>
        <p:spPr bwMode="auto">
          <a:xfrm>
            <a:off x="8626" y="1883896"/>
            <a:ext cx="12192001" cy="3900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800" b="1" dirty="0">
                <a:latin typeface="+mj-lt"/>
              </a:rPr>
              <a:t>Option C: Mock-up — Figma</a:t>
            </a:r>
          </a:p>
          <a:p>
            <a:pPr marL="457200" indent="-457200">
              <a:lnSpc>
                <a:spcPct val="150000"/>
              </a:lnSpc>
              <a:buFont typeface="Arial" panose="020B0604020202020204" pitchFamily="34" charset="0"/>
              <a:buChar char="•"/>
            </a:pPr>
            <a:r>
              <a:rPr lang="en-US" sz="2800" dirty="0">
                <a:latin typeface="+mj-lt"/>
              </a:rPr>
              <a:t>Design:</a:t>
            </a:r>
          </a:p>
          <a:p>
            <a:pPr marL="914400" lvl="1" indent="-457200">
              <a:lnSpc>
                <a:spcPct val="150000"/>
              </a:lnSpc>
              <a:buFont typeface="Arial" panose="020B0604020202020204" pitchFamily="34" charset="0"/>
              <a:buChar char="•"/>
            </a:pPr>
            <a:r>
              <a:rPr lang="en-US" sz="2800" dirty="0">
                <a:latin typeface="+mj-lt"/>
              </a:rPr>
              <a:t>App-like interface with clickable interactions</a:t>
            </a:r>
          </a:p>
          <a:p>
            <a:pPr marL="914400" lvl="1" indent="-457200">
              <a:lnSpc>
                <a:spcPct val="150000"/>
              </a:lnSpc>
              <a:buFont typeface="Arial" panose="020B0604020202020204" pitchFamily="34" charset="0"/>
              <a:buChar char="•"/>
            </a:pPr>
            <a:r>
              <a:rPr lang="en-US" sz="2800" dirty="0">
                <a:latin typeface="+mj-lt"/>
              </a:rPr>
              <a:t>UI screens: Home, Add Task, Edit Task, Reports</a:t>
            </a:r>
          </a:p>
          <a:p>
            <a:pPr marL="457200" indent="-457200">
              <a:lnSpc>
                <a:spcPct val="150000"/>
              </a:lnSpc>
              <a:buFont typeface="Arial" panose="020B0604020202020204" pitchFamily="34" charset="0"/>
              <a:buChar char="•"/>
            </a:pPr>
            <a:r>
              <a:rPr lang="en-US" sz="2800" dirty="0">
                <a:latin typeface="+mj-lt"/>
              </a:rPr>
              <a:t>Show navigation between screens</a:t>
            </a:r>
          </a:p>
          <a:p>
            <a:pPr marL="457200" indent="-457200">
              <a:lnSpc>
                <a:spcPct val="150000"/>
              </a:lnSpc>
              <a:buFont typeface="Arial" panose="020B0604020202020204" pitchFamily="34" charset="0"/>
              <a:buChar char="•"/>
            </a:pPr>
            <a:r>
              <a:rPr lang="en-US" sz="2800" i="1" dirty="0">
                <a:latin typeface="+mj-lt"/>
              </a:rPr>
              <a:t>Ideal for beautiful, clickable screen mock-ups; no coding required.</a:t>
            </a:r>
            <a:endParaRPr lang="en-US" sz="2800" dirty="0">
              <a:latin typeface="+mj-lt"/>
            </a:endParaRPr>
          </a:p>
        </p:txBody>
      </p:sp>
    </p:spTree>
    <p:extLst>
      <p:ext uri="{BB962C8B-B14F-4D97-AF65-F5344CB8AC3E}">
        <p14:creationId xmlns:p14="http://schemas.microsoft.com/office/powerpoint/2010/main" val="7719782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6CF9B-658D-F9E9-8964-7A7F3A4BF9BF}"/>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F927F930-CBA2-C699-87A6-B7D963F08D35}"/>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sp>
        <p:nvSpPr>
          <p:cNvPr id="3" name="Rectangle 1">
            <a:extLst>
              <a:ext uri="{FF2B5EF4-FFF2-40B4-BE49-F238E27FC236}">
                <a16:creationId xmlns:a16="http://schemas.microsoft.com/office/drawing/2014/main" id="{AA77DA48-9601-3FB9-9A11-035F2387CA04}"/>
              </a:ext>
            </a:extLst>
          </p:cNvPr>
          <p:cNvSpPr>
            <a:spLocks noChangeArrowheads="1"/>
          </p:cNvSpPr>
          <p:nvPr/>
        </p:nvSpPr>
        <p:spPr bwMode="auto">
          <a:xfrm>
            <a:off x="8626" y="1883896"/>
            <a:ext cx="12192001" cy="3900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800" b="1" dirty="0">
                <a:latin typeface="+mj-lt"/>
              </a:rPr>
              <a:t>Option D: Database System — </a:t>
            </a:r>
            <a:r>
              <a:rPr lang="en-US" sz="2800" b="1" dirty="0" err="1">
                <a:latin typeface="+mj-lt"/>
              </a:rPr>
              <a:t>Airtable</a:t>
            </a:r>
            <a:r>
              <a:rPr lang="en-US" sz="2800" b="1" dirty="0">
                <a:latin typeface="+mj-lt"/>
              </a:rPr>
              <a:t> or Excel/Power BI</a:t>
            </a:r>
          </a:p>
          <a:p>
            <a:pPr marL="457200" indent="-457200">
              <a:lnSpc>
                <a:spcPct val="150000"/>
              </a:lnSpc>
              <a:buFont typeface="Arial" panose="020B0604020202020204" pitchFamily="34" charset="0"/>
              <a:buChar char="•"/>
            </a:pPr>
            <a:r>
              <a:rPr lang="en-US" sz="2800" dirty="0">
                <a:latin typeface="+mj-lt"/>
              </a:rPr>
              <a:t>Use </a:t>
            </a:r>
            <a:r>
              <a:rPr lang="en-US" sz="2800" b="1" dirty="0" err="1">
                <a:latin typeface="+mj-lt"/>
              </a:rPr>
              <a:t>Airtable</a:t>
            </a:r>
            <a:r>
              <a:rPr lang="en-US" sz="2800" dirty="0">
                <a:latin typeface="+mj-lt"/>
              </a:rPr>
              <a:t> or </a:t>
            </a:r>
            <a:r>
              <a:rPr lang="en-US" sz="2800" b="1" dirty="0">
                <a:latin typeface="+mj-lt"/>
              </a:rPr>
              <a:t>Excel</a:t>
            </a:r>
            <a:r>
              <a:rPr lang="en-US" sz="2800" dirty="0">
                <a:latin typeface="+mj-lt"/>
              </a:rPr>
              <a:t> to:</a:t>
            </a:r>
          </a:p>
          <a:p>
            <a:pPr marL="914400" lvl="1" indent="-457200">
              <a:lnSpc>
                <a:spcPct val="150000"/>
              </a:lnSpc>
              <a:buFont typeface="Arial" panose="020B0604020202020204" pitchFamily="34" charset="0"/>
              <a:buChar char="•"/>
            </a:pPr>
            <a:r>
              <a:rPr lang="en-US" sz="2800" dirty="0">
                <a:latin typeface="+mj-lt"/>
              </a:rPr>
              <a:t>Store task data</a:t>
            </a:r>
          </a:p>
          <a:p>
            <a:pPr marL="914400" lvl="1" indent="-457200">
              <a:lnSpc>
                <a:spcPct val="150000"/>
              </a:lnSpc>
              <a:buFont typeface="Arial" panose="020B0604020202020204" pitchFamily="34" charset="0"/>
              <a:buChar char="•"/>
            </a:pPr>
            <a:r>
              <a:rPr lang="en-US" sz="2800" dirty="0">
                <a:latin typeface="+mj-lt"/>
              </a:rPr>
              <a:t>Create dashboards showing overdue tasks, completion rate</a:t>
            </a:r>
          </a:p>
          <a:p>
            <a:pPr marL="457200" indent="-457200">
              <a:lnSpc>
                <a:spcPct val="150000"/>
              </a:lnSpc>
              <a:buFont typeface="Arial" panose="020B0604020202020204" pitchFamily="34" charset="0"/>
              <a:buChar char="•"/>
            </a:pPr>
            <a:r>
              <a:rPr lang="en-US" sz="2800" dirty="0">
                <a:latin typeface="+mj-lt"/>
              </a:rPr>
              <a:t>Add mock reports for the “Reports” section in your submission</a:t>
            </a:r>
          </a:p>
          <a:p>
            <a:pPr>
              <a:lnSpc>
                <a:spcPct val="150000"/>
              </a:lnSpc>
            </a:pPr>
            <a:r>
              <a:rPr lang="en-US" sz="2800" i="1" dirty="0">
                <a:latin typeface="+mj-lt"/>
              </a:rPr>
              <a:t>Perfect for demonstrating database structure + system reporting.</a:t>
            </a:r>
            <a:endParaRPr lang="en-US" sz="2800" dirty="0">
              <a:latin typeface="+mj-lt"/>
            </a:endParaRPr>
          </a:p>
        </p:txBody>
      </p:sp>
    </p:spTree>
    <p:extLst>
      <p:ext uri="{BB962C8B-B14F-4D97-AF65-F5344CB8AC3E}">
        <p14:creationId xmlns:p14="http://schemas.microsoft.com/office/powerpoint/2010/main" val="6802907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8900B-84A4-69F9-9E55-DCC6F7ECDB3A}"/>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2CF29533-82C7-80D9-483F-F219E3166EE2}"/>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2DD364BD-2365-9FA5-4E35-D0E5782A8CAA}"/>
              </a:ext>
            </a:extLst>
          </p:cNvPr>
          <p:cNvGraphicFramePr>
            <a:graphicFrameLocks noGrp="1"/>
          </p:cNvGraphicFramePr>
          <p:nvPr>
            <p:extLst>
              <p:ext uri="{D42A27DB-BD31-4B8C-83A1-F6EECF244321}">
                <p14:modId xmlns:p14="http://schemas.microsoft.com/office/powerpoint/2010/main" val="3535418263"/>
              </p:ext>
            </p:extLst>
          </p:nvPr>
        </p:nvGraphicFramePr>
        <p:xfrm>
          <a:off x="457200" y="1884904"/>
          <a:ext cx="10972800" cy="7192518"/>
        </p:xfrm>
        <a:graphic>
          <a:graphicData uri="http://schemas.openxmlformats.org/drawingml/2006/table">
            <a:tbl>
              <a:tblPr>
                <a:tableStyleId>{ED083AE6-46FA-4A59-8FB0-9F97EB10719F}</a:tableStyleId>
              </a:tblPr>
              <a:tblGrid>
                <a:gridCol w="5486400">
                  <a:extLst>
                    <a:ext uri="{9D8B030D-6E8A-4147-A177-3AD203B41FA5}">
                      <a16:colId xmlns:a16="http://schemas.microsoft.com/office/drawing/2014/main" val="3232836376"/>
                    </a:ext>
                  </a:extLst>
                </a:gridCol>
                <a:gridCol w="5486400">
                  <a:extLst>
                    <a:ext uri="{9D8B030D-6E8A-4147-A177-3AD203B41FA5}">
                      <a16:colId xmlns:a16="http://schemas.microsoft.com/office/drawing/2014/main" val="644046537"/>
                    </a:ext>
                  </a:extLst>
                </a:gridCol>
              </a:tblGrid>
              <a:tr h="0">
                <a:tc>
                  <a:txBody>
                    <a:bodyPr/>
                    <a:lstStyle/>
                    <a:p>
                      <a:pPr>
                        <a:lnSpc>
                          <a:spcPct val="150000"/>
                        </a:lnSpc>
                      </a:pPr>
                      <a:r>
                        <a:rPr lang="en-US" sz="2800" dirty="0"/>
                        <a:t>Section</a:t>
                      </a:r>
                    </a:p>
                  </a:txBody>
                  <a:tcPr anchor="ctr">
                    <a:solidFill>
                      <a:schemeClr val="accent4">
                        <a:lumMod val="20000"/>
                        <a:lumOff val="80000"/>
                      </a:schemeClr>
                    </a:solidFill>
                  </a:tcPr>
                </a:tc>
                <a:tc>
                  <a:txBody>
                    <a:bodyPr/>
                    <a:lstStyle/>
                    <a:p>
                      <a:pPr>
                        <a:lnSpc>
                          <a:spcPct val="150000"/>
                        </a:lnSpc>
                      </a:pPr>
                      <a:r>
                        <a:rPr lang="en-US" sz="2800" dirty="0"/>
                        <a:t>What to Include</a:t>
                      </a:r>
                    </a:p>
                  </a:txBody>
                  <a:tcPr anchor="ctr">
                    <a:solidFill>
                      <a:schemeClr val="accent4">
                        <a:lumMod val="20000"/>
                        <a:lumOff val="80000"/>
                      </a:schemeClr>
                    </a:solidFill>
                  </a:tcPr>
                </a:tc>
                <a:extLst>
                  <a:ext uri="{0D108BD9-81ED-4DB2-BD59-A6C34878D82A}">
                    <a16:rowId xmlns:a16="http://schemas.microsoft.com/office/drawing/2014/main" val="612151881"/>
                  </a:ext>
                </a:extLst>
              </a:tr>
              <a:tr h="0">
                <a:tc>
                  <a:txBody>
                    <a:bodyPr/>
                    <a:lstStyle/>
                    <a:p>
                      <a:pPr>
                        <a:lnSpc>
                          <a:spcPct val="150000"/>
                        </a:lnSpc>
                      </a:pPr>
                      <a:r>
                        <a:rPr lang="en-US" sz="2800" b="1"/>
                        <a:t>Module Hierarchy</a:t>
                      </a:r>
                      <a:endParaRPr lang="en-US" sz="2800"/>
                    </a:p>
                  </a:txBody>
                  <a:tcPr anchor="ctr"/>
                </a:tc>
                <a:tc>
                  <a:txBody>
                    <a:bodyPr/>
                    <a:lstStyle/>
                    <a:p>
                      <a:pPr>
                        <a:lnSpc>
                          <a:spcPct val="150000"/>
                        </a:lnSpc>
                      </a:pPr>
                      <a:r>
                        <a:rPr lang="en-US" sz="2800"/>
                        <a:t>Task Manager → Add Task, View Task, Delete Task, Reports</a:t>
                      </a:r>
                    </a:p>
                  </a:txBody>
                  <a:tcPr anchor="ctr"/>
                </a:tc>
                <a:extLst>
                  <a:ext uri="{0D108BD9-81ED-4DB2-BD59-A6C34878D82A}">
                    <a16:rowId xmlns:a16="http://schemas.microsoft.com/office/drawing/2014/main" val="13346494"/>
                  </a:ext>
                </a:extLst>
              </a:tr>
              <a:tr h="0">
                <a:tc>
                  <a:txBody>
                    <a:bodyPr/>
                    <a:lstStyle/>
                    <a:p>
                      <a:pPr>
                        <a:lnSpc>
                          <a:spcPct val="150000"/>
                        </a:lnSpc>
                      </a:pPr>
                      <a:r>
                        <a:rPr lang="en-US" sz="2800" b="1"/>
                        <a:t>Mock-up Screens</a:t>
                      </a:r>
                      <a:endParaRPr lang="en-US" sz="2800"/>
                    </a:p>
                  </a:txBody>
                  <a:tcPr anchor="ctr"/>
                </a:tc>
                <a:tc>
                  <a:txBody>
                    <a:bodyPr/>
                    <a:lstStyle/>
                    <a:p>
                      <a:pPr>
                        <a:lnSpc>
                          <a:spcPct val="150000"/>
                        </a:lnSpc>
                      </a:pPr>
                      <a:r>
                        <a:rPr lang="en-US" sz="2800"/>
                        <a:t>Screens for Add Task, Edit Task, View Tasks, Reports</a:t>
                      </a:r>
                    </a:p>
                  </a:txBody>
                  <a:tcPr anchor="ctr"/>
                </a:tc>
                <a:extLst>
                  <a:ext uri="{0D108BD9-81ED-4DB2-BD59-A6C34878D82A}">
                    <a16:rowId xmlns:a16="http://schemas.microsoft.com/office/drawing/2014/main" val="847288998"/>
                  </a:ext>
                </a:extLst>
              </a:tr>
              <a:tr h="0">
                <a:tc>
                  <a:txBody>
                    <a:bodyPr/>
                    <a:lstStyle/>
                    <a:p>
                      <a:pPr>
                        <a:lnSpc>
                          <a:spcPct val="150000"/>
                        </a:lnSpc>
                      </a:pPr>
                      <a:r>
                        <a:rPr lang="en-US" sz="2800" b="1"/>
                        <a:t>Reports</a:t>
                      </a:r>
                      <a:endParaRPr lang="en-US" sz="2800"/>
                    </a:p>
                  </a:txBody>
                  <a:tcPr anchor="ctr"/>
                </a:tc>
                <a:tc>
                  <a:txBody>
                    <a:bodyPr/>
                    <a:lstStyle/>
                    <a:p>
                      <a:pPr>
                        <a:lnSpc>
                          <a:spcPct val="150000"/>
                        </a:lnSpc>
                      </a:pPr>
                      <a:r>
                        <a:rPr lang="en-US" sz="2800"/>
                        <a:t>Charts: % of tasks done, upcoming tasks, etc.</a:t>
                      </a:r>
                    </a:p>
                  </a:txBody>
                  <a:tcPr anchor="ctr"/>
                </a:tc>
                <a:extLst>
                  <a:ext uri="{0D108BD9-81ED-4DB2-BD59-A6C34878D82A}">
                    <a16:rowId xmlns:a16="http://schemas.microsoft.com/office/drawing/2014/main" val="3859233091"/>
                  </a:ext>
                </a:extLst>
              </a:tr>
              <a:tr h="0">
                <a:tc>
                  <a:txBody>
                    <a:bodyPr/>
                    <a:lstStyle/>
                    <a:p>
                      <a:pPr>
                        <a:lnSpc>
                          <a:spcPct val="150000"/>
                        </a:lnSpc>
                      </a:pPr>
                      <a:r>
                        <a:rPr lang="en-US" sz="2800" b="1"/>
                        <a:t>Documentation</a:t>
                      </a:r>
                      <a:endParaRPr lang="en-US" sz="2800"/>
                    </a:p>
                  </a:txBody>
                  <a:tcPr anchor="ctr"/>
                </a:tc>
                <a:tc>
                  <a:txBody>
                    <a:bodyPr/>
                    <a:lstStyle/>
                    <a:p>
                      <a:pPr>
                        <a:lnSpc>
                          <a:spcPct val="150000"/>
                        </a:lnSpc>
                      </a:pPr>
                      <a:r>
                        <a:rPr lang="en-US" sz="2800"/>
                        <a:t>How the system works, how users interact with it</a:t>
                      </a:r>
                    </a:p>
                  </a:txBody>
                  <a:tcPr anchor="ctr"/>
                </a:tc>
                <a:extLst>
                  <a:ext uri="{0D108BD9-81ED-4DB2-BD59-A6C34878D82A}">
                    <a16:rowId xmlns:a16="http://schemas.microsoft.com/office/drawing/2014/main" val="3864439868"/>
                  </a:ext>
                </a:extLst>
              </a:tr>
              <a:tr h="0">
                <a:tc>
                  <a:txBody>
                    <a:bodyPr/>
                    <a:lstStyle/>
                    <a:p>
                      <a:pPr>
                        <a:lnSpc>
                          <a:spcPct val="150000"/>
                        </a:lnSpc>
                      </a:pPr>
                      <a:r>
                        <a:rPr lang="en-US" sz="2800" b="1"/>
                        <a:t>Implementation &amp; Testing</a:t>
                      </a:r>
                      <a:endParaRPr lang="en-US" sz="2800"/>
                    </a:p>
                  </a:txBody>
                  <a:tcPr anchor="ctr"/>
                </a:tc>
                <a:tc>
                  <a:txBody>
                    <a:bodyPr/>
                    <a:lstStyle/>
                    <a:p>
                      <a:pPr>
                        <a:lnSpc>
                          <a:spcPct val="150000"/>
                        </a:lnSpc>
                      </a:pPr>
                      <a:r>
                        <a:rPr lang="en-US" sz="2800" dirty="0"/>
                        <a:t>Show screenshots, note bugs/fixes, describe how you tested it</a:t>
                      </a:r>
                    </a:p>
                  </a:txBody>
                  <a:tcPr anchor="ctr"/>
                </a:tc>
                <a:extLst>
                  <a:ext uri="{0D108BD9-81ED-4DB2-BD59-A6C34878D82A}">
                    <a16:rowId xmlns:a16="http://schemas.microsoft.com/office/drawing/2014/main" val="2640396370"/>
                  </a:ext>
                </a:extLst>
              </a:tr>
            </a:tbl>
          </a:graphicData>
        </a:graphic>
      </p:graphicFrame>
      <p:sp>
        <p:nvSpPr>
          <p:cNvPr id="4" name="Rectangle 1">
            <a:extLst>
              <a:ext uri="{FF2B5EF4-FFF2-40B4-BE49-F238E27FC236}">
                <a16:creationId xmlns:a16="http://schemas.microsoft.com/office/drawing/2014/main" id="{80481BFC-35E1-CACF-40ED-B9F9BE030FD3}"/>
              </a:ext>
            </a:extLst>
          </p:cNvPr>
          <p:cNvSpPr>
            <a:spLocks noChangeArrowheads="1"/>
          </p:cNvSpPr>
          <p:nvPr/>
        </p:nvSpPr>
        <p:spPr bwMode="auto">
          <a:xfrm>
            <a:off x="0" y="1061842"/>
            <a:ext cx="696056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Prototype Elements to Include in Your Report</a:t>
            </a:r>
          </a:p>
        </p:txBody>
      </p:sp>
    </p:spTree>
    <p:extLst>
      <p:ext uri="{BB962C8B-B14F-4D97-AF65-F5344CB8AC3E}">
        <p14:creationId xmlns:p14="http://schemas.microsoft.com/office/powerpoint/2010/main" val="30834383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3078-57D8-87CF-D345-777726BA6F91}"/>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EAE1A793-5CF1-F365-8DC7-B9D63F8AE269}"/>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graphicFrame>
        <p:nvGraphicFramePr>
          <p:cNvPr id="3" name="Table 2">
            <a:extLst>
              <a:ext uri="{FF2B5EF4-FFF2-40B4-BE49-F238E27FC236}">
                <a16:creationId xmlns:a16="http://schemas.microsoft.com/office/drawing/2014/main" id="{873EFC10-137E-049C-C112-48E9751B69EF}"/>
              </a:ext>
            </a:extLst>
          </p:cNvPr>
          <p:cNvGraphicFramePr>
            <a:graphicFrameLocks noGrp="1"/>
          </p:cNvGraphicFramePr>
          <p:nvPr>
            <p:extLst>
              <p:ext uri="{D42A27DB-BD31-4B8C-83A1-F6EECF244321}">
                <p14:modId xmlns:p14="http://schemas.microsoft.com/office/powerpoint/2010/main" val="1067545617"/>
              </p:ext>
            </p:extLst>
          </p:nvPr>
        </p:nvGraphicFramePr>
        <p:xfrm>
          <a:off x="609600" y="2103438"/>
          <a:ext cx="10972800" cy="7376160"/>
        </p:xfrm>
        <a:graphic>
          <a:graphicData uri="http://schemas.openxmlformats.org/drawingml/2006/table">
            <a:tbl>
              <a:tblPr>
                <a:tableStyleId>{ED083AE6-46FA-4A59-8FB0-9F97EB10719F}</a:tableStyleId>
              </a:tblPr>
              <a:tblGrid>
                <a:gridCol w="3505200">
                  <a:extLst>
                    <a:ext uri="{9D8B030D-6E8A-4147-A177-3AD203B41FA5}">
                      <a16:colId xmlns:a16="http://schemas.microsoft.com/office/drawing/2014/main" val="3039992493"/>
                    </a:ext>
                  </a:extLst>
                </a:gridCol>
                <a:gridCol w="7467600">
                  <a:extLst>
                    <a:ext uri="{9D8B030D-6E8A-4147-A177-3AD203B41FA5}">
                      <a16:colId xmlns:a16="http://schemas.microsoft.com/office/drawing/2014/main" val="2924237123"/>
                    </a:ext>
                  </a:extLst>
                </a:gridCol>
              </a:tblGrid>
              <a:tr h="0">
                <a:tc>
                  <a:txBody>
                    <a:bodyPr/>
                    <a:lstStyle/>
                    <a:p>
                      <a:r>
                        <a:rPr lang="en-US" sz="2800" b="1"/>
                        <a:t>Assessment Section</a:t>
                      </a:r>
                      <a:endParaRPr lang="en-US" sz="2800"/>
                    </a:p>
                  </a:txBody>
                  <a:tcPr anchor="ctr"/>
                </a:tc>
                <a:tc>
                  <a:txBody>
                    <a:bodyPr/>
                    <a:lstStyle/>
                    <a:p>
                      <a:r>
                        <a:rPr lang="en-US" sz="2800" b="1"/>
                        <a:t>How Your To-Do List Project Covers It</a:t>
                      </a:r>
                      <a:endParaRPr lang="en-US" sz="2800"/>
                    </a:p>
                  </a:txBody>
                  <a:tcPr anchor="ctr"/>
                </a:tc>
                <a:extLst>
                  <a:ext uri="{0D108BD9-81ED-4DB2-BD59-A6C34878D82A}">
                    <a16:rowId xmlns:a16="http://schemas.microsoft.com/office/drawing/2014/main" val="1610177575"/>
                  </a:ext>
                </a:extLst>
              </a:tr>
              <a:tr h="0">
                <a:tc>
                  <a:txBody>
                    <a:bodyPr/>
                    <a:lstStyle/>
                    <a:p>
                      <a:r>
                        <a:rPr lang="en-US" sz="2800" b="1"/>
                        <a:t>1. Module Hierarchy</a:t>
                      </a:r>
                      <a:endParaRPr lang="en-US" sz="2800"/>
                    </a:p>
                  </a:txBody>
                  <a:tcPr anchor="ctr"/>
                </a:tc>
                <a:tc>
                  <a:txBody>
                    <a:bodyPr/>
                    <a:lstStyle/>
                    <a:p>
                      <a:r>
                        <a:rPr lang="en-US" sz="2800"/>
                        <a:t>Define modules like: User Interface → Task Manager → Add Task, Edit Task, Delete Task, View Reports.</a:t>
                      </a:r>
                    </a:p>
                  </a:txBody>
                  <a:tcPr anchor="ctr"/>
                </a:tc>
                <a:extLst>
                  <a:ext uri="{0D108BD9-81ED-4DB2-BD59-A6C34878D82A}">
                    <a16:rowId xmlns:a16="http://schemas.microsoft.com/office/drawing/2014/main" val="1296328105"/>
                  </a:ext>
                </a:extLst>
              </a:tr>
              <a:tr h="0">
                <a:tc>
                  <a:txBody>
                    <a:bodyPr/>
                    <a:lstStyle/>
                    <a:p>
                      <a:r>
                        <a:rPr lang="en-US" sz="2800" b="1"/>
                        <a:t>2. Mock-up Screens</a:t>
                      </a:r>
                      <a:endParaRPr lang="en-US" sz="2800"/>
                    </a:p>
                  </a:txBody>
                  <a:tcPr anchor="ctr"/>
                </a:tc>
                <a:tc>
                  <a:txBody>
                    <a:bodyPr/>
                    <a:lstStyle/>
                    <a:p>
                      <a:r>
                        <a:rPr lang="en-US" sz="2800"/>
                        <a:t>Design using Figma, Google Sites, or Thunkable to create UI for each screen (Add Task, View Task, Reports).</a:t>
                      </a:r>
                    </a:p>
                  </a:txBody>
                  <a:tcPr anchor="ctr"/>
                </a:tc>
                <a:extLst>
                  <a:ext uri="{0D108BD9-81ED-4DB2-BD59-A6C34878D82A}">
                    <a16:rowId xmlns:a16="http://schemas.microsoft.com/office/drawing/2014/main" val="1375901858"/>
                  </a:ext>
                </a:extLst>
              </a:tr>
              <a:tr h="0">
                <a:tc>
                  <a:txBody>
                    <a:bodyPr/>
                    <a:lstStyle/>
                    <a:p>
                      <a:r>
                        <a:rPr lang="en-US" sz="2800" b="1"/>
                        <a:t>3. Reports</a:t>
                      </a:r>
                      <a:endParaRPr lang="en-US" sz="2800"/>
                    </a:p>
                  </a:txBody>
                  <a:tcPr anchor="ctr"/>
                </a:tc>
                <a:tc>
                  <a:txBody>
                    <a:bodyPr/>
                    <a:lstStyle/>
                    <a:p>
                      <a:r>
                        <a:rPr lang="en-US" sz="2800"/>
                        <a:t>Create mock reports using Excel, Power BI, or Airtable — e.g., Completed Tasks %, Overdue Tasks, Tasks per Category.</a:t>
                      </a:r>
                    </a:p>
                  </a:txBody>
                  <a:tcPr anchor="ctr"/>
                </a:tc>
                <a:extLst>
                  <a:ext uri="{0D108BD9-81ED-4DB2-BD59-A6C34878D82A}">
                    <a16:rowId xmlns:a16="http://schemas.microsoft.com/office/drawing/2014/main" val="3960126255"/>
                  </a:ext>
                </a:extLst>
              </a:tr>
              <a:tr h="0">
                <a:tc>
                  <a:txBody>
                    <a:bodyPr/>
                    <a:lstStyle/>
                    <a:p>
                      <a:r>
                        <a:rPr lang="en-US" sz="2800" b="1"/>
                        <a:t>4. Documentation &amp; User Manual</a:t>
                      </a:r>
                      <a:endParaRPr lang="en-US" sz="2800"/>
                    </a:p>
                  </a:txBody>
                  <a:tcPr anchor="ctr"/>
                </a:tc>
                <a:tc>
                  <a:txBody>
                    <a:bodyPr/>
                    <a:lstStyle/>
                    <a:p>
                      <a:r>
                        <a:rPr lang="en-US" sz="2800"/>
                        <a:t>Write a section explaining how users interact with the system, including error messages, help info, and printed/manual options.</a:t>
                      </a:r>
                    </a:p>
                  </a:txBody>
                  <a:tcPr anchor="ctr"/>
                </a:tc>
                <a:extLst>
                  <a:ext uri="{0D108BD9-81ED-4DB2-BD59-A6C34878D82A}">
                    <a16:rowId xmlns:a16="http://schemas.microsoft.com/office/drawing/2014/main" val="3868984412"/>
                  </a:ext>
                </a:extLst>
              </a:tr>
              <a:tr h="0">
                <a:tc>
                  <a:txBody>
                    <a:bodyPr/>
                    <a:lstStyle/>
                    <a:p>
                      <a:r>
                        <a:rPr lang="en-US" sz="2800" b="1"/>
                        <a:t>5. Implementation &amp; Testing</a:t>
                      </a:r>
                      <a:endParaRPr lang="en-US" sz="2800"/>
                    </a:p>
                  </a:txBody>
                  <a:tcPr anchor="ctr"/>
                </a:tc>
                <a:tc>
                  <a:txBody>
                    <a:bodyPr/>
                    <a:lstStyle/>
                    <a:p>
                      <a:r>
                        <a:rPr lang="en-US" sz="2800" dirty="0"/>
                        <a:t>Describe tools used, testing steps (e.g., added 5 tasks, deleted 1, marked 2 completed), and any bugs or improvements.</a:t>
                      </a:r>
                    </a:p>
                  </a:txBody>
                  <a:tcPr anchor="ctr"/>
                </a:tc>
                <a:extLst>
                  <a:ext uri="{0D108BD9-81ED-4DB2-BD59-A6C34878D82A}">
                    <a16:rowId xmlns:a16="http://schemas.microsoft.com/office/drawing/2014/main" val="496053740"/>
                  </a:ext>
                </a:extLst>
              </a:tr>
            </a:tbl>
          </a:graphicData>
        </a:graphic>
      </p:graphicFrame>
      <p:sp>
        <p:nvSpPr>
          <p:cNvPr id="5" name="Rectangle 1">
            <a:extLst>
              <a:ext uri="{FF2B5EF4-FFF2-40B4-BE49-F238E27FC236}">
                <a16:creationId xmlns:a16="http://schemas.microsoft.com/office/drawing/2014/main" id="{931DD7AC-CF7D-C3A8-1548-A04C3D0671AD}"/>
              </a:ext>
            </a:extLst>
          </p:cNvPr>
          <p:cNvSpPr>
            <a:spLocks noChangeArrowheads="1"/>
          </p:cNvSpPr>
          <p:nvPr/>
        </p:nvSpPr>
        <p:spPr bwMode="auto">
          <a:xfrm>
            <a:off x="8626" y="990600"/>
            <a:ext cx="925445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Assessment Requirements vs. To-Do List Project Deliverables</a:t>
            </a:r>
          </a:p>
        </p:txBody>
      </p:sp>
    </p:spTree>
    <p:extLst>
      <p:ext uri="{BB962C8B-B14F-4D97-AF65-F5344CB8AC3E}">
        <p14:creationId xmlns:p14="http://schemas.microsoft.com/office/powerpoint/2010/main" val="15153918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57753-6B27-603B-B7B5-267F69B8A827}"/>
            </a:ext>
          </a:extLst>
        </p:cNvPr>
        <p:cNvGrpSpPr/>
        <p:nvPr/>
      </p:nvGrpSpPr>
      <p:grpSpPr>
        <a:xfrm>
          <a:off x="0" y="0"/>
          <a:ext cx="0" cy="0"/>
          <a:chOff x="0" y="0"/>
          <a:chExt cx="0" cy="0"/>
        </a:xfrm>
      </p:grpSpPr>
      <p:sp>
        <p:nvSpPr>
          <p:cNvPr id="8" name="Title 22">
            <a:extLst>
              <a:ext uri="{FF2B5EF4-FFF2-40B4-BE49-F238E27FC236}">
                <a16:creationId xmlns:a16="http://schemas.microsoft.com/office/drawing/2014/main" id="{D42D2CA3-C2CA-0BB8-1FAB-E7480F5E50C2}"/>
              </a:ext>
            </a:extLst>
          </p:cNvPr>
          <p:cNvSpPr>
            <a:spLocks noGrp="1"/>
          </p:cNvSpPr>
          <p:nvPr>
            <p:ph type="ctrTitle"/>
          </p:nvPr>
        </p:nvSpPr>
        <p:spPr>
          <a:xfrm>
            <a:off x="8626" y="12941"/>
            <a:ext cx="12192000" cy="749059"/>
          </a:xfrm>
          <a:solidFill>
            <a:schemeClr val="bg1"/>
          </a:solidFill>
        </p:spPr>
        <p:txBody>
          <a:bodyPr>
            <a:noAutofit/>
          </a:bodyPr>
          <a:lstStyle/>
          <a:p>
            <a:pPr algn="l"/>
            <a:r>
              <a:rPr lang="en-US" sz="3600" dirty="0">
                <a:latin typeface="Calibri" panose="020F0502020204030204" pitchFamily="34" charset="0"/>
                <a:cs typeface="Calibri" panose="020F0502020204030204" pitchFamily="34" charset="0"/>
              </a:rPr>
              <a:t>Example) </a:t>
            </a:r>
            <a:r>
              <a:rPr lang="pl-PL" sz="3600" dirty="0">
                <a:latin typeface="Calibri" panose="020F0502020204030204" pitchFamily="34" charset="0"/>
                <a:cs typeface="Calibri" panose="020F0502020204030204" pitchFamily="34" charset="0"/>
              </a:rPr>
              <a:t>To-Do List System — Prototype Plan</a:t>
            </a:r>
            <a:endParaRPr lang="en-US" sz="3600" dirty="0">
              <a:highlight>
                <a:srgbClr val="FFFF00"/>
              </a:highlight>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6DFA0A91-AC08-C024-1716-FF811849D8E1}"/>
              </a:ext>
            </a:extLst>
          </p:cNvPr>
          <p:cNvGraphicFramePr>
            <a:graphicFrameLocks noGrp="1"/>
          </p:cNvGraphicFramePr>
          <p:nvPr>
            <p:extLst>
              <p:ext uri="{D42A27DB-BD31-4B8C-83A1-F6EECF244321}">
                <p14:modId xmlns:p14="http://schemas.microsoft.com/office/powerpoint/2010/main" val="4185170338"/>
              </p:ext>
            </p:extLst>
          </p:nvPr>
        </p:nvGraphicFramePr>
        <p:xfrm>
          <a:off x="45497" y="1578220"/>
          <a:ext cx="12070303" cy="8472678"/>
        </p:xfrm>
        <a:graphic>
          <a:graphicData uri="http://schemas.openxmlformats.org/drawingml/2006/table">
            <a:tbl>
              <a:tblPr>
                <a:tableStyleId>{ED083AE6-46FA-4A59-8FB0-9F97EB10719F}</a:tableStyleId>
              </a:tblPr>
              <a:tblGrid>
                <a:gridCol w="3048000">
                  <a:extLst>
                    <a:ext uri="{9D8B030D-6E8A-4147-A177-3AD203B41FA5}">
                      <a16:colId xmlns:a16="http://schemas.microsoft.com/office/drawing/2014/main" val="1134365577"/>
                    </a:ext>
                  </a:extLst>
                </a:gridCol>
                <a:gridCol w="9022303">
                  <a:extLst>
                    <a:ext uri="{9D8B030D-6E8A-4147-A177-3AD203B41FA5}">
                      <a16:colId xmlns:a16="http://schemas.microsoft.com/office/drawing/2014/main" val="535751534"/>
                    </a:ext>
                  </a:extLst>
                </a:gridCol>
              </a:tblGrid>
              <a:tr h="0">
                <a:tc>
                  <a:txBody>
                    <a:bodyPr/>
                    <a:lstStyle/>
                    <a:p>
                      <a:pPr>
                        <a:lnSpc>
                          <a:spcPct val="150000"/>
                        </a:lnSpc>
                      </a:pPr>
                      <a:r>
                        <a:rPr lang="en-US" sz="2800" b="1"/>
                        <a:t>Marking Criteria</a:t>
                      </a:r>
                      <a:endParaRPr lang="en-US" sz="2800"/>
                    </a:p>
                  </a:txBody>
                  <a:tcPr anchor="ctr"/>
                </a:tc>
                <a:tc>
                  <a:txBody>
                    <a:bodyPr/>
                    <a:lstStyle/>
                    <a:p>
                      <a:pPr>
                        <a:lnSpc>
                          <a:spcPct val="150000"/>
                        </a:lnSpc>
                      </a:pPr>
                      <a:r>
                        <a:rPr lang="en-US" sz="2800" b="1"/>
                        <a:t>How Your To-Do List Project Can Meet It</a:t>
                      </a:r>
                      <a:endParaRPr lang="en-US" sz="2800"/>
                    </a:p>
                  </a:txBody>
                  <a:tcPr anchor="ctr"/>
                </a:tc>
                <a:extLst>
                  <a:ext uri="{0D108BD9-81ED-4DB2-BD59-A6C34878D82A}">
                    <a16:rowId xmlns:a16="http://schemas.microsoft.com/office/drawing/2014/main" val="3746834011"/>
                  </a:ext>
                </a:extLst>
              </a:tr>
              <a:tr h="0">
                <a:tc>
                  <a:txBody>
                    <a:bodyPr/>
                    <a:lstStyle/>
                    <a:p>
                      <a:pPr>
                        <a:lnSpc>
                          <a:spcPct val="150000"/>
                        </a:lnSpc>
                      </a:pPr>
                      <a:r>
                        <a:rPr lang="en-US" sz="2800" b="1"/>
                        <a:t>Design &amp; Creativity</a:t>
                      </a:r>
                      <a:endParaRPr lang="en-US" sz="2800"/>
                    </a:p>
                  </a:txBody>
                  <a:tcPr anchor="ctr"/>
                </a:tc>
                <a:tc>
                  <a:txBody>
                    <a:bodyPr/>
                    <a:lstStyle/>
                    <a:p>
                      <a:pPr>
                        <a:lnSpc>
                          <a:spcPct val="150000"/>
                        </a:lnSpc>
                      </a:pPr>
                      <a:r>
                        <a:rPr lang="en-US" sz="2800"/>
                        <a:t>Well-designed screens (e.g. in Figma or Thunkable) with clean layout, smart use of fonts, colors, and flow.</a:t>
                      </a:r>
                    </a:p>
                  </a:txBody>
                  <a:tcPr anchor="ctr"/>
                </a:tc>
                <a:extLst>
                  <a:ext uri="{0D108BD9-81ED-4DB2-BD59-A6C34878D82A}">
                    <a16:rowId xmlns:a16="http://schemas.microsoft.com/office/drawing/2014/main" val="3386414686"/>
                  </a:ext>
                </a:extLst>
              </a:tr>
              <a:tr h="0">
                <a:tc>
                  <a:txBody>
                    <a:bodyPr/>
                    <a:lstStyle/>
                    <a:p>
                      <a:pPr>
                        <a:lnSpc>
                          <a:spcPct val="150000"/>
                        </a:lnSpc>
                      </a:pPr>
                      <a:r>
                        <a:rPr lang="en-US" sz="2800" b="1"/>
                        <a:t>Professionalism</a:t>
                      </a:r>
                      <a:endParaRPr lang="en-US" sz="2800"/>
                    </a:p>
                  </a:txBody>
                  <a:tcPr anchor="ctr"/>
                </a:tc>
                <a:tc>
                  <a:txBody>
                    <a:bodyPr/>
                    <a:lstStyle/>
                    <a:p>
                      <a:pPr>
                        <a:lnSpc>
                          <a:spcPct val="150000"/>
                        </a:lnSpc>
                      </a:pPr>
                      <a:r>
                        <a:rPr lang="en-US" sz="2800"/>
                        <a:t>Present the system as if it's ready for a startup or productivity app — make it user-friendly, modern, and usable.</a:t>
                      </a:r>
                    </a:p>
                  </a:txBody>
                  <a:tcPr anchor="ctr"/>
                </a:tc>
                <a:extLst>
                  <a:ext uri="{0D108BD9-81ED-4DB2-BD59-A6C34878D82A}">
                    <a16:rowId xmlns:a16="http://schemas.microsoft.com/office/drawing/2014/main" val="3898607748"/>
                  </a:ext>
                </a:extLst>
              </a:tr>
              <a:tr h="0">
                <a:tc>
                  <a:txBody>
                    <a:bodyPr/>
                    <a:lstStyle/>
                    <a:p>
                      <a:pPr>
                        <a:lnSpc>
                          <a:spcPct val="150000"/>
                        </a:lnSpc>
                      </a:pPr>
                      <a:r>
                        <a:rPr lang="en-US" sz="2800" b="1" dirty="0"/>
                        <a:t>Software Skills</a:t>
                      </a:r>
                      <a:endParaRPr lang="en-US" sz="2800" dirty="0"/>
                    </a:p>
                  </a:txBody>
                  <a:tcPr anchor="ctr"/>
                </a:tc>
                <a:tc>
                  <a:txBody>
                    <a:bodyPr/>
                    <a:lstStyle/>
                    <a:p>
                      <a:pPr>
                        <a:lnSpc>
                          <a:spcPct val="150000"/>
                        </a:lnSpc>
                      </a:pPr>
                      <a:r>
                        <a:rPr lang="en-US" sz="2800"/>
                        <a:t>Use of tools like Figma, Power BI, Thunkable, or Airtable shows understanding of interface design, databases, and system logic.</a:t>
                      </a:r>
                    </a:p>
                  </a:txBody>
                  <a:tcPr anchor="ctr"/>
                </a:tc>
                <a:extLst>
                  <a:ext uri="{0D108BD9-81ED-4DB2-BD59-A6C34878D82A}">
                    <a16:rowId xmlns:a16="http://schemas.microsoft.com/office/drawing/2014/main" val="1426307651"/>
                  </a:ext>
                </a:extLst>
              </a:tr>
              <a:tr h="0">
                <a:tc>
                  <a:txBody>
                    <a:bodyPr/>
                    <a:lstStyle/>
                    <a:p>
                      <a:pPr>
                        <a:lnSpc>
                          <a:spcPct val="150000"/>
                        </a:lnSpc>
                      </a:pPr>
                      <a:r>
                        <a:rPr lang="en-US" sz="2800" b="1"/>
                        <a:t>Testing</a:t>
                      </a:r>
                      <a:endParaRPr lang="en-US" sz="2800"/>
                    </a:p>
                  </a:txBody>
                  <a:tcPr anchor="ctr"/>
                </a:tc>
                <a:tc>
                  <a:txBody>
                    <a:bodyPr/>
                    <a:lstStyle/>
                    <a:p>
                      <a:pPr>
                        <a:lnSpc>
                          <a:spcPct val="150000"/>
                        </a:lnSpc>
                      </a:pPr>
                      <a:r>
                        <a:rPr lang="en-US" sz="2800"/>
                        <a:t>Include details about what worked, what failed, and what fixes or redesigns were made during your testing process.</a:t>
                      </a:r>
                    </a:p>
                  </a:txBody>
                  <a:tcPr anchor="ctr"/>
                </a:tc>
                <a:extLst>
                  <a:ext uri="{0D108BD9-81ED-4DB2-BD59-A6C34878D82A}">
                    <a16:rowId xmlns:a16="http://schemas.microsoft.com/office/drawing/2014/main" val="3192650934"/>
                  </a:ext>
                </a:extLst>
              </a:tr>
              <a:tr h="0">
                <a:tc>
                  <a:txBody>
                    <a:bodyPr/>
                    <a:lstStyle/>
                    <a:p>
                      <a:pPr>
                        <a:lnSpc>
                          <a:spcPct val="150000"/>
                        </a:lnSpc>
                      </a:pPr>
                      <a:r>
                        <a:rPr lang="en-US" sz="2800" b="1"/>
                        <a:t>Documentation</a:t>
                      </a:r>
                      <a:endParaRPr lang="en-US" sz="2800"/>
                    </a:p>
                  </a:txBody>
                  <a:tcPr anchor="ctr"/>
                </a:tc>
                <a:tc>
                  <a:txBody>
                    <a:bodyPr/>
                    <a:lstStyle/>
                    <a:p>
                      <a:pPr>
                        <a:lnSpc>
                          <a:spcPct val="150000"/>
                        </a:lnSpc>
                      </a:pPr>
                      <a:r>
                        <a:rPr lang="en-US" sz="2800" dirty="0"/>
                        <a:t>Add author notes, explanations, and a user manual with screenshots — this is key for full marks.</a:t>
                      </a:r>
                    </a:p>
                  </a:txBody>
                  <a:tcPr anchor="ctr"/>
                </a:tc>
                <a:extLst>
                  <a:ext uri="{0D108BD9-81ED-4DB2-BD59-A6C34878D82A}">
                    <a16:rowId xmlns:a16="http://schemas.microsoft.com/office/drawing/2014/main" val="1336029008"/>
                  </a:ext>
                </a:extLst>
              </a:tr>
            </a:tbl>
          </a:graphicData>
        </a:graphic>
      </p:graphicFrame>
      <p:sp>
        <p:nvSpPr>
          <p:cNvPr id="4" name="Rectangle 1">
            <a:extLst>
              <a:ext uri="{FF2B5EF4-FFF2-40B4-BE49-F238E27FC236}">
                <a16:creationId xmlns:a16="http://schemas.microsoft.com/office/drawing/2014/main" id="{0A082D25-7228-00CB-D44E-5AB7244D6B29}"/>
              </a:ext>
            </a:extLst>
          </p:cNvPr>
          <p:cNvSpPr>
            <a:spLocks noChangeArrowheads="1"/>
          </p:cNvSpPr>
          <p:nvPr/>
        </p:nvSpPr>
        <p:spPr bwMode="auto">
          <a:xfrm>
            <a:off x="45497" y="1006116"/>
            <a:ext cx="722184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mj-lt"/>
              </a:rPr>
              <a:t>Other Marking Criteria Mapped to Your Project</a:t>
            </a:r>
          </a:p>
        </p:txBody>
      </p:sp>
    </p:spTree>
    <p:extLst>
      <p:ext uri="{BB962C8B-B14F-4D97-AF65-F5344CB8AC3E}">
        <p14:creationId xmlns:p14="http://schemas.microsoft.com/office/powerpoint/2010/main" val="31047139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8CDC9-A7F0-B9E3-E9E4-516B619781B9}"/>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D91AB5A2-B21D-66A0-4528-C2C55210EBB0}"/>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45EF6D16-E124-24B9-1D4B-698CF1363FA5}"/>
              </a:ext>
            </a:extLst>
          </p:cNvPr>
          <p:cNvSpPr txBox="1"/>
          <p:nvPr/>
        </p:nvSpPr>
        <p:spPr>
          <a:xfrm>
            <a:off x="0" y="0"/>
            <a:ext cx="11887199" cy="646331"/>
          </a:xfrm>
          <a:prstGeom prst="rect">
            <a:avLst/>
          </a:prstGeom>
          <a:noFill/>
        </p:spPr>
        <p:txBody>
          <a:bodyPr wrap="square">
            <a:spAutoFit/>
          </a:bodyPr>
          <a:lstStyle/>
          <a:p>
            <a:r>
              <a:rPr lang="en-US" sz="3600" b="1" dirty="0"/>
              <a:t>Final Note</a:t>
            </a:r>
          </a:p>
        </p:txBody>
      </p:sp>
      <p:sp>
        <p:nvSpPr>
          <p:cNvPr id="4" name="Rectangle 1">
            <a:extLst>
              <a:ext uri="{FF2B5EF4-FFF2-40B4-BE49-F238E27FC236}">
                <a16:creationId xmlns:a16="http://schemas.microsoft.com/office/drawing/2014/main" id="{0550CBBC-F537-AFEC-634C-56C9DAB14615}"/>
              </a:ext>
            </a:extLst>
          </p:cNvPr>
          <p:cNvSpPr>
            <a:spLocks noChangeArrowheads="1"/>
          </p:cNvSpPr>
          <p:nvPr/>
        </p:nvSpPr>
        <p:spPr bwMode="auto">
          <a:xfrm>
            <a:off x="609600" y="22399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85037F8A-312A-5706-B9D4-BD56C9AD7D90}"/>
              </a:ext>
            </a:extLst>
          </p:cNvPr>
          <p:cNvSpPr>
            <a:spLocks noChangeArrowheads="1"/>
          </p:cNvSpPr>
          <p:nvPr/>
        </p:nvSpPr>
        <p:spPr bwMode="auto">
          <a:xfrm>
            <a:off x="609600" y="2560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63D227C-1D36-DEFE-C2F8-3CA3D97D9231}"/>
              </a:ext>
            </a:extLst>
          </p:cNvPr>
          <p:cNvSpPr>
            <a:spLocks noChangeArrowheads="1"/>
          </p:cNvSpPr>
          <p:nvPr/>
        </p:nvSpPr>
        <p:spPr bwMode="auto">
          <a:xfrm>
            <a:off x="609600" y="2606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4EE1BCA2-620C-3559-3A80-9228DA241173}"/>
              </a:ext>
            </a:extLst>
          </p:cNvPr>
          <p:cNvSpPr txBox="1"/>
          <p:nvPr/>
        </p:nvSpPr>
        <p:spPr>
          <a:xfrm>
            <a:off x="0" y="646331"/>
            <a:ext cx="12192000" cy="6488828"/>
          </a:xfrm>
          <a:prstGeom prst="rect">
            <a:avLst/>
          </a:prstGeom>
          <a:noFill/>
        </p:spPr>
        <p:txBody>
          <a:bodyPr wrap="square">
            <a:spAutoFit/>
          </a:bodyPr>
          <a:lstStyle/>
          <a:p>
            <a:pPr>
              <a:lnSpc>
                <a:spcPct val="150000"/>
              </a:lnSpc>
            </a:pPr>
            <a:r>
              <a:rPr lang="en-US" sz="2800" dirty="0">
                <a:latin typeface="+mj-lt"/>
              </a:rPr>
              <a:t>The </a:t>
            </a:r>
            <a:r>
              <a:rPr lang="en-US" sz="2800" b="1" dirty="0">
                <a:latin typeface="+mj-lt"/>
              </a:rPr>
              <a:t>instruction of the Solution Prototype on the Blackboard is the formal </a:t>
            </a:r>
            <a:br>
              <a:rPr lang="en-US" sz="2800" b="1" dirty="0">
                <a:latin typeface="+mj-lt"/>
              </a:rPr>
            </a:br>
            <a:r>
              <a:rPr lang="en-US" sz="2800" b="1" dirty="0">
                <a:latin typeface="+mj-lt"/>
              </a:rPr>
              <a:t>and assessable requirement</a:t>
            </a:r>
            <a:r>
              <a:rPr lang="en-US" sz="2800" dirty="0">
                <a:latin typeface="+mj-lt"/>
              </a:rPr>
              <a:t> as outlined in the unit guide and rubric. The expectation is that your team demonstrates a complete understanding of system design and development principles through deliverables such as:</a:t>
            </a:r>
          </a:p>
          <a:p>
            <a:pPr marL="825500" lvl="2" indent="-457200">
              <a:lnSpc>
                <a:spcPct val="150000"/>
              </a:lnSpc>
              <a:buFont typeface="Arial" panose="020B0604020202020204" pitchFamily="34" charset="0"/>
              <a:buChar char="•"/>
            </a:pPr>
            <a:r>
              <a:rPr lang="en-US" sz="2800" dirty="0">
                <a:latin typeface="+mj-lt"/>
              </a:rPr>
              <a:t>Module hierarchy</a:t>
            </a:r>
          </a:p>
          <a:p>
            <a:pPr marL="825500" lvl="2" indent="-457200">
              <a:lnSpc>
                <a:spcPct val="150000"/>
              </a:lnSpc>
              <a:buFont typeface="Arial" panose="020B0604020202020204" pitchFamily="34" charset="0"/>
              <a:buChar char="•"/>
            </a:pPr>
            <a:r>
              <a:rPr lang="en-US" sz="2800" dirty="0">
                <a:latin typeface="+mj-lt"/>
              </a:rPr>
              <a:t>Mock-up screens</a:t>
            </a:r>
          </a:p>
          <a:p>
            <a:pPr marL="825500" lvl="2" indent="-457200">
              <a:lnSpc>
                <a:spcPct val="150000"/>
              </a:lnSpc>
              <a:buFont typeface="Arial" panose="020B0604020202020204" pitchFamily="34" charset="0"/>
              <a:buChar char="•"/>
            </a:pPr>
            <a:r>
              <a:rPr lang="en-US" sz="2800" dirty="0">
                <a:latin typeface="+mj-lt"/>
              </a:rPr>
              <a:t>Report designs</a:t>
            </a:r>
          </a:p>
          <a:p>
            <a:pPr marL="825500" lvl="2" indent="-457200">
              <a:lnSpc>
                <a:spcPct val="150000"/>
              </a:lnSpc>
              <a:buFont typeface="Arial" panose="020B0604020202020204" pitchFamily="34" charset="0"/>
              <a:buChar char="•"/>
            </a:pPr>
            <a:r>
              <a:rPr lang="en-US" sz="2800" dirty="0">
                <a:latin typeface="+mj-lt"/>
              </a:rPr>
              <a:t>Documentation and user manual</a:t>
            </a:r>
          </a:p>
          <a:p>
            <a:pPr marL="825500" lvl="2" indent="-457200">
              <a:lnSpc>
                <a:spcPct val="150000"/>
              </a:lnSpc>
              <a:buFont typeface="Arial" panose="020B0604020202020204" pitchFamily="34" charset="0"/>
              <a:buChar char="•"/>
            </a:pPr>
            <a:r>
              <a:rPr lang="en-US" sz="2800" dirty="0">
                <a:latin typeface="+mj-lt"/>
              </a:rPr>
              <a:t>Implementation and testing process (including screenshots and description of your system's features)</a:t>
            </a:r>
          </a:p>
        </p:txBody>
      </p:sp>
    </p:spTree>
    <p:extLst>
      <p:ext uri="{BB962C8B-B14F-4D97-AF65-F5344CB8AC3E}">
        <p14:creationId xmlns:p14="http://schemas.microsoft.com/office/powerpoint/2010/main" val="25836958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327C-49C6-737A-11CD-BE1FF600D65B}"/>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501DD940-DAD7-BEDE-4EF6-7E0FCB11AAB2}"/>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20BC4403-FAC2-8D36-C422-E6CD498C0FB7}"/>
              </a:ext>
            </a:extLst>
          </p:cNvPr>
          <p:cNvSpPr txBox="1"/>
          <p:nvPr/>
        </p:nvSpPr>
        <p:spPr>
          <a:xfrm>
            <a:off x="0" y="0"/>
            <a:ext cx="11887199" cy="646331"/>
          </a:xfrm>
          <a:prstGeom prst="rect">
            <a:avLst/>
          </a:prstGeom>
          <a:noFill/>
        </p:spPr>
        <p:txBody>
          <a:bodyPr wrap="square">
            <a:spAutoFit/>
          </a:bodyPr>
          <a:lstStyle/>
          <a:p>
            <a:r>
              <a:rPr lang="en-US" sz="3600" b="1" dirty="0"/>
              <a:t>Final Note</a:t>
            </a:r>
          </a:p>
        </p:txBody>
      </p:sp>
      <p:sp>
        <p:nvSpPr>
          <p:cNvPr id="4" name="Rectangle 1">
            <a:extLst>
              <a:ext uri="{FF2B5EF4-FFF2-40B4-BE49-F238E27FC236}">
                <a16:creationId xmlns:a16="http://schemas.microsoft.com/office/drawing/2014/main" id="{82A73E95-8A76-49DA-C8C7-7DA9F3618805}"/>
              </a:ext>
            </a:extLst>
          </p:cNvPr>
          <p:cNvSpPr>
            <a:spLocks noChangeArrowheads="1"/>
          </p:cNvSpPr>
          <p:nvPr/>
        </p:nvSpPr>
        <p:spPr bwMode="auto">
          <a:xfrm>
            <a:off x="609600" y="22399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DE7DC6E4-38AE-807B-FE1F-F636F57EF9D5}"/>
              </a:ext>
            </a:extLst>
          </p:cNvPr>
          <p:cNvSpPr>
            <a:spLocks noChangeArrowheads="1"/>
          </p:cNvSpPr>
          <p:nvPr/>
        </p:nvSpPr>
        <p:spPr bwMode="auto">
          <a:xfrm>
            <a:off x="609600" y="2560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0588FEC8-3C45-91E6-D846-062336EA0874}"/>
              </a:ext>
            </a:extLst>
          </p:cNvPr>
          <p:cNvSpPr>
            <a:spLocks noChangeArrowheads="1"/>
          </p:cNvSpPr>
          <p:nvPr/>
        </p:nvSpPr>
        <p:spPr bwMode="auto">
          <a:xfrm>
            <a:off x="609600" y="2606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A03AAE10-D0D2-103C-A18D-8376FB24360E}"/>
              </a:ext>
            </a:extLst>
          </p:cNvPr>
          <p:cNvSpPr txBox="1"/>
          <p:nvPr/>
        </p:nvSpPr>
        <p:spPr>
          <a:xfrm>
            <a:off x="0" y="646331"/>
            <a:ext cx="12192000" cy="6488828"/>
          </a:xfrm>
          <a:prstGeom prst="rect">
            <a:avLst/>
          </a:prstGeom>
          <a:noFill/>
        </p:spPr>
        <p:txBody>
          <a:bodyPr wrap="square">
            <a:spAutoFit/>
          </a:bodyPr>
          <a:lstStyle/>
          <a:p>
            <a:pPr>
              <a:lnSpc>
                <a:spcPct val="150000"/>
              </a:lnSpc>
            </a:pPr>
            <a:r>
              <a:rPr lang="en-US" sz="2800" dirty="0">
                <a:latin typeface="+mj-lt"/>
              </a:rPr>
              <a:t>While mock-up screens created in Figma are acceptable as part of the </a:t>
            </a:r>
            <a:br>
              <a:rPr lang="en-US" sz="2800" dirty="0">
                <a:latin typeface="+mj-lt"/>
              </a:rPr>
            </a:br>
            <a:r>
              <a:rPr lang="en-US" sz="2800" dirty="0">
                <a:latin typeface="+mj-lt"/>
              </a:rPr>
              <a:t>design phase, they </a:t>
            </a:r>
            <a:r>
              <a:rPr lang="en-US" sz="2800" b="1" dirty="0">
                <a:latin typeface="+mj-lt"/>
              </a:rPr>
              <a:t>cannot replace the implementation and testing section</a:t>
            </a:r>
            <a:r>
              <a:rPr lang="en-US" sz="2800" dirty="0">
                <a:latin typeface="+mj-lt"/>
              </a:rPr>
              <a:t>, which carries significant weight (10%). Therefore, a coded prototype (functional or semi-functional) is required as part of your final submission, particularly because your project is a </a:t>
            </a:r>
            <a:r>
              <a:rPr lang="en-US" sz="2800" b="1" dirty="0">
                <a:latin typeface="+mj-lt"/>
              </a:rPr>
              <a:t>web-based application (or mobile-based or software-based application)</a:t>
            </a:r>
            <a:r>
              <a:rPr lang="en-US" sz="2800" dirty="0">
                <a:latin typeface="+mj-lt"/>
              </a:rPr>
              <a:t>.</a:t>
            </a:r>
          </a:p>
          <a:p>
            <a:pPr>
              <a:lnSpc>
                <a:spcPct val="150000"/>
              </a:lnSpc>
            </a:pPr>
            <a:r>
              <a:rPr lang="en-US" sz="2800" dirty="0">
                <a:latin typeface="+mj-lt"/>
              </a:rPr>
              <a:t>The GitHub materials are intended as supplementary guidance. They help you understand various pathways (e.g., Figma mockups for early design), but the assessment is based strictly on the requirements listed in the official instructions (on the blackboard).</a:t>
            </a:r>
          </a:p>
        </p:txBody>
      </p:sp>
    </p:spTree>
    <p:extLst>
      <p:ext uri="{BB962C8B-B14F-4D97-AF65-F5344CB8AC3E}">
        <p14:creationId xmlns:p14="http://schemas.microsoft.com/office/powerpoint/2010/main" val="1501736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41B19-1CF8-3EA3-5C5F-57319D00C961}"/>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9ACC79D8-E23F-E8BB-BA15-A8A8D776F424}"/>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08115B94-B166-BA4C-CD7D-66C968BCA796}"/>
              </a:ext>
            </a:extLst>
          </p:cNvPr>
          <p:cNvSpPr txBox="1"/>
          <p:nvPr/>
        </p:nvSpPr>
        <p:spPr>
          <a:xfrm>
            <a:off x="0" y="0"/>
            <a:ext cx="11887199" cy="646331"/>
          </a:xfrm>
          <a:prstGeom prst="rect">
            <a:avLst/>
          </a:prstGeom>
          <a:noFill/>
        </p:spPr>
        <p:txBody>
          <a:bodyPr wrap="square">
            <a:spAutoFit/>
          </a:bodyPr>
          <a:lstStyle/>
          <a:p>
            <a:r>
              <a:rPr lang="en-US" sz="3600" b="1" dirty="0"/>
              <a:t>Final Note</a:t>
            </a:r>
          </a:p>
        </p:txBody>
      </p:sp>
      <p:sp>
        <p:nvSpPr>
          <p:cNvPr id="4" name="Rectangle 1">
            <a:extLst>
              <a:ext uri="{FF2B5EF4-FFF2-40B4-BE49-F238E27FC236}">
                <a16:creationId xmlns:a16="http://schemas.microsoft.com/office/drawing/2014/main" id="{EEF6A627-F40F-B867-7697-DF4BDD2E0903}"/>
              </a:ext>
            </a:extLst>
          </p:cNvPr>
          <p:cNvSpPr>
            <a:spLocks noChangeArrowheads="1"/>
          </p:cNvSpPr>
          <p:nvPr/>
        </p:nvSpPr>
        <p:spPr bwMode="auto">
          <a:xfrm>
            <a:off x="609600" y="22399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2509CC47-E0CC-1193-D031-665F4B8BAFCC}"/>
              </a:ext>
            </a:extLst>
          </p:cNvPr>
          <p:cNvSpPr>
            <a:spLocks noChangeArrowheads="1"/>
          </p:cNvSpPr>
          <p:nvPr/>
        </p:nvSpPr>
        <p:spPr bwMode="auto">
          <a:xfrm>
            <a:off x="609600" y="2560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4FB7991A-7803-08B0-DF0F-F18C202FCA7C}"/>
              </a:ext>
            </a:extLst>
          </p:cNvPr>
          <p:cNvSpPr>
            <a:spLocks noChangeArrowheads="1"/>
          </p:cNvSpPr>
          <p:nvPr/>
        </p:nvSpPr>
        <p:spPr bwMode="auto">
          <a:xfrm>
            <a:off x="609600" y="2606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600465CA-2F17-B9A1-126A-D5DE02E3A1F8}"/>
              </a:ext>
            </a:extLst>
          </p:cNvPr>
          <p:cNvSpPr txBox="1"/>
          <p:nvPr/>
        </p:nvSpPr>
        <p:spPr>
          <a:xfrm>
            <a:off x="0" y="646331"/>
            <a:ext cx="12192000" cy="5842497"/>
          </a:xfrm>
          <a:prstGeom prst="rect">
            <a:avLst/>
          </a:prstGeom>
          <a:noFill/>
        </p:spPr>
        <p:txBody>
          <a:bodyPr wrap="square">
            <a:spAutoFit/>
          </a:bodyPr>
          <a:lstStyle/>
          <a:p>
            <a:pPr>
              <a:lnSpc>
                <a:spcPct val="150000"/>
              </a:lnSpc>
            </a:pPr>
            <a:endParaRPr lang="en-US" sz="2800" dirty="0">
              <a:latin typeface="+mj-lt"/>
            </a:endParaRPr>
          </a:p>
          <a:p>
            <a:pPr>
              <a:lnSpc>
                <a:spcPct val="150000"/>
              </a:lnSpc>
            </a:pPr>
            <a:r>
              <a:rPr lang="en-US" sz="2800" dirty="0">
                <a:latin typeface="+mj-lt"/>
              </a:rPr>
              <a:t>Students, you can absolutely use Figma for the design portion (mock-up screens), but your final report must also </a:t>
            </a:r>
            <a:r>
              <a:rPr lang="en-US" sz="2800" b="1" dirty="0">
                <a:latin typeface="+mj-lt"/>
              </a:rPr>
              <a:t>include implementation details and testing outcomes</a:t>
            </a:r>
            <a:r>
              <a:rPr lang="en-US" sz="2800" dirty="0">
                <a:latin typeface="+mj-lt"/>
              </a:rPr>
              <a:t> for a working or demonstrable prototype, even if it’s a simplified or partially functional version.</a:t>
            </a:r>
          </a:p>
          <a:p>
            <a:pPr>
              <a:lnSpc>
                <a:spcPct val="150000"/>
              </a:lnSpc>
            </a:pPr>
            <a:r>
              <a:rPr lang="en-US" sz="2800" dirty="0">
                <a:latin typeface="+mj-lt"/>
              </a:rPr>
              <a:t>Please feel free to reach out if your group needs any further clarification or support as you progress.</a:t>
            </a:r>
          </a:p>
          <a:p>
            <a:pPr>
              <a:lnSpc>
                <a:spcPct val="150000"/>
              </a:lnSpc>
            </a:pPr>
            <a:r>
              <a:rPr lang="en-US" sz="2800" dirty="0">
                <a:latin typeface="+mj-lt"/>
              </a:rPr>
              <a:t>Best regards,</a:t>
            </a:r>
            <a:br>
              <a:rPr lang="en-US" sz="2800" dirty="0">
                <a:latin typeface="+mj-lt"/>
              </a:rPr>
            </a:br>
            <a:r>
              <a:rPr lang="en-US" sz="2800" dirty="0">
                <a:latin typeface="+mj-lt"/>
              </a:rPr>
              <a:t>Dr. Farshid Keivanian</a:t>
            </a:r>
          </a:p>
        </p:txBody>
      </p:sp>
    </p:spTree>
    <p:extLst>
      <p:ext uri="{BB962C8B-B14F-4D97-AF65-F5344CB8AC3E}">
        <p14:creationId xmlns:p14="http://schemas.microsoft.com/office/powerpoint/2010/main" val="9180297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7C9AE-8F27-95FB-15AC-6460D47EC119}"/>
            </a:ext>
          </a:extLst>
        </p:cNvPr>
        <p:cNvGrpSpPr/>
        <p:nvPr/>
      </p:nvGrpSpPr>
      <p:grpSpPr>
        <a:xfrm>
          <a:off x="0" y="0"/>
          <a:ext cx="0" cy="0"/>
          <a:chOff x="0" y="0"/>
          <a:chExt cx="0" cy="0"/>
        </a:xfrm>
      </p:grpSpPr>
      <p:pic>
        <p:nvPicPr>
          <p:cNvPr id="3" name="object 3">
            <a:extLst>
              <a:ext uri="{FF2B5EF4-FFF2-40B4-BE49-F238E27FC236}">
                <a16:creationId xmlns:a16="http://schemas.microsoft.com/office/drawing/2014/main" id="{22504436-9541-9A77-A2C3-4AAF483D5E90}"/>
              </a:ext>
            </a:extLst>
          </p:cNvPr>
          <p:cNvPicPr/>
          <p:nvPr/>
        </p:nvPicPr>
        <p:blipFill>
          <a:blip r:embed="rId2" cstate="print"/>
          <a:stretch>
            <a:fillRect/>
          </a:stretch>
        </p:blipFill>
        <p:spPr>
          <a:xfrm>
            <a:off x="10261092" y="0"/>
            <a:ext cx="1930907" cy="1901952"/>
          </a:xfrm>
          <a:prstGeom prst="rect">
            <a:avLst/>
          </a:prstGeom>
        </p:spPr>
      </p:pic>
      <p:sp>
        <p:nvSpPr>
          <p:cNvPr id="5" name="TextBox 4">
            <a:extLst>
              <a:ext uri="{FF2B5EF4-FFF2-40B4-BE49-F238E27FC236}">
                <a16:creationId xmlns:a16="http://schemas.microsoft.com/office/drawing/2014/main" id="{3CD4828B-17F1-7CA8-0839-9303DF78E694}"/>
              </a:ext>
            </a:extLst>
          </p:cNvPr>
          <p:cNvSpPr txBox="1"/>
          <p:nvPr/>
        </p:nvSpPr>
        <p:spPr>
          <a:xfrm>
            <a:off x="0" y="0"/>
            <a:ext cx="11887199" cy="646331"/>
          </a:xfrm>
          <a:prstGeom prst="rect">
            <a:avLst/>
          </a:prstGeom>
          <a:noFill/>
        </p:spPr>
        <p:txBody>
          <a:bodyPr wrap="square">
            <a:spAutoFit/>
          </a:bodyPr>
          <a:lstStyle/>
          <a:p>
            <a:r>
              <a:rPr lang="en-US" sz="3600" b="1" dirty="0"/>
              <a:t>Thank You</a:t>
            </a:r>
          </a:p>
        </p:txBody>
      </p:sp>
      <p:sp>
        <p:nvSpPr>
          <p:cNvPr id="4" name="Rectangle 1">
            <a:extLst>
              <a:ext uri="{FF2B5EF4-FFF2-40B4-BE49-F238E27FC236}">
                <a16:creationId xmlns:a16="http://schemas.microsoft.com/office/drawing/2014/main" id="{F39A0F5E-43BD-D252-DA2E-62B6804EEC57}"/>
              </a:ext>
            </a:extLst>
          </p:cNvPr>
          <p:cNvSpPr>
            <a:spLocks noChangeArrowheads="1"/>
          </p:cNvSpPr>
          <p:nvPr/>
        </p:nvSpPr>
        <p:spPr bwMode="auto">
          <a:xfrm>
            <a:off x="609600" y="22399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Rectangle 1">
            <a:extLst>
              <a:ext uri="{FF2B5EF4-FFF2-40B4-BE49-F238E27FC236}">
                <a16:creationId xmlns:a16="http://schemas.microsoft.com/office/drawing/2014/main" id="{817D9A02-5814-5580-6C06-29C210FBD89F}"/>
              </a:ext>
            </a:extLst>
          </p:cNvPr>
          <p:cNvSpPr>
            <a:spLocks noChangeArrowheads="1"/>
          </p:cNvSpPr>
          <p:nvPr/>
        </p:nvSpPr>
        <p:spPr bwMode="auto">
          <a:xfrm>
            <a:off x="609600" y="25606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23816039-7B8D-877D-70D8-4BE56CB8AF07}"/>
              </a:ext>
            </a:extLst>
          </p:cNvPr>
          <p:cNvSpPr>
            <a:spLocks noChangeArrowheads="1"/>
          </p:cNvSpPr>
          <p:nvPr/>
        </p:nvSpPr>
        <p:spPr bwMode="auto">
          <a:xfrm>
            <a:off x="609600" y="26066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F114281F-11E3-6B41-C0F7-D01F7F4315D5}"/>
              </a:ext>
            </a:extLst>
          </p:cNvPr>
          <p:cNvSpPr txBox="1"/>
          <p:nvPr/>
        </p:nvSpPr>
        <p:spPr>
          <a:xfrm>
            <a:off x="457200" y="2057400"/>
            <a:ext cx="9624202" cy="2610843"/>
          </a:xfrm>
          <a:prstGeom prst="rect">
            <a:avLst/>
          </a:prstGeom>
          <a:noFill/>
        </p:spPr>
        <p:txBody>
          <a:bodyPr wrap="square">
            <a:spAutoFit/>
          </a:bodyPr>
          <a:lstStyle/>
          <a:p>
            <a:pPr>
              <a:lnSpc>
                <a:spcPct val="150000"/>
              </a:lnSpc>
              <a:buNone/>
            </a:pPr>
            <a:r>
              <a:rPr lang="en-US" sz="2800" dirty="0">
                <a:latin typeface="+mj-lt"/>
              </a:rPr>
              <a:t>Need Help? Send an email or ask during the tutorial session.</a:t>
            </a:r>
          </a:p>
          <a:p>
            <a:pPr>
              <a:lnSpc>
                <a:spcPct val="150000"/>
              </a:lnSpc>
              <a:buNone/>
            </a:pPr>
            <a:r>
              <a:rPr lang="en-US" sz="2800" dirty="0">
                <a:latin typeface="+mj-lt"/>
              </a:rPr>
              <a:t>Good luck with your capstone journey!</a:t>
            </a:r>
          </a:p>
          <a:p>
            <a:pPr>
              <a:lnSpc>
                <a:spcPct val="150000"/>
              </a:lnSpc>
            </a:pPr>
            <a:r>
              <a:rPr lang="en-US" sz="2800" dirty="0">
                <a:latin typeface="+mj-lt"/>
              </a:rPr>
              <a:t>Dr. Farshid Keivanian</a:t>
            </a:r>
            <a:br>
              <a:rPr lang="en-US" sz="2800" dirty="0">
                <a:latin typeface="+mj-lt"/>
              </a:rPr>
            </a:br>
            <a:r>
              <a:rPr lang="en-US" sz="2800" dirty="0">
                <a:latin typeface="+mj-lt"/>
              </a:rPr>
              <a:t>Capstone Project Supervisor</a:t>
            </a:r>
          </a:p>
        </p:txBody>
      </p:sp>
    </p:spTree>
    <p:extLst>
      <p:ext uri="{BB962C8B-B14F-4D97-AF65-F5344CB8AC3E}">
        <p14:creationId xmlns:p14="http://schemas.microsoft.com/office/powerpoint/2010/main" val="3240974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544</TotalTime>
  <Words>2771</Words>
  <Application>Microsoft Office PowerPoint</Application>
  <PresentationFormat>Custom</PresentationFormat>
  <Paragraphs>328</Paragraphs>
  <Slides>45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Group Progress Presentation – Overview of Progress at least 2 min</vt:lpstr>
      <vt:lpstr>Question and Answers</vt:lpstr>
      <vt:lpstr>Question and Answers</vt:lpstr>
      <vt:lpstr>Question and Answers</vt:lpstr>
      <vt:lpstr>Question and Answers</vt:lpstr>
      <vt:lpstr>Question and Answers</vt:lpstr>
      <vt:lpstr>Question and Answers</vt:lpstr>
      <vt:lpstr>Question and Answers</vt:lpstr>
      <vt:lpstr>Question and Answers</vt:lpstr>
      <vt:lpstr>Question and Answers</vt:lpstr>
      <vt:lpstr>Question and Answers</vt:lpstr>
      <vt:lpstr>Question and Answers</vt:lpstr>
      <vt:lpstr>Question and Answers</vt:lpstr>
      <vt:lpstr>Example) To-Do List System — Prototype Plan</vt:lpstr>
      <vt:lpstr>Example) To-Do List System — Prototype Plan</vt:lpstr>
      <vt:lpstr>Example) To-Do List System — Prototype Plan</vt:lpstr>
      <vt:lpstr>Example) To-Do List System — Prototype Plan</vt:lpstr>
      <vt:lpstr>Example) To-Do List System — Prototype Plan</vt:lpstr>
      <vt:lpstr>Example) To-Do List System — Prototype Plan</vt:lpstr>
      <vt:lpstr>Example) To-Do List System — Prototype Plan</vt:lpstr>
      <vt:lpstr>Example) To-Do List System — Prototype Plan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Farshid Keivanian</dc:creator>
  <cp:lastModifiedBy>Farshid Keivanian</cp:lastModifiedBy>
  <cp:revision>234</cp:revision>
  <dcterms:created xsi:type="dcterms:W3CDTF">2025-04-05T17:32:34Z</dcterms:created>
  <dcterms:modified xsi:type="dcterms:W3CDTF">2025-06-05T06:58:49Z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2024-05-02T00:00:00Z</vt:filetime>
  </property>
  <property fmtid="{D5CDD505-2E9C-101B-9397-08002B2CF9AE}" pid="3" name="Creator">
    <vt:lpwstr>Microsoft® Word for Microsoft 365</vt:lpwstr>
  </property>
  <property fmtid="{D5CDD505-2E9C-101B-9397-08002B2CF9AE}" pid="4" name="LastSaved">
    <vt:filetime>2025-04-05T00:00:00Z</vt:filetime>
  </property>
  <property fmtid="{D5CDD505-2E9C-101B-9397-08002B2CF9AE}" pid="5" name="Producer">
    <vt:lpwstr>Adobe Acrobat Pro (64-bit) 24.2.20687</vt:lpwstr>
  </property>
</Properties>
</file>