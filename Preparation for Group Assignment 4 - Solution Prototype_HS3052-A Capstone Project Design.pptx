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601" r:id="rId3"/>
    <p:sldId id="602" r:id="rId4"/>
    <p:sldId id="1739" r:id="rId5"/>
    <p:sldId id="603" r:id="rId6"/>
    <p:sldId id="1748" r:id="rId7"/>
    <p:sldId id="1763" r:id="rId8"/>
    <p:sldId id="1764" r:id="rId9"/>
    <p:sldId id="1765" r:id="rId10"/>
    <p:sldId id="1766" r:id="rId11"/>
    <p:sldId id="1767" r:id="rId12"/>
    <p:sldId id="1768" r:id="rId13"/>
    <p:sldId id="1769" r:id="rId14"/>
    <p:sldId id="1770" r:id="rId15"/>
    <p:sldId id="1771" r:id="rId16"/>
    <p:sldId id="1772" r:id="rId17"/>
    <p:sldId id="1773" r:id="rId18"/>
    <p:sldId id="1774" r:id="rId19"/>
    <p:sldId id="1775" r:id="rId20"/>
    <p:sldId id="1776" r:id="rId21"/>
    <p:sldId id="1747" r:id="rId22"/>
    <p:sldId id="1777" r:id="rId23"/>
    <p:sldId id="1778" r:id="rId24"/>
    <p:sldId id="1779" r:id="rId25"/>
    <p:sldId id="1780" r:id="rId26"/>
    <p:sldId id="1781" r:id="rId27"/>
    <p:sldId id="1782" r:id="rId28"/>
    <p:sldId id="1783" r:id="rId29"/>
    <p:sldId id="1784" r:id="rId30"/>
    <p:sldId id="1785" r:id="rId31"/>
    <p:sldId id="1786" r:id="rId32"/>
    <p:sldId id="1787" r:id="rId33"/>
    <p:sldId id="1788" r:id="rId34"/>
    <p:sldId id="1789" r:id="rId35"/>
    <p:sldId id="1790" r:id="rId36"/>
    <p:sldId id="1791" r:id="rId37"/>
    <p:sldId id="1792" r:id="rId38"/>
    <p:sldId id="1793" r:id="rId39"/>
    <p:sldId id="1794" r:id="rId40"/>
    <p:sldId id="1795" r:id="rId41"/>
    <p:sldId id="1796" r:id="rId42"/>
    <p:sldId id="612" r:id="rId43"/>
  </p:sldIdLst>
  <p:sldSz cx="12192000" cy="10058400"/>
  <p:notesSz cx="121920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88" autoAdjust="0"/>
    <p:restoredTop sz="94660"/>
  </p:normalViewPr>
  <p:slideViewPr>
    <p:cSldViewPr>
      <p:cViewPr varScale="1">
        <p:scale>
          <a:sx n="43" d="100"/>
          <a:sy n="43" d="100"/>
        </p:scale>
        <p:origin x="1281" y="2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055111" y="1967229"/>
            <a:ext cx="479107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4922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2023" y="42671"/>
            <a:ext cx="1531620" cy="56235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3E6D3-906C-1320-4687-C1367C63E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301287"/>
            <a:ext cx="9144000" cy="1846659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F1C4FD-A4A9-4ABA-B38A-5C011FCA6C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82989"/>
            <a:ext cx="9144000" cy="36933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29ADD-9CFD-F94C-3BD4-E15649AA4B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77940"/>
            <a:ext cx="2804160" cy="276999"/>
          </a:xfrm>
        </p:spPr>
        <p:txBody>
          <a:bodyPr/>
          <a:lstStyle/>
          <a:p>
            <a:fld id="{A22E6EEE-11DC-44F3-8567-F3508996C4D6}" type="datetimeFigureOut">
              <a:rPr lang="en-AU" smtClean="0"/>
              <a:t>27/05/2025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CD539-4B99-E1AD-D8EE-398581E19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45280" y="6377940"/>
            <a:ext cx="3901440" cy="276999"/>
          </a:xfr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118EA-AFF6-1D9C-A064-CCC312C78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21502" y="9253759"/>
            <a:ext cx="533400" cy="169277"/>
          </a:xfrm>
        </p:spPr>
        <p:txBody>
          <a:bodyPr/>
          <a:lstStyle/>
          <a:p>
            <a:fld id="{65DD78D8-BAAB-4AA7-9E67-7B3D99A130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7050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-1396"/>
            <a:ext cx="12034520" cy="391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921502" y="9253759"/>
            <a:ext cx="533400" cy="1879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sites.google.com/" TargetMode="Externa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ebflow.com/" TargetMode="External"/><Relationship Id="rId2" Type="http://schemas.openxmlformats.org/officeDocument/2006/relationships/hyperlink" Target="https://www.wix.com/" TargetMode="Externa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carrd.co/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igma.com/" TargetMode="Externa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thunkable.com/" TargetMode="Externa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airtable.com/" TargetMode="Externa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39F99D-A514-B092-E859-B7FD8EFE592D}"/>
              </a:ext>
            </a:extLst>
          </p:cNvPr>
          <p:cNvSpPr txBox="1"/>
          <p:nvPr/>
        </p:nvSpPr>
        <p:spPr>
          <a:xfrm>
            <a:off x="0" y="1752601"/>
            <a:ext cx="12191999" cy="4161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HS3052 Capstone Project Design:</a:t>
            </a:r>
            <a:br>
              <a:rPr lang="en-US" sz="3600" b="1" dirty="0">
                <a:latin typeface="+mj-lt"/>
              </a:rPr>
            </a:br>
            <a:r>
              <a:rPr lang="en-US" sz="3600" b="1" dirty="0">
                <a:latin typeface="+mj-lt"/>
              </a:rPr>
              <a:t>Supplementary Document</a:t>
            </a:r>
          </a:p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Supervisor: Dr. Farshid Keivanian</a:t>
            </a:r>
          </a:p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Session 4: </a:t>
            </a:r>
            <a:r>
              <a:rPr lang="en-US" sz="3600" dirty="0">
                <a:latin typeface="+mj-lt"/>
              </a:rPr>
              <a:t>Preparation for Group Assignment 4 (Solution Prototype)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D0F5-A2EC-4AB3-AA80-17E48F8E3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4845B51C-A56F-4CFF-7947-2252E84A2E9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3E0C38D-660E-3C98-FB3C-A381458652E4}"/>
              </a:ext>
            </a:extLst>
          </p:cNvPr>
          <p:cNvSpPr txBox="1"/>
          <p:nvPr/>
        </p:nvSpPr>
        <p:spPr>
          <a:xfrm>
            <a:off x="152400" y="232246"/>
            <a:ext cx="11887199" cy="4027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300" b="1" dirty="0">
                <a:latin typeface="+mj-lt"/>
              </a:rPr>
              <a:t>Session 4’s Outline</a:t>
            </a:r>
          </a:p>
          <a:p>
            <a:pPr marL="514350" indent="-514350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US" sz="3300" dirty="0">
                <a:latin typeface="+mj-lt"/>
              </a:rPr>
              <a:t>Weekly Task Breakdown &amp; Milestones</a:t>
            </a:r>
          </a:p>
          <a:p>
            <a:pPr marL="514350" lvl="0" indent="-514350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AU" sz="3300" dirty="0">
                <a:effectLst/>
                <a:latin typeface="+mj-lt"/>
                <a:ea typeface="Aptos" panose="020B0004020202020204" pitchFamily="34" charset="0"/>
                <a:cs typeface="Arial" panose="020B0604020202020204" pitchFamily="34" charset="0"/>
              </a:rPr>
              <a:t>Preparation for Group Assignment 4 – Solution Prototype</a:t>
            </a:r>
          </a:p>
          <a:p>
            <a:pPr marL="514350" lvl="0" indent="-514350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US" sz="3300" dirty="0">
                <a:effectLst/>
                <a:latin typeface="+mj-lt"/>
                <a:ea typeface="Aptos" panose="020B0004020202020204" pitchFamily="34" charset="0"/>
                <a:cs typeface="Arial" panose="020B0604020202020204" pitchFamily="34" charset="0"/>
              </a:rPr>
              <a:t>Group Progress Presentation – Overview of Progress at least 2 min</a:t>
            </a:r>
          </a:p>
        </p:txBody>
      </p:sp>
    </p:spTree>
    <p:extLst>
      <p:ext uri="{BB962C8B-B14F-4D97-AF65-F5344CB8AC3E}">
        <p14:creationId xmlns:p14="http://schemas.microsoft.com/office/powerpoint/2010/main" val="7135963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B1657-3E33-F0C9-BA26-989572E00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F903FC8A-9B8B-D089-AB63-FFE4E2EFA84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F97E313-69B1-B1D8-7408-B062D394D4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392895"/>
              </p:ext>
            </p:extLst>
          </p:nvPr>
        </p:nvGraphicFramePr>
        <p:xfrm>
          <a:off x="457200" y="1840422"/>
          <a:ext cx="11582400" cy="6027392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147759491"/>
                    </a:ext>
                  </a:extLst>
                </a:gridCol>
                <a:gridCol w="4495416">
                  <a:extLst>
                    <a:ext uri="{9D8B030D-6E8A-4147-A177-3AD203B41FA5}">
                      <a16:colId xmlns:a16="http://schemas.microsoft.com/office/drawing/2014/main" val="472117411"/>
                    </a:ext>
                  </a:extLst>
                </a:gridCol>
                <a:gridCol w="6096384">
                  <a:extLst>
                    <a:ext uri="{9D8B030D-6E8A-4147-A177-3AD203B41FA5}">
                      <a16:colId xmlns:a16="http://schemas.microsoft.com/office/drawing/2014/main" val="2386046661"/>
                    </a:ext>
                  </a:extLst>
                </a:gridCol>
              </a:tblGrid>
              <a:tr h="274301">
                <a:tc>
                  <a:txBody>
                    <a:bodyPr/>
                    <a:lstStyle/>
                    <a:p>
                      <a:r>
                        <a:rPr lang="en-US" sz="2800"/>
                        <a:t>Week</a:t>
                      </a:r>
                    </a:p>
                  </a:txBody>
                  <a:tcPr marL="68575" marR="68575" marT="34288" marB="3428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Tasks</a:t>
                      </a:r>
                    </a:p>
                  </a:txBody>
                  <a:tcPr marL="68575" marR="68575" marT="34288" marB="3428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Notes</a:t>
                      </a:r>
                    </a:p>
                  </a:txBody>
                  <a:tcPr marL="68575" marR="68575" marT="34288" marB="3428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577401"/>
                  </a:ext>
                </a:extLst>
              </a:tr>
              <a:tr h="685752">
                <a:tc>
                  <a:txBody>
                    <a:bodyPr/>
                    <a:lstStyle/>
                    <a:p>
                      <a:r>
                        <a:rPr lang="en-US" sz="2800"/>
                        <a:t>1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Finalise group &amp; select topic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Choose from topics like Library </a:t>
                      </a:r>
                      <a:r>
                        <a:rPr lang="en-US" sz="2800" dirty="0" err="1"/>
                        <a:t>Mgmt</a:t>
                      </a:r>
                      <a:r>
                        <a:rPr lang="en-US" sz="2800" dirty="0"/>
                        <a:t>, Lost &amp; Found, Feedback System, etc.</a:t>
                      </a:r>
                    </a:p>
                  </a:txBody>
                  <a:tcPr marL="68575" marR="68575" marT="34288" marB="34288" anchor="ctr"/>
                </a:tc>
                <a:extLst>
                  <a:ext uri="{0D108BD9-81ED-4DB2-BD59-A6C34878D82A}">
                    <a16:rowId xmlns:a16="http://schemas.microsoft.com/office/drawing/2014/main" val="2010123592"/>
                  </a:ext>
                </a:extLst>
              </a:tr>
              <a:tr h="480026">
                <a:tc>
                  <a:txBody>
                    <a:bodyPr/>
                    <a:lstStyle/>
                    <a:p>
                      <a:r>
                        <a:rPr lang="en-US" sz="2800"/>
                        <a:t>2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Project Management Package (Assessment 1 due)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Scope, charter, WBS, Gantt chart – submit as a group</a:t>
                      </a:r>
                    </a:p>
                  </a:txBody>
                  <a:tcPr marL="68575" marR="68575" marT="34288" marB="34288" anchor="ctr"/>
                </a:tc>
                <a:extLst>
                  <a:ext uri="{0D108BD9-81ED-4DB2-BD59-A6C34878D82A}">
                    <a16:rowId xmlns:a16="http://schemas.microsoft.com/office/drawing/2014/main" val="817413514"/>
                  </a:ext>
                </a:extLst>
              </a:tr>
              <a:tr h="480026">
                <a:tc>
                  <a:txBody>
                    <a:bodyPr/>
                    <a:lstStyle/>
                    <a:p>
                      <a:r>
                        <a:rPr lang="en-US" sz="2800"/>
                        <a:t>3–4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Requirements analysis + Literature review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Collect references, interview users, gather data, start drafting RS</a:t>
                      </a:r>
                    </a:p>
                  </a:txBody>
                  <a:tcPr marL="68575" marR="68575" marT="34288" marB="34288" anchor="ctr"/>
                </a:tc>
                <a:extLst>
                  <a:ext uri="{0D108BD9-81ED-4DB2-BD59-A6C34878D82A}">
                    <a16:rowId xmlns:a16="http://schemas.microsoft.com/office/drawing/2014/main" val="2394723118"/>
                  </a:ext>
                </a:extLst>
              </a:tr>
              <a:tr h="480026">
                <a:tc>
                  <a:txBody>
                    <a:bodyPr/>
                    <a:lstStyle/>
                    <a:p>
                      <a:r>
                        <a:rPr lang="en-US" sz="2800"/>
                        <a:t>5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Presentation of proposed solution (Assessment 2)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Slides + demo/mockup preview</a:t>
                      </a:r>
                    </a:p>
                  </a:txBody>
                  <a:tcPr marL="68575" marR="68575" marT="34288" marB="34288" anchor="ctr"/>
                </a:tc>
                <a:extLst>
                  <a:ext uri="{0D108BD9-81ED-4DB2-BD59-A6C34878D82A}">
                    <a16:rowId xmlns:a16="http://schemas.microsoft.com/office/drawing/2014/main" val="4012947794"/>
                  </a:ext>
                </a:extLst>
              </a:tr>
              <a:tr h="480026">
                <a:tc>
                  <a:txBody>
                    <a:bodyPr/>
                    <a:lstStyle/>
                    <a:p>
                      <a:r>
                        <a:rPr lang="en-US" sz="2800"/>
                        <a:t>6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Submit Requirements Specification (Assessment 3)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System overview, diagrams, user stories, use cases, ERD, schema</a:t>
                      </a:r>
                    </a:p>
                  </a:txBody>
                  <a:tcPr marL="68575" marR="68575" marT="34288" marB="34288" anchor="ctr"/>
                </a:tc>
                <a:extLst>
                  <a:ext uri="{0D108BD9-81ED-4DB2-BD59-A6C34878D82A}">
                    <a16:rowId xmlns:a16="http://schemas.microsoft.com/office/drawing/2014/main" val="184931924"/>
                  </a:ext>
                </a:extLst>
              </a:tr>
              <a:tr h="480026">
                <a:tc>
                  <a:txBody>
                    <a:bodyPr/>
                    <a:lstStyle/>
                    <a:p>
                      <a:r>
                        <a:rPr lang="en-US" sz="2800" dirty="0"/>
                        <a:t>7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Prototype building begins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Setup tools, split coding and UI/UX tasks among group</a:t>
                      </a:r>
                    </a:p>
                  </a:txBody>
                  <a:tcPr marL="68575" marR="68575" marT="34288" marB="34288" anchor="ctr"/>
                </a:tc>
                <a:extLst>
                  <a:ext uri="{0D108BD9-81ED-4DB2-BD59-A6C34878D82A}">
                    <a16:rowId xmlns:a16="http://schemas.microsoft.com/office/drawing/2014/main" val="200980658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573BF9B-6BCF-8895-BAE6-C283264BA698}"/>
              </a:ext>
            </a:extLst>
          </p:cNvPr>
          <p:cNvSpPr txBox="1"/>
          <p:nvPr/>
        </p:nvSpPr>
        <p:spPr>
          <a:xfrm>
            <a:off x="0" y="0"/>
            <a:ext cx="11887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Weekly Task Breakdown &amp; Milestones</a:t>
            </a:r>
          </a:p>
        </p:txBody>
      </p:sp>
    </p:spTree>
    <p:extLst>
      <p:ext uri="{BB962C8B-B14F-4D97-AF65-F5344CB8AC3E}">
        <p14:creationId xmlns:p14="http://schemas.microsoft.com/office/powerpoint/2010/main" val="2860264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4FABC-FDF3-6F98-B2E2-4F02857D9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B16670C1-99A2-8DFD-D5B6-074DFEB3D24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417A170-C1DF-6525-086F-8E25182B81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756082"/>
              </p:ext>
            </p:extLst>
          </p:nvPr>
        </p:nvGraphicFramePr>
        <p:xfrm>
          <a:off x="457200" y="1840422"/>
          <a:ext cx="11582400" cy="2339328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147759491"/>
                    </a:ext>
                  </a:extLst>
                </a:gridCol>
                <a:gridCol w="4495416">
                  <a:extLst>
                    <a:ext uri="{9D8B030D-6E8A-4147-A177-3AD203B41FA5}">
                      <a16:colId xmlns:a16="http://schemas.microsoft.com/office/drawing/2014/main" val="472117411"/>
                    </a:ext>
                  </a:extLst>
                </a:gridCol>
                <a:gridCol w="6096384">
                  <a:extLst>
                    <a:ext uri="{9D8B030D-6E8A-4147-A177-3AD203B41FA5}">
                      <a16:colId xmlns:a16="http://schemas.microsoft.com/office/drawing/2014/main" val="2386046661"/>
                    </a:ext>
                  </a:extLst>
                </a:gridCol>
              </a:tblGrid>
              <a:tr h="274301">
                <a:tc>
                  <a:txBody>
                    <a:bodyPr/>
                    <a:lstStyle/>
                    <a:p>
                      <a:r>
                        <a:rPr lang="en-US" sz="2800"/>
                        <a:t>Week</a:t>
                      </a:r>
                    </a:p>
                  </a:txBody>
                  <a:tcPr marL="68575" marR="68575" marT="34288" marB="3428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Tasks</a:t>
                      </a:r>
                    </a:p>
                  </a:txBody>
                  <a:tcPr marL="68575" marR="68575" marT="34288" marB="3428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Notes</a:t>
                      </a:r>
                    </a:p>
                  </a:txBody>
                  <a:tcPr marL="68575" marR="68575" marT="34288" marB="3428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577401"/>
                  </a:ext>
                </a:extLst>
              </a:tr>
              <a:tr h="685752">
                <a:tc>
                  <a:txBody>
                    <a:bodyPr/>
                    <a:lstStyle/>
                    <a:p>
                      <a:r>
                        <a:rPr lang="en-US" sz="2800" dirty="0"/>
                        <a:t>8–11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Development + testing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Complete features, peer review, fix bugs, update documents</a:t>
                      </a:r>
                    </a:p>
                  </a:txBody>
                  <a:tcPr marL="68575" marR="68575" marT="34288" marB="34288" anchor="ctr"/>
                </a:tc>
                <a:extLst>
                  <a:ext uri="{0D108BD9-81ED-4DB2-BD59-A6C34878D82A}">
                    <a16:rowId xmlns:a16="http://schemas.microsoft.com/office/drawing/2014/main" val="2010123592"/>
                  </a:ext>
                </a:extLst>
              </a:tr>
              <a:tr h="480026">
                <a:tc>
                  <a:txBody>
                    <a:bodyPr/>
                    <a:lstStyle/>
                    <a:p>
                      <a:r>
                        <a:rPr lang="en-US" sz="2800"/>
                        <a:t>12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Submit Final Prototype + Docs (Assessment 4)</a:t>
                      </a:r>
                    </a:p>
                  </a:txBody>
                  <a:tcPr marL="68575" marR="68575" marT="34288" marB="34288" anchor="ctr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Include testing report, user manual, installation guide, project closure plan</a:t>
                      </a:r>
                    </a:p>
                  </a:txBody>
                  <a:tcPr marL="68575" marR="68575" marT="34288" marB="34288" anchor="ctr"/>
                </a:tc>
                <a:extLst>
                  <a:ext uri="{0D108BD9-81ED-4DB2-BD59-A6C34878D82A}">
                    <a16:rowId xmlns:a16="http://schemas.microsoft.com/office/drawing/2014/main" val="81741351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F0986BC-4E2B-FA83-9372-979E76DB7307}"/>
              </a:ext>
            </a:extLst>
          </p:cNvPr>
          <p:cNvSpPr txBox="1"/>
          <p:nvPr/>
        </p:nvSpPr>
        <p:spPr>
          <a:xfrm>
            <a:off x="0" y="0"/>
            <a:ext cx="11887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Weekly Task Breakdown &amp; Milestones</a:t>
            </a:r>
          </a:p>
        </p:txBody>
      </p:sp>
    </p:spTree>
    <p:extLst>
      <p:ext uri="{BB962C8B-B14F-4D97-AF65-F5344CB8AC3E}">
        <p14:creationId xmlns:p14="http://schemas.microsoft.com/office/powerpoint/2010/main" val="3105833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8A410-9842-A491-EA84-DBB4A9D9A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AE9DC6F5-9513-30C7-F7EB-2FFA4C1289A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28A9CB-316B-C158-9D1A-46B557127AB3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A9A951B-8361-9389-601F-EBABA643FD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User uploaded image">
            <a:extLst>
              <a:ext uri="{FF2B5EF4-FFF2-40B4-BE49-F238E27FC236}">
                <a16:creationId xmlns:a16="http://schemas.microsoft.com/office/drawing/2014/main" id="{8A1E06E5-0751-D7FB-9310-6D344FAE365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89"/>
          <a:stretch/>
        </p:blipFill>
        <p:spPr bwMode="auto">
          <a:xfrm>
            <a:off x="0" y="1600200"/>
            <a:ext cx="12192000" cy="624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549B3C3-F8B7-F466-3E40-63F01033E036}"/>
              </a:ext>
            </a:extLst>
          </p:cNvPr>
          <p:cNvSpPr/>
          <p:nvPr/>
        </p:nvSpPr>
        <p:spPr>
          <a:xfrm>
            <a:off x="1981200" y="6629400"/>
            <a:ext cx="9753600" cy="121920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33261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2394A-12A6-B581-D099-98070D7B2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7110C79A-3938-2E86-8D48-EF977D6F34A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DB5C180-BB61-8295-F5A6-DFAD85A4083F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5DCBA87-5040-EA9C-1789-DD04606E32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B17930-6E66-14F4-0325-478B75D167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889"/>
          <a:stretch/>
        </p:blipFill>
        <p:spPr>
          <a:xfrm>
            <a:off x="0" y="1600200"/>
            <a:ext cx="12192000" cy="624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658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83CAD-0373-B4F7-117D-A7260C574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C4EF6B69-8C6F-9AC0-8B57-7C23D961581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FC3D2B-7BE4-01DE-14FC-D82BD9F9E899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40A3F41-F7A3-75D6-684C-D5CC64A777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User uploaded image">
            <a:extLst>
              <a:ext uri="{FF2B5EF4-FFF2-40B4-BE49-F238E27FC236}">
                <a16:creationId xmlns:a16="http://schemas.microsoft.com/office/drawing/2014/main" id="{108906B1-0459-1028-5FC4-6D934941E8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33"/>
          <a:stretch/>
        </p:blipFill>
        <p:spPr bwMode="auto">
          <a:xfrm>
            <a:off x="0" y="1600200"/>
            <a:ext cx="12192000" cy="525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4770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82FA1-4833-4C25-754D-6CF8E5821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17BD7CBB-B036-1226-7690-98C02A8BFCE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5732ED8-47E3-5767-450C-A366486063EC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006FBED8-324E-4EE1-D6F9-F2055B54A1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1634ED-A716-A0E8-3C6C-6345333AAFE4}"/>
              </a:ext>
            </a:extLst>
          </p:cNvPr>
          <p:cNvSpPr txBox="1"/>
          <p:nvPr/>
        </p:nvSpPr>
        <p:spPr>
          <a:xfrm>
            <a:off x="304800" y="1376084"/>
            <a:ext cx="7182464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Word Limit:</a:t>
            </a:r>
            <a:r>
              <a:rPr lang="en-US" sz="2800" dirty="0">
                <a:latin typeface="+mj-lt"/>
              </a:rPr>
              <a:t> 2000–2500 words</a:t>
            </a:r>
            <a:br>
              <a:rPr lang="en-US" sz="2800" dirty="0">
                <a:latin typeface="+mj-lt"/>
              </a:rPr>
            </a:br>
            <a:r>
              <a:rPr lang="en-US" sz="2800" b="1" dirty="0">
                <a:latin typeface="+mj-lt"/>
              </a:rPr>
              <a:t>Weight:</a:t>
            </a:r>
            <a:r>
              <a:rPr lang="en-US" sz="2800" dirty="0">
                <a:latin typeface="+mj-lt"/>
              </a:rPr>
              <a:t> 30%</a:t>
            </a:r>
            <a:endParaRPr lang="en-AU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90431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668B9-619A-FDBB-EA5A-0CB25CF2F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F84930EA-76D4-FC5C-14E1-25A294C942E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3098FC-C162-5E6E-55CE-43736CDAF496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F2FFADA-13BB-2C47-63F4-498F6FFC83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758B13-8ACB-EB21-1A1D-6CFE611A582E}"/>
              </a:ext>
            </a:extLst>
          </p:cNvPr>
          <p:cNvSpPr txBox="1"/>
          <p:nvPr/>
        </p:nvSpPr>
        <p:spPr>
          <a:xfrm>
            <a:off x="304800" y="1376084"/>
            <a:ext cx="11887198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Purpose of the Assignment: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This assignment allows your team to present a </a:t>
            </a:r>
            <a:r>
              <a:rPr lang="en-US" sz="2800" b="1" dirty="0">
                <a:latin typeface="+mj-lt"/>
              </a:rPr>
              <a:t>working prototype</a:t>
            </a:r>
            <a:r>
              <a:rPr lang="en-US" sz="2800" dirty="0">
                <a:latin typeface="+mj-lt"/>
              </a:rPr>
              <a:t> of your proposed system. You will showcase the </a:t>
            </a:r>
            <a:r>
              <a:rPr lang="en-US" sz="2800" b="1" dirty="0">
                <a:latin typeface="+mj-lt"/>
              </a:rPr>
              <a:t>design</a:t>
            </a:r>
            <a:r>
              <a:rPr lang="en-US" sz="2800" dirty="0">
                <a:latin typeface="+mj-lt"/>
              </a:rPr>
              <a:t>, </a:t>
            </a:r>
            <a:r>
              <a:rPr lang="en-US" sz="2800" b="1" dirty="0">
                <a:latin typeface="+mj-lt"/>
              </a:rPr>
              <a:t>functionality</a:t>
            </a:r>
            <a:r>
              <a:rPr lang="en-US" sz="2800" dirty="0">
                <a:latin typeface="+mj-lt"/>
              </a:rPr>
              <a:t>, and </a:t>
            </a:r>
            <a:r>
              <a:rPr lang="en-US" sz="2800" b="1" dirty="0">
                <a:latin typeface="+mj-lt"/>
              </a:rPr>
              <a:t>implementation strategy</a:t>
            </a:r>
            <a:r>
              <a:rPr lang="en-US" sz="2800" dirty="0">
                <a:latin typeface="+mj-lt"/>
              </a:rPr>
              <a:t>, demonstrating practical application of your technical and analytical skills.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Your submission should demonstrate:</a:t>
            </a:r>
          </a:p>
          <a:p>
            <a:pPr marL="7381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Technical competency in building and designing software interfaces.</a:t>
            </a:r>
          </a:p>
          <a:p>
            <a:pPr marL="7381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Clear understanding of the requirements outlined in Assignment 3.</a:t>
            </a:r>
          </a:p>
          <a:p>
            <a:pPr marL="7381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Thoughtful system architecture, functionality, usability, and real-world viability</a:t>
            </a:r>
          </a:p>
        </p:txBody>
      </p:sp>
    </p:spTree>
    <p:extLst>
      <p:ext uri="{BB962C8B-B14F-4D97-AF65-F5344CB8AC3E}">
        <p14:creationId xmlns:p14="http://schemas.microsoft.com/office/powerpoint/2010/main" val="208878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0643D-BAFB-2DD7-00CF-3ED7FB062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3643E3D1-AC01-6A6F-ECC2-1A5419B5170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0FF74B8-4238-EA9D-904C-F65E765CD839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BFC29492-A479-66C8-C202-48A098FA2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B4F99F-A085-FF17-F161-E4ACD5D989A7}"/>
              </a:ext>
            </a:extLst>
          </p:cNvPr>
          <p:cNvSpPr txBox="1"/>
          <p:nvPr/>
        </p:nvSpPr>
        <p:spPr>
          <a:xfrm>
            <a:off x="304800" y="1376084"/>
            <a:ext cx="11887198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Required Components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1. Module Hierarchy (3%)</a:t>
            </a:r>
          </a:p>
          <a:p>
            <a:pPr marL="7080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Display a diagram showing the system’s structure.</a:t>
            </a:r>
          </a:p>
          <a:p>
            <a:pPr marL="7080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a </a:t>
            </a:r>
            <a:r>
              <a:rPr lang="en-US" sz="2800" b="1" dirty="0">
                <a:latin typeface="+mj-lt"/>
              </a:rPr>
              <a:t>tree or chart</a:t>
            </a:r>
            <a:r>
              <a:rPr lang="en-US" sz="2800" dirty="0">
                <a:latin typeface="+mj-lt"/>
              </a:rPr>
              <a:t> format (e.g., Admin &gt; User Management &gt; Add User, Edit User, etc.).</a:t>
            </a:r>
          </a:p>
          <a:p>
            <a:pPr marL="7080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Clearly define modules, submodules, and their interactions.</a:t>
            </a:r>
          </a:p>
        </p:txBody>
      </p:sp>
    </p:spTree>
    <p:extLst>
      <p:ext uri="{BB962C8B-B14F-4D97-AF65-F5344CB8AC3E}">
        <p14:creationId xmlns:p14="http://schemas.microsoft.com/office/powerpoint/2010/main" val="1940545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E237B-A5AF-9AF9-8549-BCA901DA0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87843851-2B9B-C9F7-BE88-B1546A0A99D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F31311-B7F8-7955-A0D0-DB078DD62E70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EC0B865-C1D5-CF7C-C448-21DA9D43D0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BCB6E9-8724-64E3-E82A-A3C6AE4B893A}"/>
              </a:ext>
            </a:extLst>
          </p:cNvPr>
          <p:cNvSpPr txBox="1"/>
          <p:nvPr/>
        </p:nvSpPr>
        <p:spPr>
          <a:xfrm>
            <a:off x="304800" y="1376084"/>
            <a:ext cx="11887198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2. Mock-up Screens (5%)</a:t>
            </a:r>
          </a:p>
          <a:p>
            <a:pPr marL="7080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Include </a:t>
            </a:r>
            <a:r>
              <a:rPr lang="en-US" sz="2800" b="1" dirty="0">
                <a:latin typeface="+mj-lt"/>
              </a:rPr>
              <a:t>annotated mock-ups</a:t>
            </a:r>
            <a:r>
              <a:rPr lang="en-US" sz="2800" dirty="0">
                <a:latin typeface="+mj-lt"/>
              </a:rPr>
              <a:t> of important system interfaces.</a:t>
            </a:r>
          </a:p>
          <a:p>
            <a:pPr marL="7080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Screens should show layout, font, color, and button placement.</a:t>
            </a:r>
          </a:p>
          <a:p>
            <a:pPr marL="7080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Tools: You can use </a:t>
            </a:r>
            <a:r>
              <a:rPr lang="en-US" sz="2800" b="1" dirty="0">
                <a:latin typeface="+mj-lt"/>
              </a:rPr>
              <a:t>Figma</a:t>
            </a:r>
            <a:r>
              <a:rPr lang="en-US" sz="2800" dirty="0">
                <a:latin typeface="+mj-lt"/>
              </a:rPr>
              <a:t>, </a:t>
            </a:r>
            <a:r>
              <a:rPr lang="en-US" sz="2800" b="1" dirty="0">
                <a:latin typeface="+mj-lt"/>
              </a:rPr>
              <a:t>Adobe XD</a:t>
            </a:r>
            <a:r>
              <a:rPr lang="en-US" sz="2800" dirty="0">
                <a:latin typeface="+mj-lt"/>
              </a:rPr>
              <a:t>, </a:t>
            </a:r>
            <a:r>
              <a:rPr lang="en-US" sz="2800" b="1" dirty="0">
                <a:latin typeface="+mj-lt"/>
              </a:rPr>
              <a:t>Balsamiq</a:t>
            </a:r>
            <a:r>
              <a:rPr lang="en-US" sz="2800" dirty="0">
                <a:latin typeface="+mj-lt"/>
              </a:rPr>
              <a:t>, or simply annotated PowerPoint slides.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Tip:</a:t>
            </a:r>
            <a:r>
              <a:rPr lang="en-US" sz="2800" dirty="0">
                <a:latin typeface="+mj-lt"/>
              </a:rPr>
              <a:t> Group similar interfaces together and explain reusable design elements.</a:t>
            </a:r>
          </a:p>
        </p:txBody>
      </p:sp>
    </p:spTree>
    <p:extLst>
      <p:ext uri="{BB962C8B-B14F-4D97-AF65-F5344CB8AC3E}">
        <p14:creationId xmlns:p14="http://schemas.microsoft.com/office/powerpoint/2010/main" val="16828392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7E95D-383B-FEC0-0637-8C0B3AC02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7DA36C0D-0850-17F9-9B1D-1E7EDD14B87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14B417B-CDE0-A9C8-F28C-F45922A989FC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F56BFB1-0AEF-AC77-7E22-77EF12145A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426CEB-056F-CAC2-34DD-AEC7EEE5CCB5}"/>
              </a:ext>
            </a:extLst>
          </p:cNvPr>
          <p:cNvSpPr txBox="1"/>
          <p:nvPr/>
        </p:nvSpPr>
        <p:spPr>
          <a:xfrm>
            <a:off x="304800" y="1376084"/>
            <a:ext cx="1188719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3. Reports (6%)</a:t>
            </a:r>
          </a:p>
          <a:p>
            <a:pPr marL="7524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Define what business reports your system can generate (e.g., User Activity Report, Monthly Sales Summary).</a:t>
            </a:r>
          </a:p>
          <a:p>
            <a:pPr marL="7524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Provide sample report layouts: show headings, data tables, filters, and formats.</a:t>
            </a:r>
          </a:p>
        </p:txBody>
      </p:sp>
    </p:spTree>
    <p:extLst>
      <p:ext uri="{BB962C8B-B14F-4D97-AF65-F5344CB8AC3E}">
        <p14:creationId xmlns:p14="http://schemas.microsoft.com/office/powerpoint/2010/main" val="853608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FD32A-DFB5-90A5-ADC6-E584263B7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36B8FC7F-8F30-9772-2AF9-437705C6BD5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EF9687D-B514-8EFE-0BB4-11FA03ABD376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78B9095-89E1-791B-C90B-9D262BAA47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49EA2-E443-4A81-2233-5A9DE2F00759}"/>
              </a:ext>
            </a:extLst>
          </p:cNvPr>
          <p:cNvSpPr txBox="1"/>
          <p:nvPr/>
        </p:nvSpPr>
        <p:spPr>
          <a:xfrm>
            <a:off x="304800" y="1376084"/>
            <a:ext cx="11887198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4. Documentation &amp; User Manual (6%)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Your documentation should be usable and informative for new users:</a:t>
            </a:r>
          </a:p>
          <a:p>
            <a:pPr marL="7524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Interface text</a:t>
            </a:r>
            <a:r>
              <a:rPr lang="en-US" sz="2800" dirty="0">
                <a:latin typeface="+mj-lt"/>
              </a:rPr>
              <a:t>: Instructions, menus, tooltips, error messages.</a:t>
            </a:r>
          </a:p>
          <a:p>
            <a:pPr marL="7524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Operational messages</a:t>
            </a:r>
            <a:r>
              <a:rPr lang="en-US" sz="2800" dirty="0">
                <a:latin typeface="+mj-lt"/>
              </a:rPr>
              <a:t>: Error handling and warnings.</a:t>
            </a:r>
          </a:p>
          <a:p>
            <a:pPr marL="7524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Online help</a:t>
            </a:r>
            <a:r>
              <a:rPr lang="en-US" sz="2800" dirty="0">
                <a:latin typeface="+mj-lt"/>
              </a:rPr>
              <a:t>: FAQs, tutorials, navigation tips.</a:t>
            </a:r>
          </a:p>
          <a:p>
            <a:pPr marL="7524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Printable User Manual</a:t>
            </a:r>
            <a:r>
              <a:rPr lang="en-US" sz="2800" dirty="0">
                <a:latin typeface="+mj-lt"/>
              </a:rPr>
              <a:t>: Describe steps for login, task execution, troubleshooting.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Hint:</a:t>
            </a:r>
            <a:r>
              <a:rPr lang="en-US" sz="2800" dirty="0">
                <a:latin typeface="+mj-lt"/>
              </a:rPr>
              <a:t> Include screenshots with annotated steps to guide usage.</a:t>
            </a:r>
          </a:p>
        </p:txBody>
      </p:sp>
    </p:spTree>
    <p:extLst>
      <p:ext uri="{BB962C8B-B14F-4D97-AF65-F5344CB8AC3E}">
        <p14:creationId xmlns:p14="http://schemas.microsoft.com/office/powerpoint/2010/main" val="708342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E76F5-6EAB-C640-F69F-B8073D09B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EDD13109-4AC1-6AD8-B6D5-EB3ADCB3B82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6163E1-4E07-0FA4-CE0B-3C4E2A8E9906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CBDA0C5-4E5B-AF52-34FA-3E91ADE0B0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9464E2-56B6-F905-BE6F-707E9622826B}"/>
              </a:ext>
            </a:extLst>
          </p:cNvPr>
          <p:cNvSpPr txBox="1"/>
          <p:nvPr/>
        </p:nvSpPr>
        <p:spPr>
          <a:xfrm>
            <a:off x="304800" y="1376084"/>
            <a:ext cx="11887198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5. Implementation &amp; Testing (10%)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Explain </a:t>
            </a:r>
            <a:r>
              <a:rPr lang="en-US" sz="2800" b="1" dirty="0">
                <a:latin typeface="+mj-lt"/>
              </a:rPr>
              <a:t>how your system is built</a:t>
            </a:r>
            <a:r>
              <a:rPr lang="en-US" sz="2800" dirty="0">
                <a:latin typeface="+mj-lt"/>
              </a:rPr>
              <a:t>: which tools, technologies, and how modules are connected.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Include: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Screenshots of your working prototype.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Technology stack used (e.g., XAMPP + PHP + MySQL + HTML/CSS/JS).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Brief database structure.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Testing strategy</a:t>
            </a:r>
            <a:r>
              <a:rPr lang="en-US" sz="2800" dirty="0">
                <a:latin typeface="+mj-lt"/>
              </a:rPr>
              <a:t>: Describe unit, integration, and user testing conducted. Mention test results and any known bugs/fixes.</a:t>
            </a:r>
          </a:p>
        </p:txBody>
      </p:sp>
    </p:spTree>
    <p:extLst>
      <p:ext uri="{BB962C8B-B14F-4D97-AF65-F5344CB8AC3E}">
        <p14:creationId xmlns:p14="http://schemas.microsoft.com/office/powerpoint/2010/main" val="1029888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E9DF1-95C6-20C2-BBF8-3E4204699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567A23D9-2FFC-998C-D8F5-952C3DDE655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4ABBA6-44BC-6393-EFE4-D19C2F62D4CB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50ACAD54-4C25-C4AD-B20A-11C8206F39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35EB4B-8A3A-E1F6-D38D-265C8932D485}"/>
              </a:ext>
            </a:extLst>
          </p:cNvPr>
          <p:cNvSpPr txBox="1"/>
          <p:nvPr/>
        </p:nvSpPr>
        <p:spPr>
          <a:xfrm>
            <a:off x="304800" y="1376084"/>
            <a:ext cx="11887198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Tips for Success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What To Do:</a:t>
            </a:r>
          </a:p>
          <a:p>
            <a:pPr marL="7667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Organize content logically: </a:t>
            </a:r>
            <a:r>
              <a:rPr lang="en-US" sz="2800" b="1" dirty="0">
                <a:latin typeface="+mj-lt"/>
              </a:rPr>
              <a:t>Introduction → Design → Implementation → Testing</a:t>
            </a:r>
            <a:r>
              <a:rPr lang="en-US" sz="2800" dirty="0">
                <a:latin typeface="+mj-lt"/>
              </a:rPr>
              <a:t>.</a:t>
            </a:r>
          </a:p>
          <a:p>
            <a:pPr marL="7667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diagrams for clarity (Gantt chart, mockups, architecture, etc.).</a:t>
            </a:r>
          </a:p>
          <a:p>
            <a:pPr marL="7667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Clearly label and caption all images and diagrams.</a:t>
            </a:r>
          </a:p>
          <a:p>
            <a:pPr marL="7667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Write in </a:t>
            </a:r>
            <a:r>
              <a:rPr lang="en-US" sz="2800" b="1" dirty="0">
                <a:latin typeface="+mj-lt"/>
              </a:rPr>
              <a:t>clear professional language</a:t>
            </a:r>
            <a:r>
              <a:rPr lang="en-US" sz="2800" dirty="0">
                <a:latin typeface="+mj-lt"/>
              </a:rPr>
              <a:t> suitable for a business and technical audience.</a:t>
            </a:r>
          </a:p>
          <a:p>
            <a:pPr marL="7667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Follow formatting guidelines: </a:t>
            </a:r>
            <a:r>
              <a:rPr lang="en-US" sz="2800" b="1" dirty="0">
                <a:latin typeface="+mj-lt"/>
              </a:rPr>
              <a:t>Calibri 11pt</a:t>
            </a:r>
            <a:r>
              <a:rPr lang="en-US" sz="2800" dirty="0">
                <a:latin typeface="+mj-lt"/>
              </a:rPr>
              <a:t>, 2cm margins, appropriate headings.</a:t>
            </a:r>
          </a:p>
        </p:txBody>
      </p:sp>
    </p:spTree>
    <p:extLst>
      <p:ext uri="{BB962C8B-B14F-4D97-AF65-F5344CB8AC3E}">
        <p14:creationId xmlns:p14="http://schemas.microsoft.com/office/powerpoint/2010/main" val="14464724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9FDDA-ECC0-55C5-B26F-E18DEC54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189E93E6-3E66-6C38-D904-91E2A59662D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F0155F4-4C4D-DCAE-6A59-22985C0C2EDC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7F1DC2AE-8498-18D4-DE62-BB8F240FCD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C5F92-EA5A-9E5A-6F47-88B418F7ECB3}"/>
              </a:ext>
            </a:extLst>
          </p:cNvPr>
          <p:cNvSpPr txBox="1"/>
          <p:nvPr/>
        </p:nvSpPr>
        <p:spPr>
          <a:xfrm>
            <a:off x="304800" y="1376084"/>
            <a:ext cx="1188719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❌ What to Avoid:</a:t>
            </a:r>
          </a:p>
          <a:p>
            <a:pPr marL="8255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Submitting screenshots with no explanation.</a:t>
            </a:r>
          </a:p>
          <a:p>
            <a:pPr marL="8255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Omitting your group number or student names from the cover sheet.</a:t>
            </a:r>
          </a:p>
          <a:p>
            <a:pPr marL="8255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Using technical jargon without context.</a:t>
            </a:r>
          </a:p>
          <a:p>
            <a:pPr marL="8255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Missing citation of tools, libraries, or borrowed resources.</a:t>
            </a:r>
          </a:p>
        </p:txBody>
      </p:sp>
    </p:spTree>
    <p:extLst>
      <p:ext uri="{BB962C8B-B14F-4D97-AF65-F5344CB8AC3E}">
        <p14:creationId xmlns:p14="http://schemas.microsoft.com/office/powerpoint/2010/main" val="7828037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CEE63-6603-6CF6-BFBB-590EDDE61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71B6474D-3CFF-338E-90BB-1A96B128673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5231D8-DFB9-4460-6489-F02CB05BEA6B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58AD972-F7D0-710D-CE6F-8991D9F3CF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602E21-1D51-E76A-32A4-587D659E0654}"/>
              </a:ext>
            </a:extLst>
          </p:cNvPr>
          <p:cNvSpPr txBox="1"/>
          <p:nvPr/>
        </p:nvSpPr>
        <p:spPr>
          <a:xfrm>
            <a:off x="304800" y="1376084"/>
            <a:ext cx="1188719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Submission Requirements</a:t>
            </a:r>
          </a:p>
          <a:p>
            <a:pPr marL="841375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Format: MS Word (.docx)</a:t>
            </a:r>
          </a:p>
          <a:p>
            <a:pPr marL="841375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Filename: HS3052-StudentID.docx</a:t>
            </a:r>
          </a:p>
          <a:p>
            <a:pPr marL="841375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Include: Assessment Cover Page with all group members listed</a:t>
            </a:r>
          </a:p>
          <a:p>
            <a:pPr marL="841375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Submit via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Blackboard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by (refer to blackboar</a:t>
            </a:r>
            <a:r>
              <a:rPr lang="en-US" altLang="en-US" sz="2800" dirty="0">
                <a:solidFill>
                  <a:schemeClr val="tx1"/>
                </a:solidFill>
                <a:latin typeface="+mj-lt"/>
              </a:rPr>
              <a:t>d for the due date)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48978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5C401-6C41-0CE7-8F4A-DD507DF11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4D58113A-CF66-018E-1D9A-46DADDC3314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A950AB-9324-1327-DC8E-80F7C2009F5D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07F517-E791-D192-AB46-DBB2DFFED9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FE9174C-7A37-BFB6-38F2-1D6D350BDC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865938"/>
              </p:ext>
            </p:extLst>
          </p:nvPr>
        </p:nvGraphicFramePr>
        <p:xfrm>
          <a:off x="457199" y="2410363"/>
          <a:ext cx="10972800" cy="3992118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3964351323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4241783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 dirty="0"/>
                        <a:t>Criteria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 dirty="0"/>
                        <a:t>Weight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18771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Module Hierarchy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0779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Mock-up Screens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246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Reports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5688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Documentation &amp; User Manual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42561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Implementation &amp;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10%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7438120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2E5E786C-208E-3418-4E12-1E97C381B8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09497"/>
            <a:ext cx="416973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Marking Guide (30% Total)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35610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B229E-7162-97D1-EE0D-7682F05CE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CD14C28C-744B-B042-FF3B-A86B9F476E4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33BDB0-C797-7D93-E44A-E6A9047E164E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F3A9F4A-0B15-F3D5-5A88-2BE066A4E6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B7FDEAB-C313-CC6A-3BB9-A1613D98D4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73059"/>
            <a:ext cx="11963400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Suggested Tools</a:t>
            </a:r>
          </a:p>
          <a:p>
            <a:pPr marL="7080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Design/Mockups</a:t>
            </a:r>
            <a:r>
              <a:rPr lang="en-US" sz="2800" dirty="0">
                <a:latin typeface="+mj-lt"/>
              </a:rPr>
              <a:t>: Figma, Balsamiq, Adobe XD, PowerPoint</a:t>
            </a:r>
          </a:p>
          <a:p>
            <a:pPr marL="7080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Development</a:t>
            </a:r>
            <a:r>
              <a:rPr lang="en-US" sz="2800" dirty="0">
                <a:latin typeface="+mj-lt"/>
              </a:rPr>
              <a:t>: XAMPP, PHP, MySQL, HTML, CSS, JS</a:t>
            </a:r>
          </a:p>
          <a:p>
            <a:pPr marL="7080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Reporting</a:t>
            </a:r>
            <a:r>
              <a:rPr lang="en-US" sz="2800" dirty="0">
                <a:latin typeface="+mj-lt"/>
              </a:rPr>
              <a:t>: Excel, Power BI, Google Data Studio</a:t>
            </a:r>
          </a:p>
          <a:p>
            <a:pPr marL="7080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Documentation</a:t>
            </a:r>
            <a:r>
              <a:rPr lang="en-US" sz="2800" dirty="0">
                <a:latin typeface="+mj-lt"/>
              </a:rPr>
              <a:t>: MS Word, Google Docs</a:t>
            </a:r>
          </a:p>
        </p:txBody>
      </p:sp>
    </p:spTree>
    <p:extLst>
      <p:ext uri="{BB962C8B-B14F-4D97-AF65-F5344CB8AC3E}">
        <p14:creationId xmlns:p14="http://schemas.microsoft.com/office/powerpoint/2010/main" val="42634863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577F0-E960-CF92-9D6F-1F8DBAFCE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803D604B-D343-8B65-1CA8-25CF1CB4C92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77E41A-D911-D448-17BF-1AEC2D023F4A}"/>
              </a:ext>
            </a:extLst>
          </p:cNvPr>
          <p:cNvSpPr txBox="1"/>
          <p:nvPr/>
        </p:nvSpPr>
        <p:spPr>
          <a:xfrm>
            <a:off x="0" y="0"/>
            <a:ext cx="11887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Preparation for Group Assignment 4: Solution Prototype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4AAA4BE-9F15-682E-901A-DEB357A9A5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C01B3FAA-5B60-5E9F-071E-6B0913E5FA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323" y="1200329"/>
            <a:ext cx="11963400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Academic Integrity Reminder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Strict penalties apply for:</a:t>
            </a:r>
          </a:p>
          <a:p>
            <a:pPr marL="8255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Plagiarism</a:t>
            </a:r>
          </a:p>
          <a:p>
            <a:pPr marL="8255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Contract cheating</a:t>
            </a:r>
          </a:p>
          <a:p>
            <a:pPr marL="8255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Collusion</a:t>
            </a:r>
          </a:p>
          <a:p>
            <a:pPr marL="8255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Submission impersonation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Always produce original work and credit all sources using </a:t>
            </a:r>
            <a:r>
              <a:rPr lang="en-US" sz="2800" b="1" dirty="0">
                <a:latin typeface="+mj-lt"/>
              </a:rPr>
              <a:t>Holmes Adapted Harvard Referencing</a:t>
            </a:r>
            <a:r>
              <a:rPr lang="en-US" sz="2800" dirty="0">
                <a:latin typeface="+mj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332053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8E0D2-9286-EC6A-FC28-A59187C9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53D8119B-B033-4742-7B01-FE383058F9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10538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Group Progress Presentation – Overview of Progress at least 2 min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4872E6-ECC6-7615-EF56-326EA87CDB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199" b="23637"/>
          <a:stretch/>
        </p:blipFill>
        <p:spPr>
          <a:xfrm>
            <a:off x="8626" y="1371600"/>
            <a:ext cx="12192000" cy="426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8778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3FDA4-F517-E77D-EB49-2934AAEB6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D3044E11-6E19-E06B-FA73-B9C6FFE17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Question and Answers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107B59-23AC-C30D-A135-12D649F18985}"/>
              </a:ext>
            </a:extLst>
          </p:cNvPr>
          <p:cNvSpPr txBox="1"/>
          <p:nvPr/>
        </p:nvSpPr>
        <p:spPr>
          <a:xfrm>
            <a:off x="8626" y="914400"/>
            <a:ext cx="12174748" cy="8753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700" b="1" dirty="0">
                <a:latin typeface="+mj-lt"/>
              </a:rPr>
              <a:t>Q1. Do students need to develop a prototype (website, mobile app, or software)?</a:t>
            </a:r>
          </a:p>
          <a:p>
            <a:pPr>
              <a:lnSpc>
                <a:spcPct val="150000"/>
              </a:lnSpc>
              <a:buNone/>
            </a:pPr>
            <a:r>
              <a:rPr lang="en-US" sz="2700" b="1" dirty="0">
                <a:latin typeface="+mj-lt"/>
              </a:rPr>
              <a:t>Yes — students are required to develop a functional prototype</a:t>
            </a:r>
            <a:r>
              <a:rPr lang="en-US" sz="2700" dirty="0">
                <a:latin typeface="+mj-lt"/>
              </a:rPr>
              <a:t> of a system, such as: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+mj-lt"/>
              </a:rPr>
              <a:t>A website or web app</a:t>
            </a:r>
            <a:endParaRPr lang="en-US" sz="27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+mj-lt"/>
              </a:rPr>
              <a:t>A mobile app</a:t>
            </a:r>
            <a:endParaRPr lang="en-US" sz="27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+mj-lt"/>
              </a:rPr>
              <a:t>A software application</a:t>
            </a:r>
            <a:endParaRPr lang="en-US" sz="27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+mj-lt"/>
              </a:rPr>
              <a:t>A database-driven system (e.g. Power BI, Tableau dashboard)</a:t>
            </a:r>
            <a:endParaRPr lang="en-US" sz="2700" dirty="0">
              <a:latin typeface="+mj-lt"/>
            </a:endParaRPr>
          </a:p>
          <a:p>
            <a:pPr>
              <a:lnSpc>
                <a:spcPct val="150000"/>
              </a:lnSpc>
              <a:buNone/>
            </a:pPr>
            <a:r>
              <a:rPr lang="en-US" sz="2700" dirty="0">
                <a:latin typeface="+mj-lt"/>
              </a:rPr>
              <a:t>The prototype </a:t>
            </a:r>
            <a:r>
              <a:rPr lang="en-US" sz="2700" b="1" dirty="0">
                <a:latin typeface="+mj-lt"/>
              </a:rPr>
              <a:t>must include</a:t>
            </a:r>
            <a:r>
              <a:rPr lang="en-US" sz="2700" dirty="0">
                <a:latin typeface="+mj-lt"/>
              </a:rPr>
              <a:t>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+mj-lt"/>
              </a:rPr>
              <a:t>Mock-up screens</a:t>
            </a:r>
            <a:endParaRPr lang="en-US" sz="27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+mj-lt"/>
              </a:rPr>
              <a:t>Reports generated from a database</a:t>
            </a:r>
            <a:endParaRPr lang="en-US" sz="27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+mj-lt"/>
              </a:rPr>
              <a:t>Documentation</a:t>
            </a:r>
            <a:endParaRPr lang="en-US" sz="27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+mj-lt"/>
              </a:rPr>
              <a:t>Implementation and Testing</a:t>
            </a:r>
            <a:endParaRPr lang="en-US" sz="27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+mj-lt"/>
              </a:rPr>
              <a:t>Screenshots and examples of how it works</a:t>
            </a:r>
            <a:endParaRPr lang="en-US" sz="2700" dirty="0"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sz="2700" dirty="0">
                <a:latin typeface="+mj-lt"/>
              </a:rPr>
              <a:t>This all implies a </a:t>
            </a:r>
            <a:r>
              <a:rPr lang="en-US" sz="2700" b="1" dirty="0">
                <a:latin typeface="+mj-lt"/>
              </a:rPr>
              <a:t>working system or a demonstrable partial product</a:t>
            </a:r>
            <a:r>
              <a:rPr lang="en-US" sz="2700" dirty="0">
                <a:latin typeface="+mj-lt"/>
              </a:rPr>
              <a:t> — not just research or a concept.</a:t>
            </a:r>
          </a:p>
        </p:txBody>
      </p:sp>
    </p:spTree>
    <p:extLst>
      <p:ext uri="{BB962C8B-B14F-4D97-AF65-F5344CB8AC3E}">
        <p14:creationId xmlns:p14="http://schemas.microsoft.com/office/powerpoint/2010/main" val="34628113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BB1C6-7A76-ECE6-2750-86A81950C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171B7807-2258-AAFA-DBC4-609365DF33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Question and Answers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B51251-C5B5-211A-73B1-CDCB6A7F541C}"/>
              </a:ext>
            </a:extLst>
          </p:cNvPr>
          <p:cNvSpPr txBox="1"/>
          <p:nvPr/>
        </p:nvSpPr>
        <p:spPr>
          <a:xfrm>
            <a:off x="8626" y="914400"/>
            <a:ext cx="12174748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Q2. Is this purely software/mobile development or both research + development?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It is </a:t>
            </a:r>
            <a:r>
              <a:rPr lang="en-US" sz="2800" b="1" dirty="0">
                <a:latin typeface="+mj-lt"/>
              </a:rPr>
              <a:t>primarily a development task</a:t>
            </a:r>
            <a:r>
              <a:rPr lang="en-US" sz="2800" dirty="0">
                <a:latin typeface="+mj-lt"/>
              </a:rPr>
              <a:t> with </a:t>
            </a:r>
            <a:r>
              <a:rPr lang="en-US" sz="2800" b="1" dirty="0">
                <a:latin typeface="+mj-lt"/>
              </a:rPr>
              <a:t>research embedded</a:t>
            </a:r>
            <a:r>
              <a:rPr lang="en-US" sz="2800" dirty="0">
                <a:latin typeface="+mj-lt"/>
              </a:rPr>
              <a:t> into:</a:t>
            </a:r>
          </a:p>
          <a:p>
            <a:pPr marL="811213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Analysis</a:t>
            </a:r>
            <a:endParaRPr lang="en-US" sz="2800" dirty="0">
              <a:latin typeface="+mj-lt"/>
            </a:endParaRPr>
          </a:p>
          <a:p>
            <a:pPr marL="811213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Design methodology</a:t>
            </a:r>
            <a:endParaRPr lang="en-US" sz="2800" dirty="0">
              <a:latin typeface="+mj-lt"/>
            </a:endParaRPr>
          </a:p>
          <a:p>
            <a:pPr marL="811213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Database structure</a:t>
            </a:r>
            <a:endParaRPr lang="en-US" sz="2800" dirty="0">
              <a:latin typeface="+mj-lt"/>
            </a:endParaRPr>
          </a:p>
          <a:p>
            <a:pPr marL="811213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User needs</a:t>
            </a:r>
            <a:endParaRPr lang="en-US" sz="2800" dirty="0">
              <a:latin typeface="+mj-lt"/>
            </a:endParaRPr>
          </a:p>
          <a:p>
            <a:pPr marL="811213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Testing and evaluation</a:t>
            </a:r>
            <a:endParaRPr lang="en-US" sz="2800" dirty="0"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So while some research is expected, </a:t>
            </a:r>
            <a:r>
              <a:rPr lang="en-US" sz="2800" b="1" dirty="0">
                <a:latin typeface="+mj-lt"/>
              </a:rPr>
              <a:t>the main deliverable is a working prototype</a:t>
            </a:r>
            <a:r>
              <a:rPr lang="en-US" sz="2800" dirty="0">
                <a:latin typeface="+mj-lt"/>
              </a:rPr>
              <a:t>, not a purely research paper.</a:t>
            </a:r>
          </a:p>
        </p:txBody>
      </p:sp>
    </p:spTree>
    <p:extLst>
      <p:ext uri="{BB962C8B-B14F-4D97-AF65-F5344CB8AC3E}">
        <p14:creationId xmlns:p14="http://schemas.microsoft.com/office/powerpoint/2010/main" val="35307178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88B78-B250-D3BC-5494-AEFB3BCCD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953CC61B-6B2A-7ACF-EF48-0A36E28321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Question and Answers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053A82-A072-6A53-3E6E-A1F56665790F}"/>
              </a:ext>
            </a:extLst>
          </p:cNvPr>
          <p:cNvSpPr txBox="1"/>
          <p:nvPr/>
        </p:nvSpPr>
        <p:spPr>
          <a:xfrm>
            <a:off x="8626" y="914400"/>
            <a:ext cx="12174748" cy="7135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Q3. What kind of prototype is acceptable?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 instructions are flexible about the form of the prototype. Examples include: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website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(HTML/CSS/JS or a low-code tool)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mobile app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(even using a prototype tool like Figma, Flutter, or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Thunkable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desktop or cloud-based system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using tools like Power BI, MS Access, or Python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mock-up or wireframe prototype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(if it's high-fidelity with detailed functionality explained)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Note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If your team is short on time or development skills, a mock-up with screenshots and a clearly designed system flow might be accepted — but it should be detailed enough to show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realistic functionality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00195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D915D-9F85-435A-6BDF-1BCB5E325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0F54A366-DD71-51D4-CAD7-FE2D1513E4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Question and Answers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93D9DF-53E4-91BC-6A38-ED6FB3CE9C0C}"/>
              </a:ext>
            </a:extLst>
          </p:cNvPr>
          <p:cNvSpPr txBox="1"/>
          <p:nvPr/>
        </p:nvSpPr>
        <p:spPr>
          <a:xfrm>
            <a:off x="8626" y="914400"/>
            <a:ext cx="1217474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Final Clarification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There is </a:t>
            </a:r>
            <a:r>
              <a:rPr lang="en-US" sz="2800" b="1" dirty="0">
                <a:latin typeface="+mj-lt"/>
              </a:rPr>
              <a:t>no mention</a:t>
            </a:r>
            <a:r>
              <a:rPr lang="en-US" sz="2800" dirty="0">
                <a:latin typeface="+mj-lt"/>
              </a:rPr>
              <a:t> that you must </a:t>
            </a:r>
            <a:r>
              <a:rPr lang="en-US" sz="2800" b="1" dirty="0">
                <a:latin typeface="+mj-lt"/>
              </a:rPr>
              <a:t>choose between research or development</a:t>
            </a:r>
            <a:r>
              <a:rPr lang="en-US" sz="2800" dirty="0">
                <a:latin typeface="+mj-lt"/>
              </a:rPr>
              <a:t>. Instead, you’re expected to apply research methods </a:t>
            </a:r>
            <a:r>
              <a:rPr lang="en-US" sz="2800" b="1" dirty="0">
                <a:latin typeface="+mj-lt"/>
              </a:rPr>
              <a:t>as part of the development</a:t>
            </a:r>
            <a:r>
              <a:rPr lang="en-US" sz="2800" dirty="0">
                <a:latin typeface="+mj-lt"/>
              </a:rPr>
              <a:t> of a working </a:t>
            </a:r>
            <a:r>
              <a:rPr lang="en-US" sz="2800" b="1" dirty="0">
                <a:latin typeface="+mj-lt"/>
              </a:rPr>
              <a:t>solution prototype</a:t>
            </a:r>
            <a:r>
              <a:rPr lang="en-US" sz="2800" dirty="0">
                <a:latin typeface="+mj-lt"/>
              </a:rPr>
              <a:t> — this is a </a:t>
            </a:r>
            <a:r>
              <a:rPr lang="en-US" sz="2800" b="1" dirty="0">
                <a:latin typeface="+mj-lt"/>
              </a:rPr>
              <a:t>design and implementation-heavy</a:t>
            </a:r>
            <a:r>
              <a:rPr lang="en-US" sz="2800" dirty="0">
                <a:latin typeface="+mj-lt"/>
              </a:rPr>
              <a:t> assessment.</a:t>
            </a:r>
          </a:p>
        </p:txBody>
      </p:sp>
    </p:spTree>
    <p:extLst>
      <p:ext uri="{BB962C8B-B14F-4D97-AF65-F5344CB8AC3E}">
        <p14:creationId xmlns:p14="http://schemas.microsoft.com/office/powerpoint/2010/main" val="13737016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645E5-9F6D-4E2F-5E8B-02E19B85A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426C422B-C9F6-BC74-B653-D5C56933F2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Question and Answers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964A16-6759-AF71-D30F-89FAD61EBDA5}"/>
              </a:ext>
            </a:extLst>
          </p:cNvPr>
          <p:cNvSpPr txBox="1"/>
          <p:nvPr/>
        </p:nvSpPr>
        <p:spPr>
          <a:xfrm>
            <a:off x="8626" y="914400"/>
            <a:ext cx="12174748" cy="2608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Beginner Friendly tools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You can use these tools to develop your </a:t>
            </a:r>
            <a:r>
              <a:rPr lang="en-US" sz="2800" b="1" dirty="0">
                <a:latin typeface="+mj-lt"/>
              </a:rPr>
              <a:t>solution prototype</a:t>
            </a:r>
            <a:r>
              <a:rPr lang="en-US" sz="2800" dirty="0">
                <a:latin typeface="+mj-lt"/>
              </a:rPr>
              <a:t> — whether it's a website, mobile app, or a system interface. These tools </a:t>
            </a:r>
            <a:r>
              <a:rPr lang="en-US" sz="2800" b="1" dirty="0">
                <a:latin typeface="+mj-lt"/>
              </a:rPr>
              <a:t>require little to no coding</a:t>
            </a:r>
            <a:r>
              <a:rPr lang="en-US" sz="2800" dirty="0">
                <a:latin typeface="+mj-lt"/>
              </a:rPr>
              <a:t> and are ideal for students working under time constraints.</a:t>
            </a:r>
          </a:p>
        </p:txBody>
      </p:sp>
    </p:spTree>
    <p:extLst>
      <p:ext uri="{BB962C8B-B14F-4D97-AF65-F5344CB8AC3E}">
        <p14:creationId xmlns:p14="http://schemas.microsoft.com/office/powerpoint/2010/main" val="23994364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7B287-DDD7-2477-31AA-2139F1BD2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69DF591E-254E-5A34-3F41-AA1902040C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Question and Answers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D004A-B05A-E213-A7C2-6B570020D75D}"/>
              </a:ext>
            </a:extLst>
          </p:cNvPr>
          <p:cNvSpPr txBox="1"/>
          <p:nvPr/>
        </p:nvSpPr>
        <p:spPr>
          <a:xfrm>
            <a:off x="8626" y="914400"/>
            <a:ext cx="12174748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1. For a Website/Web App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b="1" dirty="0">
                <a:latin typeface="+mj-lt"/>
              </a:rPr>
              <a:t>Google Sites </a:t>
            </a:r>
            <a:r>
              <a:rPr lang="en-US" sz="2800" b="1" i="1" dirty="0">
                <a:latin typeface="+mj-lt"/>
              </a:rPr>
              <a:t>(No coding)</a:t>
            </a:r>
            <a:endParaRPr lang="en-US" sz="2800" b="1" dirty="0">
              <a:latin typeface="+mj-lt"/>
            </a:endParaRPr>
          </a:p>
          <a:p>
            <a:pPr marL="758825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Best for</a:t>
            </a:r>
            <a:r>
              <a:rPr lang="en-US" sz="2800" dirty="0">
                <a:latin typeface="+mj-lt"/>
              </a:rPr>
              <a:t>: Simple system mockups, dashboards, portals</a:t>
            </a:r>
          </a:p>
          <a:p>
            <a:pPr marL="758825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Features</a:t>
            </a:r>
            <a:r>
              <a:rPr lang="en-US" sz="2800" dirty="0">
                <a:latin typeface="+mj-lt"/>
              </a:rPr>
              <a:t>: Drag-and-drop, embed Google Forms, Docs, Sheets</a:t>
            </a:r>
          </a:p>
          <a:p>
            <a:pPr marL="758825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Link</a:t>
            </a:r>
            <a:r>
              <a:rPr lang="en-US" sz="2800" dirty="0">
                <a:latin typeface="+mj-lt"/>
              </a:rPr>
              <a:t>: </a:t>
            </a:r>
            <a:r>
              <a:rPr lang="en-US" sz="2800" dirty="0">
                <a:latin typeface="+mj-lt"/>
                <a:hlinkClick r:id="rId2"/>
              </a:rPr>
              <a:t>https://sites.google.com</a:t>
            </a:r>
            <a:endParaRPr lang="en-US" sz="2800" dirty="0">
              <a:latin typeface="+mj-lt"/>
            </a:endParaRPr>
          </a:p>
          <a:p>
            <a:pPr marL="758825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Ideal if</a:t>
            </a:r>
            <a:r>
              <a:rPr lang="en-US" sz="2800" dirty="0">
                <a:latin typeface="+mj-lt"/>
              </a:rPr>
              <a:t>: You want to build a simple interface + embed sample reports (e.g., PDFs, charts)</a:t>
            </a:r>
          </a:p>
        </p:txBody>
      </p:sp>
    </p:spTree>
    <p:extLst>
      <p:ext uri="{BB962C8B-B14F-4D97-AF65-F5344CB8AC3E}">
        <p14:creationId xmlns:p14="http://schemas.microsoft.com/office/powerpoint/2010/main" val="977161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5AD1F-4F81-7435-5AA8-CEEBFC0FC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39B25C99-A8FF-8F99-6C97-A0A4D1EA77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Question and Answers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A38348-339F-E2AC-2BC2-B5676C53A709}"/>
              </a:ext>
            </a:extLst>
          </p:cNvPr>
          <p:cNvSpPr txBox="1"/>
          <p:nvPr/>
        </p:nvSpPr>
        <p:spPr>
          <a:xfrm>
            <a:off x="8626" y="914400"/>
            <a:ext cx="1217474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b="1" dirty="0">
                <a:latin typeface="+mj-lt"/>
              </a:rPr>
              <a:t>Wix / </a:t>
            </a:r>
            <a:r>
              <a:rPr lang="en-US" sz="2800" b="1" dirty="0" err="1">
                <a:latin typeface="+mj-lt"/>
              </a:rPr>
              <a:t>Webflow</a:t>
            </a:r>
            <a:r>
              <a:rPr lang="en-US" sz="2800" b="1" dirty="0">
                <a:latin typeface="+mj-lt"/>
              </a:rPr>
              <a:t> / </a:t>
            </a:r>
            <a:r>
              <a:rPr lang="en-US" sz="2800" b="1" dirty="0" err="1">
                <a:latin typeface="+mj-lt"/>
              </a:rPr>
              <a:t>Carrd</a:t>
            </a:r>
            <a:endParaRPr lang="en-US" sz="2800" b="1" dirty="0">
              <a:latin typeface="+mj-lt"/>
            </a:endParaRPr>
          </a:p>
          <a:p>
            <a:pPr marL="811213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Best for</a:t>
            </a:r>
            <a:r>
              <a:rPr lang="en-US" sz="2800" dirty="0">
                <a:latin typeface="+mj-lt"/>
              </a:rPr>
              <a:t>: Highly visual web apps or landing pages</a:t>
            </a:r>
          </a:p>
          <a:p>
            <a:pPr marL="811213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Drag-and-drop</a:t>
            </a:r>
            <a:r>
              <a:rPr lang="en-US" sz="2800" dirty="0">
                <a:latin typeface="+mj-lt"/>
              </a:rPr>
              <a:t> editors with professional templates</a:t>
            </a:r>
          </a:p>
          <a:p>
            <a:pPr marL="811213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Link</a:t>
            </a:r>
            <a:r>
              <a:rPr lang="en-US" sz="2800" dirty="0">
                <a:latin typeface="+mj-lt"/>
              </a:rPr>
              <a:t>: </a:t>
            </a:r>
            <a:r>
              <a:rPr lang="en-US" sz="2800" dirty="0">
                <a:latin typeface="+mj-lt"/>
                <a:hlinkClick r:id="rId2"/>
              </a:rPr>
              <a:t>https://www.wix.com</a:t>
            </a:r>
            <a:r>
              <a:rPr lang="en-US" sz="2800" dirty="0">
                <a:latin typeface="+mj-lt"/>
              </a:rPr>
              <a:t>, </a:t>
            </a:r>
            <a:r>
              <a:rPr lang="en-US" sz="2800" dirty="0">
                <a:latin typeface="+mj-lt"/>
                <a:hlinkClick r:id="rId3"/>
              </a:rPr>
              <a:t>https://webflow.com</a:t>
            </a:r>
            <a:r>
              <a:rPr lang="en-US" sz="2800" dirty="0">
                <a:latin typeface="+mj-lt"/>
              </a:rPr>
              <a:t>, </a:t>
            </a:r>
            <a:r>
              <a:rPr lang="en-US" sz="2800" dirty="0">
                <a:latin typeface="+mj-lt"/>
                <a:hlinkClick r:id="rId4"/>
              </a:rPr>
              <a:t>https://carrd.co</a:t>
            </a: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709898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0E794-5D34-A863-B4E7-A1A333FD8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F4FEC1CF-B3C1-9E1F-03CD-855A00E389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Question and Answers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7EE3B6-B408-43E8-D78A-5DBFF9BA4094}"/>
              </a:ext>
            </a:extLst>
          </p:cNvPr>
          <p:cNvSpPr txBox="1"/>
          <p:nvPr/>
        </p:nvSpPr>
        <p:spPr>
          <a:xfrm>
            <a:off x="8626" y="914400"/>
            <a:ext cx="1217474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2. For Mobile App Prototypes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b="1" dirty="0">
                <a:latin typeface="+mj-lt"/>
              </a:rPr>
              <a:t>Figma + Figma Mobile App Mirror </a:t>
            </a:r>
            <a:r>
              <a:rPr lang="en-US" sz="2800" b="1" i="1" dirty="0">
                <a:latin typeface="+mj-lt"/>
              </a:rPr>
              <a:t>(Free and very popular)</a:t>
            </a:r>
            <a:endParaRPr lang="en-US" sz="2800" b="1" dirty="0">
              <a:latin typeface="+mj-lt"/>
            </a:endParaRPr>
          </a:p>
          <a:p>
            <a:pPr marL="862013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Best for</a:t>
            </a:r>
            <a:r>
              <a:rPr lang="en-US" sz="2800" dirty="0">
                <a:latin typeface="+mj-lt"/>
              </a:rPr>
              <a:t>: Clickable mock-up of a mobile app</a:t>
            </a:r>
          </a:p>
          <a:p>
            <a:pPr marL="862013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Features</a:t>
            </a:r>
            <a:r>
              <a:rPr lang="en-US" sz="2800" dirty="0">
                <a:latin typeface="+mj-lt"/>
              </a:rPr>
              <a:t>: Design screens, set user flow, present interactive demo</a:t>
            </a:r>
          </a:p>
          <a:p>
            <a:pPr marL="862013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Link</a:t>
            </a:r>
            <a:r>
              <a:rPr lang="en-US" sz="2800" dirty="0">
                <a:latin typeface="+mj-lt"/>
              </a:rPr>
              <a:t>: </a:t>
            </a:r>
            <a:r>
              <a:rPr lang="en-US" sz="2800" dirty="0">
                <a:latin typeface="+mj-lt"/>
                <a:hlinkClick r:id="rId2"/>
              </a:rPr>
              <a:t>https://www.figma.com</a:t>
            </a: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446243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643E8-07CE-0924-E0D9-A019A71E8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29BE146B-8CDF-1D31-4B00-06352A56CF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Question and Answers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0D33B-EDA8-99BB-5134-EC32F3B6C64C}"/>
              </a:ext>
            </a:extLst>
          </p:cNvPr>
          <p:cNvSpPr txBox="1"/>
          <p:nvPr/>
        </p:nvSpPr>
        <p:spPr>
          <a:xfrm>
            <a:off x="8626" y="914400"/>
            <a:ext cx="1217474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b="1" dirty="0" err="1">
                <a:latin typeface="+mj-lt"/>
              </a:rPr>
              <a:t>Thunkable</a:t>
            </a:r>
            <a:r>
              <a:rPr lang="en-US" sz="2800" b="1" dirty="0">
                <a:latin typeface="+mj-lt"/>
              </a:rPr>
              <a:t> </a:t>
            </a:r>
            <a:r>
              <a:rPr lang="en-US" sz="2800" b="1" i="1" dirty="0">
                <a:latin typeface="+mj-lt"/>
              </a:rPr>
              <a:t>(No code mobile app builder)</a:t>
            </a:r>
            <a:endParaRPr lang="en-US" sz="2800" b="1" dirty="0">
              <a:latin typeface="+mj-lt"/>
            </a:endParaRPr>
          </a:p>
          <a:p>
            <a:pPr marL="9318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Build</a:t>
            </a:r>
            <a:r>
              <a:rPr lang="en-US" sz="2800" dirty="0">
                <a:latin typeface="+mj-lt"/>
              </a:rPr>
              <a:t>: Native mobile apps (iOS/Android)</a:t>
            </a:r>
          </a:p>
          <a:p>
            <a:pPr marL="9318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Drag-and-drop</a:t>
            </a:r>
            <a:r>
              <a:rPr lang="en-US" sz="2800" dirty="0">
                <a:latin typeface="+mj-lt"/>
              </a:rPr>
              <a:t> interface components</a:t>
            </a:r>
          </a:p>
          <a:p>
            <a:pPr marL="9318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Link</a:t>
            </a:r>
            <a:r>
              <a:rPr lang="en-US" sz="2800" dirty="0">
                <a:latin typeface="+mj-lt"/>
              </a:rPr>
              <a:t>: </a:t>
            </a:r>
            <a:r>
              <a:rPr lang="en-US" sz="2800" dirty="0">
                <a:latin typeface="+mj-lt"/>
                <a:hlinkClick r:id="rId2"/>
              </a:rPr>
              <a:t>https://thunkable.com</a:t>
            </a:r>
            <a:endParaRPr lang="en-US" sz="2800" dirty="0">
              <a:latin typeface="+mj-lt"/>
            </a:endParaRPr>
          </a:p>
          <a:p>
            <a:pPr marL="9318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Bonus</a:t>
            </a:r>
            <a:r>
              <a:rPr lang="en-US" sz="2800" dirty="0">
                <a:latin typeface="+mj-lt"/>
              </a:rPr>
              <a:t>: You can export a working APK/app or share a preview link</a:t>
            </a:r>
          </a:p>
        </p:txBody>
      </p:sp>
    </p:spTree>
    <p:extLst>
      <p:ext uri="{BB962C8B-B14F-4D97-AF65-F5344CB8AC3E}">
        <p14:creationId xmlns:p14="http://schemas.microsoft.com/office/powerpoint/2010/main" val="13001047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C176E-AAFA-6741-A928-2C7F970F6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FE26B06B-1436-B095-27A3-5669FD98B1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Question and Answers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4EBE7C-42F4-4249-EE51-6EA852D85E1B}"/>
              </a:ext>
            </a:extLst>
          </p:cNvPr>
          <p:cNvSpPr txBox="1"/>
          <p:nvPr/>
        </p:nvSpPr>
        <p:spPr>
          <a:xfrm>
            <a:off x="8626" y="914400"/>
            <a:ext cx="1217474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3. For Dashboards/Database Systems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b="1" dirty="0">
                <a:latin typeface="+mj-lt"/>
              </a:rPr>
              <a:t>Microsoft Power BI / Excel + Pivot Tables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For</a:t>
            </a:r>
            <a:r>
              <a:rPr lang="en-US" sz="2800" dirty="0">
                <a:latin typeface="+mj-lt"/>
              </a:rPr>
              <a:t>: Creating system-generated reports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Example</a:t>
            </a:r>
            <a:r>
              <a:rPr lang="en-US" sz="2800" dirty="0">
                <a:latin typeface="+mj-lt"/>
              </a:rPr>
              <a:t>: Sales report, employee performance dashboard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Good for</a:t>
            </a:r>
            <a:r>
              <a:rPr lang="en-US" sz="2800" dirty="0">
                <a:latin typeface="+mj-lt"/>
              </a:rPr>
              <a:t>: Showing the "Reports" component of your system</a:t>
            </a:r>
          </a:p>
        </p:txBody>
      </p:sp>
    </p:spTree>
    <p:extLst>
      <p:ext uri="{BB962C8B-B14F-4D97-AF65-F5344CB8AC3E}">
        <p14:creationId xmlns:p14="http://schemas.microsoft.com/office/powerpoint/2010/main" val="20944836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565A0-986C-F342-50FF-BED59E01F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EAC09206-FE90-3CD4-D96F-DBC5960214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Question and Answers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0C7988-0106-413A-DD02-84CFA95492E2}"/>
              </a:ext>
            </a:extLst>
          </p:cNvPr>
          <p:cNvSpPr txBox="1"/>
          <p:nvPr/>
        </p:nvSpPr>
        <p:spPr>
          <a:xfrm>
            <a:off x="8626" y="914400"/>
            <a:ext cx="1217474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b="1" dirty="0" err="1">
                <a:latin typeface="+mj-lt"/>
              </a:rPr>
              <a:t>Airtable</a:t>
            </a:r>
            <a:endParaRPr lang="en-US" sz="2800" b="1" dirty="0">
              <a:latin typeface="+mj-lt"/>
            </a:endParaRPr>
          </a:p>
          <a:p>
            <a:pPr marL="8969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Hybrid</a:t>
            </a:r>
            <a:r>
              <a:rPr lang="en-US" sz="2800" dirty="0">
                <a:latin typeface="+mj-lt"/>
              </a:rPr>
              <a:t> of spreadsheet + database + forms</a:t>
            </a:r>
          </a:p>
          <a:p>
            <a:pPr marL="8969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Great for creating interactive systems like task trackers or HR databases</a:t>
            </a:r>
          </a:p>
          <a:p>
            <a:pPr marL="8969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Link</a:t>
            </a:r>
            <a:r>
              <a:rPr lang="en-US" sz="2800" dirty="0">
                <a:latin typeface="+mj-lt"/>
              </a:rPr>
              <a:t>: </a:t>
            </a:r>
            <a:r>
              <a:rPr lang="en-US" sz="2800" dirty="0">
                <a:latin typeface="+mj-lt"/>
                <a:hlinkClick r:id="rId2"/>
              </a:rPr>
              <a:t>https://airtable.com</a:t>
            </a: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8240841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8B2D8-BA53-020C-5121-CC25F8D2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3548E669-EC72-B0D6-8854-9C2690A9F2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Question and Answers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A744BB-B558-03E0-82C2-63FF176DCA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9601754"/>
              </p:ext>
            </p:extLst>
          </p:nvPr>
        </p:nvGraphicFramePr>
        <p:xfrm>
          <a:off x="228600" y="2362200"/>
          <a:ext cx="10972800" cy="3326765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4057131915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173577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Goal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Recommended Tool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6479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Build a simple system website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Google Sites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89841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Make a mobile app mock-up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Figma or Thunkable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5572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Show database functionality/reports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Power BI or Airtable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0002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Create screen flows quickly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Figma or Canva (UX templates)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8081600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10670014-7E1C-B7A4-C006-8A15C2E109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9412" y="1066800"/>
            <a:ext cx="581441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Recommendation Based on Simplicity</a:t>
            </a:r>
          </a:p>
        </p:txBody>
      </p:sp>
    </p:spTree>
    <p:extLst>
      <p:ext uri="{BB962C8B-B14F-4D97-AF65-F5344CB8AC3E}">
        <p14:creationId xmlns:p14="http://schemas.microsoft.com/office/powerpoint/2010/main" val="1874178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A3529-506A-668E-02D1-E5ED5057B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CDF76518-108B-8B4B-C56B-6369A2E9E0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Example) </a:t>
            </a:r>
            <a:r>
              <a:rPr lang="pl-PL" sz="3600" dirty="0">
                <a:latin typeface="Calibri" panose="020F0502020204030204" pitchFamily="34" charset="0"/>
                <a:cs typeface="Calibri" panose="020F0502020204030204" pitchFamily="34" charset="0"/>
              </a:rPr>
              <a:t>To-Do List System — Prototype Plan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F782902-1D87-DEFB-41A3-EF0AAA6DD8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6" y="1219200"/>
            <a:ext cx="12192001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>
                <a:latin typeface="+mj-lt"/>
              </a:rPr>
              <a:t>A </a:t>
            </a:r>
            <a:r>
              <a:rPr lang="en-US" sz="2800" b="1" dirty="0">
                <a:latin typeface="+mj-lt"/>
              </a:rPr>
              <a:t>To-Do List system</a:t>
            </a:r>
            <a:r>
              <a:rPr lang="en-US" sz="2800" dirty="0">
                <a:latin typeface="+mj-lt"/>
              </a:rPr>
              <a:t> is a classic and practical project that works very well for this type of prototype assignment — it's simple enough to build yet rich enough to demonstrate </a:t>
            </a:r>
            <a:r>
              <a:rPr lang="en-US" sz="2800" b="1" dirty="0">
                <a:latin typeface="+mj-lt"/>
              </a:rPr>
              <a:t>systems analysis, interface design, database use, and testing</a:t>
            </a:r>
            <a:r>
              <a:rPr lang="en-US" sz="2800" dirty="0">
                <a:latin typeface="+mj-lt"/>
              </a:rPr>
              <a:t>.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8A255F-34C1-3B05-0F3F-3744755E20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8920568"/>
              </p:ext>
            </p:extLst>
          </p:nvPr>
        </p:nvGraphicFramePr>
        <p:xfrm>
          <a:off x="381000" y="4572000"/>
          <a:ext cx="10972800" cy="53340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784797556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19374385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2800" b="1" dirty="0"/>
                        <a:t>Component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="1" dirty="0"/>
                        <a:t>Example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910279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dirty="0"/>
                        <a:t>Add Task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Input field for task title, due date, priority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62704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dirty="0"/>
                        <a:t>Update Task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Edit name, deadline, or mark as complete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4651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dirty="0"/>
                        <a:t>Delete Task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Remove task from list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5486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dirty="0"/>
                        <a:t>Categorize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By project, subject, or tag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20432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dirty="0"/>
                        <a:t>Reports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Completed tasks, overdue tasks, upcoming tasks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240148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dirty="0"/>
                        <a:t>User Accounts (optional)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Multi-user support if you want to expand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9894724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4E43F35B-5BD6-A2E6-0AF9-C06BBAC20C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6" y="3053545"/>
            <a:ext cx="5553123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To-Do List System — Prototype Plan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Key Features You Can Include:</a:t>
            </a:r>
          </a:p>
        </p:txBody>
      </p:sp>
    </p:spTree>
    <p:extLst>
      <p:ext uri="{BB962C8B-B14F-4D97-AF65-F5344CB8AC3E}">
        <p14:creationId xmlns:p14="http://schemas.microsoft.com/office/powerpoint/2010/main" val="18894367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92229-3EFB-3269-4D35-B60076785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BD2D4202-81F4-47AF-C6D2-B12C942044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Example) </a:t>
            </a:r>
            <a:r>
              <a:rPr lang="pl-PL" sz="3600" dirty="0">
                <a:latin typeface="Calibri" panose="020F0502020204030204" pitchFamily="34" charset="0"/>
                <a:cs typeface="Calibri" panose="020F0502020204030204" pitchFamily="34" charset="0"/>
              </a:rPr>
              <a:t>To-Do List System — Prototype Plan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D377751-0412-D542-CC33-834E252E80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6" y="914400"/>
            <a:ext cx="12192001" cy="5839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Tool Suggestions Based on Approach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Option A: Simple Website — Google Sites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Design screens like: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Homepage with task list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"Add Task" form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Sample report (using embedded Google Sheet)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Link between pages like "clickable prototype"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Can embed forms, charts, mock-up screens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+mj-lt"/>
              </a:rPr>
              <a:t>Good for showing screen flow + reports without coding.</a:t>
            </a: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6082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6C585-97DD-8A07-9837-792057A46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D531BAE3-91E1-F2C3-42D9-21DE1A2012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Example) </a:t>
            </a:r>
            <a:r>
              <a:rPr lang="pl-PL" sz="3600" dirty="0">
                <a:latin typeface="Calibri" panose="020F0502020204030204" pitchFamily="34" charset="0"/>
                <a:cs typeface="Calibri" panose="020F0502020204030204" pitchFamily="34" charset="0"/>
              </a:rPr>
              <a:t>To-Do List System — Prototype Plan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3A3D184-4231-3EBE-3D6E-56C6E35D1B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6" y="1560731"/>
            <a:ext cx="12192001" cy="4546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Option B: Mobile App — </a:t>
            </a:r>
            <a:r>
              <a:rPr lang="en-US" sz="2800" b="1" dirty="0" err="1">
                <a:latin typeface="+mj-lt"/>
              </a:rPr>
              <a:t>Thunkable</a:t>
            </a:r>
            <a:endParaRPr lang="en-US" sz="2800" b="1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Drag-and-drop blocks to build: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Home screen: list of tasks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Add Task screen: input fields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Reports screen: show task stats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You can test live on your phone or generate a preview/shareable link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+mj-lt"/>
              </a:rPr>
              <a:t>Excellent if you want a working mobile prototype without code.</a:t>
            </a: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1966437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CC4AB-0F34-F09A-3610-7865CC9DD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5DB7247D-0176-6A14-C96D-C4580BD12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Example) </a:t>
            </a:r>
            <a:r>
              <a:rPr lang="pl-PL" sz="3600" dirty="0">
                <a:latin typeface="Calibri" panose="020F0502020204030204" pitchFamily="34" charset="0"/>
                <a:cs typeface="Calibri" panose="020F0502020204030204" pitchFamily="34" charset="0"/>
              </a:rPr>
              <a:t>To-Do List System — Prototype Plan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CDA4EE7-457A-782D-8A61-F5E966773C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6" y="1883896"/>
            <a:ext cx="12192001" cy="3900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Option C: Mock-up — Figma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Design: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App-like interface with clickable interactions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UI screens: Home, Add Task, Edit Task, Reports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Show navigation between screens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i="1" dirty="0">
                <a:latin typeface="+mj-lt"/>
              </a:rPr>
              <a:t>Ideal for beautiful, clickable screen mock-ups; no coding required.</a:t>
            </a: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719782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6CF9B-658D-F9E9-8964-7A7F3A4B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F927F930-CBA2-C699-87A6-B7D963F08D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Example) </a:t>
            </a:r>
            <a:r>
              <a:rPr lang="pl-PL" sz="3600" dirty="0">
                <a:latin typeface="Calibri" panose="020F0502020204030204" pitchFamily="34" charset="0"/>
                <a:cs typeface="Calibri" panose="020F0502020204030204" pitchFamily="34" charset="0"/>
              </a:rPr>
              <a:t>To-Do List System — Prototype Plan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77DA48-9601-3FB9-9A11-035F2387CA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6" y="1883896"/>
            <a:ext cx="12192001" cy="3900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Option D: Database System — </a:t>
            </a:r>
            <a:r>
              <a:rPr lang="en-US" sz="2800" b="1" dirty="0" err="1">
                <a:latin typeface="+mj-lt"/>
              </a:rPr>
              <a:t>Airtable</a:t>
            </a:r>
            <a:r>
              <a:rPr lang="en-US" sz="2800" b="1" dirty="0">
                <a:latin typeface="+mj-lt"/>
              </a:rPr>
              <a:t> or Excel/Power BI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</a:t>
            </a:r>
            <a:r>
              <a:rPr lang="en-US" sz="2800" b="1" dirty="0" err="1">
                <a:latin typeface="+mj-lt"/>
              </a:rPr>
              <a:t>Airtable</a:t>
            </a:r>
            <a:r>
              <a:rPr lang="en-US" sz="2800" dirty="0">
                <a:latin typeface="+mj-lt"/>
              </a:rPr>
              <a:t> or </a:t>
            </a:r>
            <a:r>
              <a:rPr lang="en-US" sz="2800" b="1" dirty="0">
                <a:latin typeface="+mj-lt"/>
              </a:rPr>
              <a:t>Excel</a:t>
            </a:r>
            <a:r>
              <a:rPr lang="en-US" sz="2800" dirty="0">
                <a:latin typeface="+mj-lt"/>
              </a:rPr>
              <a:t> to: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Store task data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Create dashboards showing overdue tasks, completion rate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Add mock reports for the “Reports” section in your submission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+mj-lt"/>
              </a:rPr>
              <a:t>Perfect for demonstrating database structure + system reporting.</a:t>
            </a: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802907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8900B-84A4-69F9-9E55-DCC6F7ECD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2CF29533-82C7-80D9-483F-F219E3166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Example) </a:t>
            </a:r>
            <a:r>
              <a:rPr lang="pl-PL" sz="3600" dirty="0">
                <a:latin typeface="Calibri" panose="020F0502020204030204" pitchFamily="34" charset="0"/>
                <a:cs typeface="Calibri" panose="020F0502020204030204" pitchFamily="34" charset="0"/>
              </a:rPr>
              <a:t>To-Do List System — Prototype Plan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DD364BD-2365-9FA5-4E35-D0E5782A8C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5418263"/>
              </p:ext>
            </p:extLst>
          </p:nvPr>
        </p:nvGraphicFramePr>
        <p:xfrm>
          <a:off x="457200" y="1884904"/>
          <a:ext cx="10972800" cy="7192518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3232836376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6440465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Section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What to Include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2151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/>
                        <a:t>Module Hierarchy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Task Manager → Add Task, View Task, Delete Task, Reports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46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/>
                        <a:t>Mock-up Screens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Screens for Add Task, Edit Task, View Tasks, Reports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7288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/>
                        <a:t>Reports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Charts: % of tasks done, upcoming tasks, etc.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9233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/>
                        <a:t>Documentation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How the system works, how users interact with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4439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/>
                        <a:t>Implementation &amp; Testing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Show screenshots, note bugs/fixes, describe how you tested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40396370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80481BFC-35E1-CACF-40ED-B9F9BE030F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061842"/>
            <a:ext cx="696056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Prototype Elements to Include in Your Report</a:t>
            </a:r>
          </a:p>
        </p:txBody>
      </p:sp>
    </p:spTree>
    <p:extLst>
      <p:ext uri="{BB962C8B-B14F-4D97-AF65-F5344CB8AC3E}">
        <p14:creationId xmlns:p14="http://schemas.microsoft.com/office/powerpoint/2010/main" val="30834383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3078-57D8-87CF-D345-777726BA6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EAE1A793-5CF1-F365-8DC7-B9D63F8AE2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Example) </a:t>
            </a:r>
            <a:r>
              <a:rPr lang="pl-PL" sz="3600" dirty="0">
                <a:latin typeface="Calibri" panose="020F0502020204030204" pitchFamily="34" charset="0"/>
                <a:cs typeface="Calibri" panose="020F0502020204030204" pitchFamily="34" charset="0"/>
              </a:rPr>
              <a:t>To-Do List System — Prototype Plan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73EFC10-137E-049C-C112-48E9751B6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7545617"/>
              </p:ext>
            </p:extLst>
          </p:nvPr>
        </p:nvGraphicFramePr>
        <p:xfrm>
          <a:off x="609600" y="2103438"/>
          <a:ext cx="10972800" cy="737616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039992493"/>
                    </a:ext>
                  </a:extLst>
                </a:gridCol>
                <a:gridCol w="7467600">
                  <a:extLst>
                    <a:ext uri="{9D8B030D-6E8A-4147-A177-3AD203B41FA5}">
                      <a16:colId xmlns:a16="http://schemas.microsoft.com/office/drawing/2014/main" val="29242371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2800" b="1"/>
                        <a:t>Assessment Section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 b="1"/>
                        <a:t>How Your To-Do List Project Covers It</a:t>
                      </a:r>
                      <a:endParaRPr lang="en-US" sz="28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017757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b="1"/>
                        <a:t>1. Module Hierarchy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Define modules like: User Interface → Task Manager → Add Task, Edit Task, Delete Task, View Reports.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6328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b="1"/>
                        <a:t>2. Mock-up Screens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Design using Figma, Google Sites, or Thunkable to create UI for each screen (Add Task, View Task, Reports).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5901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b="1"/>
                        <a:t>3. Reports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Create mock reports using Excel, Power BI, or Airtable — e.g., Completed Tasks %, Overdue Tasks, Tasks per Category.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0126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b="1"/>
                        <a:t>4. Documentation &amp; User Manual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Write a section explaining how users interact with the system, including error messages, help info, and printed/manual options.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8984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b="1"/>
                        <a:t>5. Implementation &amp; Testing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Describe tools used, testing steps (e.g., added 5 tasks, deleted 1, marked 2 completed), and any bugs or improvements.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053740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931DD7AC-CF7D-C3A8-1548-A04C3D067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6" y="990600"/>
            <a:ext cx="925445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Assessment Requirements vs. To-Do List Project Deliverables</a:t>
            </a:r>
          </a:p>
        </p:txBody>
      </p:sp>
    </p:spTree>
    <p:extLst>
      <p:ext uri="{BB962C8B-B14F-4D97-AF65-F5344CB8AC3E}">
        <p14:creationId xmlns:p14="http://schemas.microsoft.com/office/powerpoint/2010/main" val="15153918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57753-6B27-603B-B7B5-267F69B8A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D42D2CA3-C2CA-0BB8-1FAB-E7480F5E50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7490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Example) </a:t>
            </a:r>
            <a:r>
              <a:rPr lang="pl-PL" sz="3600" dirty="0">
                <a:latin typeface="Calibri" panose="020F0502020204030204" pitchFamily="34" charset="0"/>
                <a:cs typeface="Calibri" panose="020F0502020204030204" pitchFamily="34" charset="0"/>
              </a:rPr>
              <a:t>To-Do List System — Prototype Plan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DFA0A91-AC08-C024-1716-FF811849D8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170338"/>
              </p:ext>
            </p:extLst>
          </p:nvPr>
        </p:nvGraphicFramePr>
        <p:xfrm>
          <a:off x="45497" y="1578220"/>
          <a:ext cx="12070303" cy="8472678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1134365577"/>
                    </a:ext>
                  </a:extLst>
                </a:gridCol>
                <a:gridCol w="9022303">
                  <a:extLst>
                    <a:ext uri="{9D8B030D-6E8A-4147-A177-3AD203B41FA5}">
                      <a16:colId xmlns:a16="http://schemas.microsoft.com/office/drawing/2014/main" val="5357515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/>
                        <a:t>Marking Criteria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/>
                        <a:t>How Your To-Do List Project Can Meet It</a:t>
                      </a:r>
                      <a:endParaRPr lang="en-US" sz="28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6834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/>
                        <a:t>Design &amp; Creativity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Well-designed screens (e.g. in Figma or Thunkable) with clean layout, smart use of fonts, colors, and flow.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64146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/>
                        <a:t>Professionalism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Present the system as if it's ready for a startup or productivity app — make it user-friendly, modern, and usable.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86077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 dirty="0"/>
                        <a:t>Software Skills</a:t>
                      </a:r>
                      <a:endParaRPr 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Use of tools like Figma, Power BI, Thunkable, or Airtable shows understanding of interface design, databases, and system logic.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63076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/>
                        <a:t>Testing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Include details about what worked, what failed, and what fixes or redesigns were made during your testing process.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2650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/>
                        <a:t>Documentation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Add author notes, explanations, and a user manual with screenshots — this is key for full marks.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6029008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0A082D25-7228-00CB-D44E-5AB7244D6B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97" y="1006116"/>
            <a:ext cx="722184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Other Marking Criteria Mapped to Your Project</a:t>
            </a:r>
          </a:p>
        </p:txBody>
      </p:sp>
    </p:spTree>
    <p:extLst>
      <p:ext uri="{BB962C8B-B14F-4D97-AF65-F5344CB8AC3E}">
        <p14:creationId xmlns:p14="http://schemas.microsoft.com/office/powerpoint/2010/main" val="31047139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8CDC9-A7F0-B9E3-E9E4-516B6197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D91AB5A2-B21D-66A0-4528-C2C55210EBB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EF6D16-E124-24B9-1D4B-698CF1363FA5}"/>
              </a:ext>
            </a:extLst>
          </p:cNvPr>
          <p:cNvSpPr txBox="1"/>
          <p:nvPr/>
        </p:nvSpPr>
        <p:spPr>
          <a:xfrm>
            <a:off x="0" y="0"/>
            <a:ext cx="11887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Thank You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550CBBC-F537-AFEC-634C-56C9DAB146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23996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5037F8A-312A-5706-B9D4-BD56C9AD7D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56063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163D227C-1D36-DEFE-C2F8-3CA3D97D92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6066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E1BCA2-620C-3559-3A80-9228DA241173}"/>
              </a:ext>
            </a:extLst>
          </p:cNvPr>
          <p:cNvSpPr txBox="1"/>
          <p:nvPr/>
        </p:nvSpPr>
        <p:spPr>
          <a:xfrm>
            <a:off x="457200" y="2057400"/>
            <a:ext cx="962420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Need Help? Send an email or ask during the tutorial session.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Good luck with your capstone journey!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Dr. Farshid Keivanian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Capstone Project Supervisor</a:t>
            </a:r>
          </a:p>
        </p:txBody>
      </p:sp>
    </p:spTree>
    <p:extLst>
      <p:ext uri="{BB962C8B-B14F-4D97-AF65-F5344CB8AC3E}">
        <p14:creationId xmlns:p14="http://schemas.microsoft.com/office/powerpoint/2010/main" val="2583695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529</TotalTime>
  <Words>2511</Words>
  <Application>Microsoft Office PowerPoint</Application>
  <PresentationFormat>Custom</PresentationFormat>
  <Paragraphs>312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Verdana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Group Progress Presentation – Overview of Progress at least 2 min</vt:lpstr>
      <vt:lpstr>Question and Answers</vt:lpstr>
      <vt:lpstr>Question and Answers</vt:lpstr>
      <vt:lpstr>Question and Answers</vt:lpstr>
      <vt:lpstr>Question and Answers</vt:lpstr>
      <vt:lpstr>Question and Answers</vt:lpstr>
      <vt:lpstr>Question and Answers</vt:lpstr>
      <vt:lpstr>Question and Answers</vt:lpstr>
      <vt:lpstr>Question and Answers</vt:lpstr>
      <vt:lpstr>Question and Answers</vt:lpstr>
      <vt:lpstr>Question and Answers</vt:lpstr>
      <vt:lpstr>Question and Answers</vt:lpstr>
      <vt:lpstr>Question and Answers</vt:lpstr>
      <vt:lpstr>Example) To-Do List System — Prototype Plan</vt:lpstr>
      <vt:lpstr>Example) To-Do List System — Prototype Plan</vt:lpstr>
      <vt:lpstr>Example) To-Do List System — Prototype Plan</vt:lpstr>
      <vt:lpstr>Example) To-Do List System — Prototype Plan</vt:lpstr>
      <vt:lpstr>Example) To-Do List System — Prototype Plan</vt:lpstr>
      <vt:lpstr>Example) To-Do List System — Prototype Plan</vt:lpstr>
      <vt:lpstr>Example) To-Do List System — Prototype Plan</vt:lpstr>
      <vt:lpstr>Example) To-Do List System — Prototype Plan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Farshid Keivanian</dc:creator>
  <cp:lastModifiedBy>Farshid Keivanian</cp:lastModifiedBy>
  <cp:revision>230</cp:revision>
  <dcterms:created xsi:type="dcterms:W3CDTF">2025-04-05T17:32:34Z</dcterms:created>
  <dcterms:modified xsi:type="dcterms:W3CDTF">2025-05-27T06:08:11Z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2024-05-02T00:00:00Z</vt:filetime>
  </property>
  <property fmtid="{D5CDD505-2E9C-101B-9397-08002B2CF9AE}" pid="3" name="Creator">
    <vt:lpwstr>Microsoft® Word for Microsoft 365</vt:lpwstr>
  </property>
  <property fmtid="{D5CDD505-2E9C-101B-9397-08002B2CF9AE}" pid="4" name="LastSaved">
    <vt:filetime>2025-04-05T00:00:00Z</vt:filetime>
  </property>
  <property fmtid="{D5CDD505-2E9C-101B-9397-08002B2CF9AE}" pid="5" name="Producer">
    <vt:lpwstr>Adobe Acrobat Pro (64-bit) 24.2.20687</vt:lpwstr>
  </property>
</Properties>
</file>